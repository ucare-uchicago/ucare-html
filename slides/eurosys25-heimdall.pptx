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728" r:id="rId1"/>
  </p:sldMasterIdLst>
  <p:notesMasterIdLst>
    <p:notesMasterId r:id="rId28"/>
  </p:notesMasterIdLst>
  <p:handoutMasterIdLst>
    <p:handoutMasterId r:id="rId29"/>
  </p:handoutMasterIdLst>
  <p:sldIdLst>
    <p:sldId id="290" r:id="rId2"/>
    <p:sldId id="1497" r:id="rId3"/>
    <p:sldId id="439" r:id="rId4"/>
    <p:sldId id="1498" r:id="rId5"/>
    <p:sldId id="1509" r:id="rId6"/>
    <p:sldId id="1511" r:id="rId7"/>
    <p:sldId id="1502" r:id="rId8"/>
    <p:sldId id="1513" r:id="rId9"/>
    <p:sldId id="1474" r:id="rId10"/>
    <p:sldId id="1514" r:id="rId11"/>
    <p:sldId id="1504" r:id="rId12"/>
    <p:sldId id="1521" r:id="rId13"/>
    <p:sldId id="1476" r:id="rId14"/>
    <p:sldId id="1480" r:id="rId15"/>
    <p:sldId id="1505" r:id="rId16"/>
    <p:sldId id="427" r:id="rId17"/>
    <p:sldId id="1506" r:id="rId18"/>
    <p:sldId id="1481" r:id="rId19"/>
    <p:sldId id="1507" r:id="rId20"/>
    <p:sldId id="1477" r:id="rId21"/>
    <p:sldId id="1508" r:id="rId22"/>
    <p:sldId id="1484" r:id="rId23"/>
    <p:sldId id="1486" r:id="rId24"/>
    <p:sldId id="1487" r:id="rId25"/>
    <p:sldId id="1522" r:id="rId26"/>
    <p:sldId id="1517" r:id="rId27"/>
  </p:sldIdLst>
  <p:sldSz cx="9144000" cy="5715000" type="screen16x1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E37F9F-6250-59DF-3955-46A42622B7BA}" name="Rani Irawan" initials="" userId="S::raniayu@UCHICAGO.EDU::582b44bd-923f-4db5-afb0-a8ac677776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61AE"/>
    <a:srgbClr val="FFB81D"/>
    <a:srgbClr val="6D1B1F"/>
    <a:srgbClr val="77B300"/>
    <a:srgbClr val="0299FF"/>
    <a:srgbClr val="FFD900"/>
    <a:srgbClr val="C2EAF4"/>
    <a:srgbClr val="FF0000"/>
    <a:srgbClr val="D9D9D9"/>
    <a:srgbClr val="F4E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05" autoAdjust="0"/>
    <p:restoredTop sz="69116" autoAdjust="0"/>
  </p:normalViewPr>
  <p:slideViewPr>
    <p:cSldViewPr snapToGrid="0" snapToObjects="1">
      <p:cViewPr varScale="1">
        <p:scale>
          <a:sx n="104" d="100"/>
          <a:sy n="104" d="100"/>
        </p:scale>
        <p:origin x="1912" y="184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5872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056C4-132D-C044-83DA-36C771DBAF7F}" type="datetimeFigureOut">
              <a:rPr lang="en-US" smtClean="0"/>
              <a:t>5/7/25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73C46-BCD4-C841-8A7D-7E7696BA48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979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C84F0-E1B3-A84D-B080-A5EC3A2F89D8}" type="datetimeFigureOut">
              <a:rPr lang="en-US" smtClean="0"/>
              <a:t>5/7/25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85528-96B8-1144-A84C-245ACA11C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0948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365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B746-A3EE-BE96-B97B-B27CA3FEC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48371-CC65-EA4F-A674-750EA9FFC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BE091-A0E9-F99E-371F-62D522CC1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4CEAF-45B2-8B18-BAED-D39684D5F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551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230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9D26-56A0-383B-C4A3-142E23EE3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5B9EA-1501-593D-E44D-3B7411689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B05A5-31E9-8947-00FF-1364B97A2E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E8307-98ED-8DF4-E747-91BB6A25C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67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41AD6-5C97-AEF5-0FCB-12CEBBB7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F92A3-C25A-F5CC-9513-926245868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FC2807-38E1-239C-6A28-F51593CEE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9A2B2-B7A8-EF51-82E1-BFE51B42D5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49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E197-E40D-86D0-FAFA-32A77FA5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27825-357D-D03E-B0F3-3EEB57B3F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E826E-A40B-5D4B-3A24-F62A31E67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6EFDF-DE14-2F77-0FEB-7EFD25FDE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419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630A-1888-FF8F-35AF-3B8BB1DA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129B6-1CEA-FB05-A3CB-DB4F95EDA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4720E-6FE9-E5D3-8089-DA429FA41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CD02-2B27-6FF1-E1D2-443E4BDFE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644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5315-3067-C118-6483-B24BC703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610D4-6826-F29D-7C37-EF4D175D2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92BF5-E50E-09B0-41AB-B41FCCD84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18BBA-4AFB-52F3-1A47-4DEF8B846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22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048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41007-3981-7291-BCB8-77C5933F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9F142-950A-40CF-F780-4C6D63DA2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64F47-192F-E38F-D76B-FCB3309B3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900" dirty="0">
              <a:effectLst/>
              <a:latin typeface="NimbusRomNo9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46CF-A5AE-2B8F-1346-9AEAE5B32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644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8591-CAD2-52A8-B688-43B04E9F5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00FF5-CB46-EB35-2062-EF44A724D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A69CB-9A9B-6A70-E012-D74AB1D4F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NimbusRomNo9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EE2D5-BCBA-9D82-7270-9775E91F5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62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B3D7-10D4-D2B2-A321-F29907684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63C7A-54CE-54C6-108E-A3898678C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6FA01-09E0-0048-CD8F-63645EB88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NimbusRomNo9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8457A-4F8C-5E04-3B06-B1A8F2B17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40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u="none" strike="noStrike" kern="1200" dirty="0">
              <a:solidFill>
                <a:schemeClr val="tx1"/>
              </a:solidFill>
              <a:effectLst/>
              <a:latin typeface="NimbusRomNo9L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396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134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40E96-5B04-24A4-1F54-241636E7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19228-5258-9E12-6D66-3B42E3BC47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C15BD-2677-541F-C80E-82A2D85D1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650BC-F6EC-9038-234F-3817DF2F6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243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6196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74DA-5C1C-F7E9-47EA-0B8252B5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4AD72-ED1B-5EC5-DE6B-6C414BDF9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D0F3E-DC30-9FDF-85C4-981A620C2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EE1BD-2A11-1D7E-108A-95302030F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2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711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1E2D-B3B0-6717-D043-8FC76536A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0F3EC-9A6B-9772-29DC-468C9FB14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FB9C3-F3B0-AC6A-5A1C-E74F4C07C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4C008-550A-BB94-937F-18FCCC047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7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70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FC4A4-DCA2-238A-0EC8-ABDA54D9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4A480A-8E37-8ECF-613A-AA99C97B2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F6CF6-AF9F-21B0-515A-AEE182A2A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F8136-00C9-553B-0226-6EEC9D300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3254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760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18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197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C2BE-318B-8939-108A-AAC51DEB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0C9FB-99FA-42C1-B40E-707AC26F5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D1294-C441-6CDA-EED6-68E3CFB2FE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C7D8C-7EBE-5897-9819-CE7E976C1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49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9CDA-AE4B-3F36-9B51-C77EF63C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92AE7-6722-E4C7-0A4B-B2D566F53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7BBB28-F6B6-78AF-2F28-ED33F3805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F3706-A903-B473-AD93-0D7881701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85528-96B8-1144-A84C-245ACA11C1E0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889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238500"/>
            <a:ext cx="6400800" cy="1460500"/>
          </a:xfrm>
        </p:spPr>
        <p:txBody>
          <a:bodyPr>
            <a:normAutofit/>
          </a:bodyPr>
          <a:lstStyle>
            <a:lvl1pPr marL="0" indent="0" algn="ctr">
              <a:buNone/>
              <a:defRPr sz="2667" baseline="0">
                <a:solidFill>
                  <a:schemeClr val="bg1"/>
                </a:solidFill>
              </a:defRPr>
            </a:lvl1pPr>
            <a:lvl2pPr marL="380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296005"/>
            <a:ext cx="9144000" cy="2521179"/>
          </a:xfrm>
          <a:prstGeom prst="rect">
            <a:avLst/>
          </a:prstGeom>
          <a:solidFill>
            <a:srgbClr val="6D1B1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11178"/>
            <a:ext cx="7772400" cy="1225021"/>
          </a:xfrm>
        </p:spPr>
        <p:txBody>
          <a:bodyPr/>
          <a:lstStyle>
            <a:lvl1pPr algn="ctr">
              <a:defRPr sz="4000">
                <a:ln w="12700" cmpd="sng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-102492"/>
            <a:ext cx="9144000" cy="398496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807" y="228866"/>
            <a:ext cx="8621875" cy="952500"/>
          </a:xfrm>
        </p:spPr>
        <p:txBody>
          <a:bodyPr/>
          <a:lstStyle>
            <a:lvl1pPr>
              <a:defRPr>
                <a:ln w="12700" cmpd="sng">
                  <a:solidFill>
                    <a:schemeClr val="bg1"/>
                  </a:solidFill>
                  <a:prstDash val="solid"/>
                </a:ln>
                <a:solidFill>
                  <a:srgbClr val="6D1B1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 dirty="0" err="1"/>
              <a:t>SystemName</a:t>
            </a:r>
            <a:r>
              <a:rPr lang="en-US" dirty="0"/>
              <a:t> @ </a:t>
            </a:r>
            <a:r>
              <a:rPr lang="en-US" dirty="0" err="1"/>
              <a:t>ConfName</a:t>
            </a:r>
            <a:r>
              <a:rPr lang="en-US" dirty="0"/>
              <a:t> ’14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277807" y="1333500"/>
            <a:ext cx="8621875" cy="4263687"/>
          </a:xfr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135439"/>
            <a:ext cx="7885113" cy="1135062"/>
          </a:xfrm>
        </p:spPr>
        <p:txBody>
          <a:bodyPr anchor="t"/>
          <a:lstStyle>
            <a:lvl1pPr algn="l">
              <a:defRPr sz="2667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2885283"/>
            <a:ext cx="7885113" cy="1250156"/>
          </a:xfrm>
        </p:spPr>
        <p:txBody>
          <a:bodyPr anchor="b">
            <a:normAutofit/>
          </a:bodyPr>
          <a:lstStyle>
            <a:lvl1pPr marL="0" indent="0">
              <a:buNone/>
              <a:defRPr sz="1417" baseline="0">
                <a:solidFill>
                  <a:schemeClr val="tx2"/>
                </a:solidFill>
              </a:defRPr>
            </a:lvl1pPr>
            <a:lvl2pPr marL="3809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92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8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85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81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77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97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97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23C92-45F4-4C30-810D-4886C1BA696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68669" y="1333501"/>
            <a:ext cx="4174733" cy="4214081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1" y="1333500"/>
            <a:ext cx="4168532" cy="421408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669" y="228866"/>
            <a:ext cx="8800465" cy="9525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841500"/>
            <a:ext cx="3733800" cy="29210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841500"/>
            <a:ext cx="3733800" cy="29210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866"/>
            <a:ext cx="7924800" cy="9525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33501"/>
            <a:ext cx="3733800" cy="478896"/>
          </a:xfrm>
        </p:spPr>
        <p:txBody>
          <a:bodyPr anchor="b">
            <a:normAutofit/>
          </a:bodyPr>
          <a:lstStyle>
            <a:lvl1pPr marL="0" indent="0">
              <a:buNone/>
              <a:defRPr sz="1417" b="0" i="0" baseline="0">
                <a:solidFill>
                  <a:schemeClr val="tx2"/>
                </a:solidFill>
              </a:defRPr>
            </a:lvl1pPr>
            <a:lvl2pPr marL="380996" indent="0">
              <a:buNone/>
              <a:defRPr sz="1667" b="1"/>
            </a:lvl2pPr>
            <a:lvl3pPr marL="761992" indent="0">
              <a:buNone/>
              <a:defRPr sz="1500" b="1"/>
            </a:lvl3pPr>
            <a:lvl4pPr marL="1142989" indent="0">
              <a:buNone/>
              <a:defRPr sz="1333" b="1"/>
            </a:lvl4pPr>
            <a:lvl5pPr marL="1523985" indent="0">
              <a:buNone/>
              <a:defRPr sz="1333" b="1"/>
            </a:lvl5pPr>
            <a:lvl6pPr marL="1904981" indent="0">
              <a:buNone/>
              <a:defRPr sz="1333" b="1"/>
            </a:lvl6pPr>
            <a:lvl7pPr marL="2285977" indent="0">
              <a:buNone/>
              <a:defRPr sz="1333" b="1"/>
            </a:lvl7pPr>
            <a:lvl8pPr marL="2666973" indent="0">
              <a:buNone/>
              <a:defRPr sz="1333" b="1"/>
            </a:lvl8pPr>
            <a:lvl9pPr marL="3047970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333501"/>
            <a:ext cx="3733800" cy="478896"/>
          </a:xfrm>
        </p:spPr>
        <p:txBody>
          <a:bodyPr anchor="b">
            <a:normAutofit/>
          </a:bodyPr>
          <a:lstStyle>
            <a:lvl1pPr marL="0" indent="0">
              <a:buNone/>
              <a:defRPr sz="1417" b="0" i="0" baseline="0">
                <a:solidFill>
                  <a:schemeClr val="tx2"/>
                </a:solidFill>
              </a:defRPr>
            </a:lvl1pPr>
            <a:lvl2pPr marL="380996" indent="0">
              <a:buNone/>
              <a:defRPr sz="1667" b="1"/>
            </a:lvl2pPr>
            <a:lvl3pPr marL="761992" indent="0">
              <a:buNone/>
              <a:defRPr sz="1500" b="1"/>
            </a:lvl3pPr>
            <a:lvl4pPr marL="1142989" indent="0">
              <a:buNone/>
              <a:defRPr sz="1333" b="1"/>
            </a:lvl4pPr>
            <a:lvl5pPr marL="1523985" indent="0">
              <a:buNone/>
              <a:defRPr sz="1333" b="1"/>
            </a:lvl5pPr>
            <a:lvl6pPr marL="1904981" indent="0">
              <a:buNone/>
              <a:defRPr sz="1333" b="1"/>
            </a:lvl6pPr>
            <a:lvl7pPr marL="2285977" indent="0">
              <a:buNone/>
              <a:defRPr sz="1333" b="1"/>
            </a:lvl7pPr>
            <a:lvl8pPr marL="2666973" indent="0">
              <a:buNone/>
              <a:defRPr sz="1333" b="1"/>
            </a:lvl8pPr>
            <a:lvl9pPr marL="3047970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649" y="228866"/>
            <a:ext cx="8522660" cy="952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206500"/>
            <a:ext cx="4648200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206500"/>
            <a:ext cx="2971800" cy="914400"/>
          </a:xfrm>
        </p:spPr>
        <p:txBody>
          <a:bodyPr anchor="b"/>
          <a:lstStyle>
            <a:lvl1pPr algn="l">
              <a:defRPr sz="15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123243"/>
            <a:ext cx="2971800" cy="2639258"/>
          </a:xfrm>
        </p:spPr>
        <p:txBody>
          <a:bodyPr tIns="9144">
            <a:normAutofit/>
          </a:bodyPr>
          <a:lstStyle>
            <a:lvl1pPr marL="0" indent="0">
              <a:buNone/>
              <a:defRPr sz="1167"/>
            </a:lvl1pPr>
            <a:lvl2pPr marL="380996" indent="0">
              <a:buNone/>
              <a:defRPr sz="1000"/>
            </a:lvl2pPr>
            <a:lvl3pPr marL="761992" indent="0">
              <a:buNone/>
              <a:defRPr sz="833"/>
            </a:lvl3pPr>
            <a:lvl4pPr marL="1142989" indent="0">
              <a:buNone/>
              <a:defRPr sz="750"/>
            </a:lvl4pPr>
            <a:lvl5pPr marL="1523985" indent="0">
              <a:buNone/>
              <a:defRPr sz="750"/>
            </a:lvl5pPr>
            <a:lvl6pPr marL="1904981" indent="0">
              <a:buNone/>
              <a:defRPr sz="750"/>
            </a:lvl6pPr>
            <a:lvl7pPr marL="2285977" indent="0">
              <a:buNone/>
              <a:defRPr sz="750"/>
            </a:lvl7pPr>
            <a:lvl8pPr marL="2666973" indent="0">
              <a:buNone/>
              <a:defRPr sz="750"/>
            </a:lvl8pPr>
            <a:lvl9pPr marL="304797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06500"/>
            <a:ext cx="2971800" cy="914400"/>
          </a:xfrm>
        </p:spPr>
        <p:txBody>
          <a:bodyPr anchor="b"/>
          <a:lstStyle>
            <a:lvl1pPr algn="l">
              <a:defRPr sz="15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206500"/>
            <a:ext cx="3419856" cy="289560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1667" baseline="0">
                <a:solidFill>
                  <a:schemeClr val="tx1">
                    <a:lumMod val="65000"/>
                  </a:schemeClr>
                </a:solidFill>
              </a:defRPr>
            </a:lvl1pPr>
            <a:lvl2pPr marL="380996" indent="0">
              <a:buNone/>
              <a:defRPr sz="2333"/>
            </a:lvl2pPr>
            <a:lvl3pPr marL="761992" indent="0">
              <a:buNone/>
              <a:defRPr sz="2000"/>
            </a:lvl3pPr>
            <a:lvl4pPr marL="1142989" indent="0">
              <a:buNone/>
              <a:defRPr sz="1667"/>
            </a:lvl4pPr>
            <a:lvl5pPr marL="1523985" indent="0">
              <a:buNone/>
              <a:defRPr sz="1667"/>
            </a:lvl5pPr>
            <a:lvl6pPr marL="1904981" indent="0">
              <a:buNone/>
              <a:defRPr sz="1667"/>
            </a:lvl6pPr>
            <a:lvl7pPr marL="2285977" indent="0">
              <a:buNone/>
              <a:defRPr sz="1667"/>
            </a:lvl7pPr>
            <a:lvl8pPr marL="2666973" indent="0">
              <a:buNone/>
              <a:defRPr sz="1667"/>
            </a:lvl8pPr>
            <a:lvl9pPr marL="3047970" indent="0">
              <a:buNone/>
              <a:defRPr sz="1667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3243"/>
            <a:ext cx="2971800" cy="2004258"/>
          </a:xfrm>
        </p:spPr>
        <p:txBody>
          <a:bodyPr tIns="9144">
            <a:normAutofit/>
          </a:bodyPr>
          <a:lstStyle>
            <a:lvl1pPr marL="0" indent="0">
              <a:buNone/>
              <a:defRPr sz="1167"/>
            </a:lvl1pPr>
            <a:lvl2pPr marL="380996" indent="0">
              <a:buNone/>
              <a:defRPr sz="1000"/>
            </a:lvl2pPr>
            <a:lvl3pPr marL="761992" indent="0">
              <a:buNone/>
              <a:defRPr sz="833"/>
            </a:lvl3pPr>
            <a:lvl4pPr marL="1142989" indent="0">
              <a:buNone/>
              <a:defRPr sz="750"/>
            </a:lvl4pPr>
            <a:lvl5pPr marL="1523985" indent="0">
              <a:buNone/>
              <a:defRPr sz="750"/>
            </a:lvl5pPr>
            <a:lvl6pPr marL="1904981" indent="0">
              <a:buNone/>
              <a:defRPr sz="750"/>
            </a:lvl6pPr>
            <a:lvl7pPr marL="2285977" indent="0">
              <a:buNone/>
              <a:defRPr sz="750"/>
            </a:lvl7pPr>
            <a:lvl8pPr marL="2666973" indent="0">
              <a:buNone/>
              <a:defRPr sz="750"/>
            </a:lvl8pPr>
            <a:lvl9pPr marL="304797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7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7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532" y="0"/>
            <a:ext cx="9144531" cy="277540"/>
          </a:xfrm>
          <a:prstGeom prst="rect">
            <a:avLst/>
          </a:prstGeom>
          <a:solidFill>
            <a:srgbClr val="6D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33" dirty="0">
              <a:solidFill>
                <a:srgbClr val="FFFFFF"/>
              </a:solidFill>
              <a:latin typeface="Raleway" pitchFamily="2" charset="77"/>
              <a:cs typeface="Gill San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7414" y="438185"/>
            <a:ext cx="8562346" cy="74318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7414" y="1333501"/>
            <a:ext cx="8562346" cy="4313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r>
              <a:rPr lang="en-US" dirty="0"/>
              <a:t>Test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84615" y="39811"/>
            <a:ext cx="1636910" cy="2217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3" strike="noStrike" spc="50" baseline="0">
                <a:solidFill>
                  <a:schemeClr val="tx1">
                    <a:lumMod val="85000"/>
                  </a:schemeClr>
                </a:solidFill>
                <a:latin typeface="Raleway" pitchFamily="2" charset="77"/>
                <a:cs typeface="Gill Sans"/>
              </a:defRPr>
            </a:lvl1pPr>
          </a:lstStyle>
          <a:p>
            <a:r>
              <a:rPr lang="en-US"/>
              <a:t>5/26/15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51368" y="39810"/>
            <a:ext cx="3259827" cy="2217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3" b="0" cap="none" spc="50" baseline="0">
                <a:solidFill>
                  <a:schemeClr val="tx1">
                    <a:lumMod val="85000"/>
                  </a:schemeClr>
                </a:solidFill>
                <a:latin typeface="Raleway" pitchFamily="2" charset="77"/>
                <a:cs typeface="Gill Sans"/>
              </a:defRPr>
            </a:lvl1pPr>
          </a:lstStyle>
          <a:p>
            <a:r>
              <a:rPr lang="en-US"/>
              <a:t>SystemName @ ConfName ’14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21524" y="-8268"/>
            <a:ext cx="802632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7" baseline="0">
                <a:solidFill>
                  <a:schemeClr val="tx1">
                    <a:lumMod val="85000"/>
                  </a:schemeClr>
                </a:solidFill>
                <a:latin typeface="Raleway" pitchFamily="2" charset="77"/>
                <a:cs typeface="Gill Sans"/>
              </a:defRPr>
            </a:lvl1pPr>
          </a:lstStyle>
          <a:p>
            <a:fld id="{38237106-F2ED-405E-BC33-CC3CF42620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uchicago-maroon.png"/>
          <p:cNvPicPr>
            <a:picLocks noChangeAspect="1"/>
          </p:cNvPicPr>
          <p:nvPr userDrawn="1"/>
        </p:nvPicPr>
        <p:blipFill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6" y="12922"/>
            <a:ext cx="1227581" cy="248051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4729" r:id="rId1"/>
    <p:sldLayoutId id="2147484730" r:id="rId2"/>
    <p:sldLayoutId id="2147484731" r:id="rId3"/>
    <p:sldLayoutId id="2147484732" r:id="rId4"/>
    <p:sldLayoutId id="2147484733" r:id="rId5"/>
    <p:sldLayoutId id="2147484734" r:id="rId6"/>
    <p:sldLayoutId id="2147484735" r:id="rId7"/>
    <p:sldLayoutId id="2147484736" r:id="rId8"/>
    <p:sldLayoutId id="2147484737" r:id="rId9"/>
    <p:sldLayoutId id="2147484738" r:id="rId10"/>
    <p:sldLayoutId id="2147484739" r:id="rId11"/>
  </p:sldLayoutIdLst>
  <p:hf hdr="0" ftr="0" dt="0"/>
  <p:txStyles>
    <p:titleStyle>
      <a:lvl1pPr algn="l" defTabSz="761992" rtl="0" eaLnBrk="1" latinLnBrk="0" hangingPunct="1">
        <a:spcBef>
          <a:spcPct val="0"/>
        </a:spcBef>
        <a:buNone/>
        <a:defRPr sz="3750" b="1" kern="1200" cap="none" spc="42" baseline="0">
          <a:ln w="12700" cmpd="sng">
            <a:solidFill>
              <a:schemeClr val="bg1"/>
            </a:solidFill>
            <a:prstDash val="solid"/>
          </a:ln>
          <a:solidFill>
            <a:srgbClr val="6D1B1F"/>
          </a:solidFill>
          <a:effectLst/>
          <a:latin typeface="Raleway" pitchFamily="2" charset="77"/>
          <a:ea typeface="+mj-ea"/>
          <a:cs typeface="Gill San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47" indent="-285747" algn="l" defTabSz="761992" rtl="0" eaLnBrk="1" latinLnBrk="0" hangingPunct="1">
        <a:lnSpc>
          <a:spcPct val="100000"/>
        </a:lnSpc>
        <a:spcBef>
          <a:spcPts val="1250"/>
        </a:spcBef>
        <a:spcAft>
          <a:spcPts val="0"/>
        </a:spcAft>
        <a:buClr>
          <a:srgbClr val="800000"/>
        </a:buClr>
        <a:buSzPct val="75000"/>
        <a:buFont typeface="Wingdings" charset="2"/>
        <a:buChar char="q"/>
        <a:defRPr sz="2667" kern="1200" spc="26" baseline="0">
          <a:solidFill>
            <a:srgbClr val="000000"/>
          </a:solidFill>
          <a:latin typeface="Raleway" pitchFamily="2" charset="77"/>
          <a:ea typeface="+mn-ea"/>
          <a:cs typeface="Gill Sans"/>
        </a:defRPr>
      </a:lvl1pPr>
      <a:lvl2pPr marL="619119" indent="-238123" algn="l" defTabSz="761992" rtl="0" eaLnBrk="1" latinLnBrk="0" hangingPunct="1">
        <a:lnSpc>
          <a:spcPct val="100000"/>
        </a:lnSpc>
        <a:spcBef>
          <a:spcPts val="250"/>
        </a:spcBef>
        <a:spcAft>
          <a:spcPts val="0"/>
        </a:spcAft>
        <a:buClr>
          <a:srgbClr val="800000"/>
        </a:buClr>
        <a:buFont typeface="Wingdings" charset="2"/>
        <a:buChar char="§"/>
        <a:defRPr sz="2167" kern="1200" spc="26" baseline="0">
          <a:solidFill>
            <a:srgbClr val="000000"/>
          </a:solidFill>
          <a:latin typeface="Raleway" pitchFamily="2" charset="77"/>
          <a:ea typeface="+mn-ea"/>
          <a:cs typeface="Gill Sans"/>
        </a:defRPr>
      </a:lvl2pPr>
      <a:lvl3pPr marL="952490" indent="-190498" algn="l" defTabSz="761992" rtl="0" eaLnBrk="1" latinLnBrk="0" hangingPunct="1">
        <a:lnSpc>
          <a:spcPct val="100000"/>
        </a:lnSpc>
        <a:spcBef>
          <a:spcPts val="250"/>
        </a:spcBef>
        <a:spcAft>
          <a:spcPts val="0"/>
        </a:spcAft>
        <a:buClr>
          <a:srgbClr val="800000"/>
        </a:buClr>
        <a:buSzPct val="75000"/>
        <a:buFont typeface="Lucida Grande"/>
        <a:buChar char="-"/>
        <a:defRPr sz="1833" kern="1200" spc="26" baseline="0">
          <a:solidFill>
            <a:srgbClr val="000000"/>
          </a:solidFill>
          <a:latin typeface="Raleway" pitchFamily="2" charset="77"/>
          <a:ea typeface="+mn-ea"/>
          <a:cs typeface="Gill Sans"/>
        </a:defRPr>
      </a:lvl3pPr>
      <a:lvl4pPr marL="1333487" indent="-190498" algn="l" defTabSz="761992" rtl="0" eaLnBrk="1" latinLnBrk="0" hangingPunct="1">
        <a:lnSpc>
          <a:spcPct val="100000"/>
        </a:lnSpc>
        <a:spcBef>
          <a:spcPts val="250"/>
        </a:spcBef>
        <a:spcAft>
          <a:spcPts val="0"/>
        </a:spcAft>
        <a:buClr>
          <a:srgbClr val="800000"/>
        </a:buClr>
        <a:buFont typeface="Arial" pitchFamily="34" charset="0"/>
        <a:buChar char="•"/>
        <a:defRPr sz="1417" kern="1200" spc="26" baseline="0">
          <a:solidFill>
            <a:srgbClr val="000000"/>
          </a:solidFill>
          <a:latin typeface="Raleway" pitchFamily="2" charset="77"/>
          <a:ea typeface="+mn-ea"/>
          <a:cs typeface="Gill Sans"/>
        </a:defRPr>
      </a:lvl4pPr>
      <a:lvl5pPr marL="1714483" indent="-190498" algn="l" defTabSz="761992" rtl="0" eaLnBrk="1" latinLnBrk="0" hangingPunct="1">
        <a:lnSpc>
          <a:spcPct val="100000"/>
        </a:lnSpc>
        <a:spcBef>
          <a:spcPts val="250"/>
        </a:spcBef>
        <a:spcAft>
          <a:spcPts val="0"/>
        </a:spcAft>
        <a:buClr>
          <a:srgbClr val="800000"/>
        </a:buClr>
        <a:buFont typeface="Arial" pitchFamily="34" charset="0"/>
        <a:buChar char="•"/>
        <a:defRPr sz="1417" kern="1200" spc="26" baseline="0">
          <a:solidFill>
            <a:srgbClr val="000000"/>
          </a:solidFill>
          <a:latin typeface="Raleway" pitchFamily="2" charset="77"/>
          <a:ea typeface="+mn-ea"/>
          <a:cs typeface="Gill Sans"/>
        </a:defRPr>
      </a:lvl5pPr>
      <a:lvl6pPr marL="2095479" indent="-190498" algn="l" defTabSz="761992" rtl="0" eaLnBrk="1" latinLnBrk="0" hangingPunct="1">
        <a:lnSpc>
          <a:spcPct val="100000"/>
        </a:lnSpc>
        <a:spcBef>
          <a:spcPct val="20000"/>
        </a:spcBef>
        <a:spcAft>
          <a:spcPts val="500"/>
        </a:spcAft>
        <a:buClr>
          <a:schemeClr val="tx2"/>
        </a:buClr>
        <a:buFont typeface="Arial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75" indent="-190498" algn="l" defTabSz="761992" rtl="0" eaLnBrk="1" latinLnBrk="0" hangingPunct="1">
        <a:lnSpc>
          <a:spcPct val="100000"/>
        </a:lnSpc>
        <a:spcBef>
          <a:spcPct val="20000"/>
        </a:spcBef>
        <a:spcAft>
          <a:spcPts val="500"/>
        </a:spcAft>
        <a:buClr>
          <a:schemeClr val="tx2"/>
        </a:buClr>
        <a:buFont typeface="Arial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857471" indent="-190498" algn="l" defTabSz="761992" rtl="0" eaLnBrk="1" latinLnBrk="0" hangingPunct="1">
        <a:lnSpc>
          <a:spcPct val="100000"/>
        </a:lnSpc>
        <a:spcBef>
          <a:spcPct val="20000"/>
        </a:spcBef>
        <a:spcAft>
          <a:spcPts val="500"/>
        </a:spcAft>
        <a:buClr>
          <a:schemeClr val="tx2"/>
        </a:buClr>
        <a:buFont typeface="Arial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238468" indent="-190498" algn="l" defTabSz="761992" rtl="0" eaLnBrk="1" latinLnBrk="0" hangingPunct="1">
        <a:lnSpc>
          <a:spcPct val="100000"/>
        </a:lnSpc>
        <a:spcBef>
          <a:spcPct val="20000"/>
        </a:spcBef>
        <a:spcAft>
          <a:spcPts val="500"/>
        </a:spcAft>
        <a:buClr>
          <a:schemeClr val="tx2"/>
        </a:buClr>
        <a:buFont typeface="Arial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96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92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89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85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81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77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973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970" algn="l" defTabSz="7619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25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video" Target="../media/media1.mov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microsoft.com/office/2007/relationships/media" Target="../media/media1.mov"/><Relationship Id="rId6" Type="http://schemas.openxmlformats.org/officeDocument/2006/relationships/image" Target="../media/image12.png"/><Relationship Id="rId11" Type="http://schemas.microsoft.com/office/2007/relationships/hdphoto" Target="../media/hdphoto3.wdp"/><Relationship Id="rId5" Type="http://schemas.openxmlformats.org/officeDocument/2006/relationships/image" Target="../media/image11.png"/><Relationship Id="rId15" Type="http://schemas.openxmlformats.org/officeDocument/2006/relationships/image" Target="../media/image19.png"/><Relationship Id="rId10" Type="http://schemas.openxmlformats.org/officeDocument/2006/relationships/image" Target="../media/image15.png"/><Relationship Id="rId19" Type="http://schemas.openxmlformats.org/officeDocument/2006/relationships/image" Target="../media/image23.png"/><Relationship Id="rId4" Type="http://schemas.openxmlformats.org/officeDocument/2006/relationships/notesSlide" Target="../notesSlides/notesSlide2.xml"/><Relationship Id="rId9" Type="http://schemas.microsoft.com/office/2007/relationships/hdphoto" Target="../media/hdphoto2.wdp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3.xml"/><Relationship Id="rId7" Type="http://schemas.microsoft.com/office/2007/relationships/hdphoto" Target="../media/hdphoto3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15.png"/><Relationship Id="rId5" Type="http://schemas.microsoft.com/office/2007/relationships/hdphoto" Target="../media/hdphoto2.wdp"/><Relationship Id="rId4" Type="http://schemas.openxmlformats.org/officeDocument/2006/relationships/image" Target="../media/image14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4.xml"/><Relationship Id="rId7" Type="http://schemas.microsoft.com/office/2007/relationships/hdphoto" Target="../media/hdphoto3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5.png"/><Relationship Id="rId11" Type="http://schemas.openxmlformats.org/officeDocument/2006/relationships/image" Target="../media/image29.tiff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14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5.png"/><Relationship Id="rId3" Type="http://schemas.openxmlformats.org/officeDocument/2006/relationships/image" Target="../media/image12.png"/><Relationship Id="rId7" Type="http://schemas.microsoft.com/office/2007/relationships/hdphoto" Target="../media/hdphoto2.wdp"/><Relationship Id="rId12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33.jpeg"/><Relationship Id="rId5" Type="http://schemas.openxmlformats.org/officeDocument/2006/relationships/image" Target="../media/image32.emf"/><Relationship Id="rId10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29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52.png"/><Relationship Id="rId7" Type="http://schemas.microsoft.com/office/2007/relationships/hdphoto" Target="../media/hdphoto6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microsoft.com/office/2007/relationships/hdphoto" Target="../media/hdphoto9.wdp"/><Relationship Id="rId4" Type="http://schemas.microsoft.com/office/2007/relationships/hdphoto" Target="../media/hdphoto5.wdp"/><Relationship Id="rId9" Type="http://schemas.microsoft.com/office/2007/relationships/hdphoto" Target="../media/hdphoto8.wdp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55.png"/><Relationship Id="rId7" Type="http://schemas.openxmlformats.org/officeDocument/2006/relationships/image" Target="../media/image54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microsoft.com/office/2007/relationships/hdphoto" Target="../media/hdphoto9.wdp"/><Relationship Id="rId5" Type="http://schemas.microsoft.com/office/2007/relationships/hdphoto" Target="../media/hdphoto5.wdp"/><Relationship Id="rId10" Type="http://schemas.microsoft.com/office/2007/relationships/hdphoto" Target="../media/hdphoto8.wdp"/><Relationship Id="rId4" Type="http://schemas.openxmlformats.org/officeDocument/2006/relationships/image" Target="../media/image52.png"/><Relationship Id="rId9" Type="http://schemas.microsoft.com/office/2007/relationships/hdphoto" Target="../media/hdphoto7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574584-9AE4-913B-FC55-8ACA9F73C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" y="-125558"/>
            <a:ext cx="9118600" cy="48377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5062" y="127221"/>
            <a:ext cx="8373876" cy="2455723"/>
          </a:xfrm>
        </p:spPr>
        <p:txBody>
          <a:bodyPr/>
          <a:lstStyle/>
          <a:p>
            <a:r>
              <a:rPr lang="en-US" sz="3600" dirty="0">
                <a:cs typeface="Arial" panose="020B0604020202020204" pitchFamily="34" charset="0"/>
              </a:rPr>
              <a:t>Heimdall: Optimizing Storage I/O Admission with Extensive Machine Learning Pipeline</a:t>
            </a:r>
            <a:endParaRPr lang="en-US" b="0" dirty="0">
              <a:cs typeface="Arial" panose="020B0604020202020204" pitchFamily="34" charset="0"/>
            </a:endParaRP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FF069B78-183A-90D1-0D37-4808A19D92B7}"/>
              </a:ext>
            </a:extLst>
          </p:cNvPr>
          <p:cNvSpPr txBox="1">
            <a:spLocks/>
          </p:cNvSpPr>
          <p:nvPr/>
        </p:nvSpPr>
        <p:spPr>
          <a:xfrm>
            <a:off x="848412" y="2886445"/>
            <a:ext cx="7550870" cy="131866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761992" rtl="0" eaLnBrk="1" latinLnBrk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800000"/>
              </a:buClr>
              <a:buSzPct val="75000"/>
              <a:buFont typeface="Wingdings" charset="2"/>
              <a:buNone/>
              <a:defRPr sz="2667" kern="1200" spc="26" baseline="0">
                <a:solidFill>
                  <a:schemeClr val="bg1"/>
                </a:solidFill>
                <a:latin typeface="Raleway" pitchFamily="2" charset="77"/>
                <a:ea typeface="+mn-ea"/>
                <a:cs typeface="Gill Sans"/>
              </a:defRPr>
            </a:lvl1pPr>
            <a:lvl2pPr marL="380996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Font typeface="Wingdings" charset="2"/>
              <a:buNone/>
              <a:defRPr sz="2167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2pPr>
            <a:lvl3pPr marL="761992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SzPct val="75000"/>
              <a:buFont typeface="Lucida Grande"/>
              <a:buNone/>
              <a:defRPr sz="1833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3pPr>
            <a:lvl4pPr marL="1142989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Font typeface="Arial" pitchFamily="34" charset="0"/>
              <a:buNone/>
              <a:defRPr sz="1417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4pPr>
            <a:lvl5pPr marL="1523985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Font typeface="Arial" pitchFamily="34" charset="0"/>
              <a:buNone/>
              <a:defRPr sz="1417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5pPr>
            <a:lvl6pPr marL="1904981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85977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666973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47970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Daniar H. </a:t>
            </a:r>
            <a:r>
              <a:rPr lang="en-US" sz="2000" b="1" dirty="0">
                <a:solidFill>
                  <a:srgbClr val="FFB81D"/>
                </a:solidFill>
                <a:cs typeface="Arial" panose="020B0604020202020204" pitchFamily="34" charset="0"/>
              </a:rPr>
              <a:t>Kurniawan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  <a:r>
              <a:rPr lang="en-US" sz="2200" b="1" u="sng" dirty="0">
                <a:solidFill>
                  <a:srgbClr val="1461AE"/>
                </a:solidFill>
                <a:cs typeface="Arial" panose="020B0604020202020204" pitchFamily="34" charset="0"/>
              </a:rPr>
              <a:t>Rani </a:t>
            </a:r>
            <a:r>
              <a:rPr lang="en-US" sz="2200" b="1" u="sng" dirty="0">
                <a:solidFill>
                  <a:srgbClr val="C00000"/>
                </a:solidFill>
                <a:cs typeface="Arial" panose="020B0604020202020204" pitchFamily="34" charset="0"/>
              </a:rPr>
              <a:t>Ayu Putri</a:t>
            </a:r>
            <a:r>
              <a:rPr 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n-US" sz="2000" b="1" dirty="0" err="1">
                <a:solidFill>
                  <a:srgbClr val="C00000"/>
                </a:solidFill>
                <a:cs typeface="Arial" panose="020B0604020202020204" pitchFamily="34" charset="0"/>
              </a:rPr>
              <a:t>Peiran</a:t>
            </a:r>
            <a:r>
              <a:rPr 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Qin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</a:p>
          <a:p>
            <a:pPr>
              <a:spcBef>
                <a:spcPts val="600"/>
              </a:spcBef>
            </a:pPr>
            <a:r>
              <a:rPr lang="en-US" sz="2000" b="1" dirty="0" err="1">
                <a:solidFill>
                  <a:srgbClr val="1461AE"/>
                </a:solidFill>
                <a:cs typeface="Arial" panose="020B0604020202020204" pitchFamily="34" charset="0"/>
              </a:rPr>
              <a:t>Kahfi</a:t>
            </a:r>
            <a:r>
              <a:rPr lang="en-US" sz="2000" b="1" dirty="0">
                <a:solidFill>
                  <a:srgbClr val="1461AE"/>
                </a:solidFill>
                <a:cs typeface="Arial" panose="020B0604020202020204" pitchFamily="34" charset="0"/>
              </a:rPr>
              <a:t> S. </a:t>
            </a:r>
            <a:r>
              <a:rPr lang="en-US" sz="2000" b="1" dirty="0" err="1">
                <a:solidFill>
                  <a:srgbClr val="1461AE"/>
                </a:solidFill>
                <a:cs typeface="Arial" panose="020B0604020202020204" pitchFamily="34" charset="0"/>
              </a:rPr>
              <a:t>Zulkifli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Ray A. O. </a:t>
            </a:r>
            <a:r>
              <a:rPr lang="en-US" sz="2000" b="1" dirty="0" err="1">
                <a:solidFill>
                  <a:srgbClr val="C00000"/>
                </a:solidFill>
                <a:cs typeface="Arial" panose="020B0604020202020204" pitchFamily="34" charset="0"/>
              </a:rPr>
              <a:t>Sinurat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cs typeface="Arial" panose="020B0604020202020204" pitchFamily="34" charset="0"/>
              </a:rPr>
              <a:t>Janki Bhimani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</a:p>
          <a:p>
            <a:pPr>
              <a:spcBef>
                <a:spcPts val="600"/>
              </a:spcBef>
            </a:pPr>
            <a:r>
              <a:rPr lang="en-US" sz="2000" b="1" dirty="0">
                <a:solidFill>
                  <a:srgbClr val="77B300"/>
                </a:solidFill>
                <a:cs typeface="Arial" panose="020B0604020202020204" pitchFamily="34" charset="0"/>
              </a:rPr>
              <a:t>Sandeep </a:t>
            </a:r>
            <a:r>
              <a:rPr lang="en-US" sz="2000" b="1" dirty="0" err="1">
                <a:solidFill>
                  <a:srgbClr val="77B300"/>
                </a:solidFill>
                <a:cs typeface="Arial" panose="020B0604020202020204" pitchFamily="34" charset="0"/>
              </a:rPr>
              <a:t>Madireddy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  <a:r>
              <a:rPr lang="en-US" sz="2000" b="1" dirty="0" err="1">
                <a:solidFill>
                  <a:srgbClr val="1461AE"/>
                </a:solidFill>
                <a:cs typeface="Arial" panose="020B0604020202020204" pitchFamily="34" charset="0"/>
              </a:rPr>
              <a:t>Achmad</a:t>
            </a:r>
            <a:r>
              <a:rPr lang="en-US" sz="2000" b="1" dirty="0">
                <a:solidFill>
                  <a:srgbClr val="1461AE"/>
                </a:solidFill>
                <a:cs typeface="Arial" panose="020B0604020202020204" pitchFamily="34" charset="0"/>
              </a:rPr>
              <a:t> Imam </a:t>
            </a:r>
            <a:r>
              <a:rPr lang="en-US" sz="2000" b="1" dirty="0" err="1">
                <a:solidFill>
                  <a:srgbClr val="1461AE"/>
                </a:solidFill>
                <a:cs typeface="Arial" panose="020B0604020202020204" pitchFamily="34" charset="0"/>
              </a:rPr>
              <a:t>Kistijantoro</a:t>
            </a:r>
            <a:r>
              <a:rPr lang="en-US" sz="2000" b="1" dirty="0">
                <a:solidFill>
                  <a:srgbClr val="800000"/>
                </a:solidFill>
                <a:cs typeface="Arial" panose="020B0604020202020204" pitchFamily="34" charset="0"/>
              </a:rPr>
              <a:t>, </a:t>
            </a:r>
          </a:p>
          <a:p>
            <a:pPr>
              <a:spcBef>
                <a:spcPts val="600"/>
              </a:spcBef>
            </a:pPr>
            <a:r>
              <a:rPr lang="en-US" sz="2000" b="1" dirty="0" err="1">
                <a:solidFill>
                  <a:srgbClr val="C00000"/>
                </a:solidFill>
                <a:cs typeface="Arial" panose="020B0604020202020204" pitchFamily="34" charset="0"/>
              </a:rPr>
              <a:t>Haryadi</a:t>
            </a:r>
            <a:r>
              <a:rPr 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S. </a:t>
            </a:r>
            <a:r>
              <a:rPr lang="en-US" sz="2000" b="1" dirty="0" err="1">
                <a:solidFill>
                  <a:srgbClr val="C00000"/>
                </a:solidFill>
                <a:cs typeface="Arial" panose="020B0604020202020204" pitchFamily="34" charset="0"/>
              </a:rPr>
              <a:t>Gunawi</a:t>
            </a:r>
            <a:endParaRPr lang="en-US" sz="2000" b="1" dirty="0">
              <a:solidFill>
                <a:srgbClr val="C00000"/>
              </a:solidFill>
              <a:cs typeface="Arial" panose="020B0604020202020204" pitchFamily="34" charset="0"/>
            </a:endParaRPr>
          </a:p>
          <a:p>
            <a:pPr>
              <a:spcBef>
                <a:spcPts val="600"/>
              </a:spcBef>
            </a:pPr>
            <a:endParaRPr lang="en-US" sz="2000" dirty="0"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7F0F39-C62D-16F0-1D11-901030F19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187" y="-125559"/>
            <a:ext cx="116823" cy="2939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BC8E66-2803-AFC6-978C-C959D5BE6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206" y="-125559"/>
            <a:ext cx="116823" cy="293944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6F0D5C5-2931-9A93-373C-618B03997AFE}"/>
              </a:ext>
            </a:extLst>
          </p:cNvPr>
          <p:cNvGrpSpPr/>
          <p:nvPr/>
        </p:nvGrpSpPr>
        <p:grpSpPr>
          <a:xfrm>
            <a:off x="507066" y="3896794"/>
            <a:ext cx="2953559" cy="1818206"/>
            <a:chOff x="3462611" y="4493343"/>
            <a:chExt cx="2452006" cy="1509451"/>
          </a:xfrm>
        </p:grpSpPr>
        <p:pic>
          <p:nvPicPr>
            <p:cNvPr id="2" name="Picture 2" descr="Coat of arms of the University of Chicago - Wikipedia">
              <a:extLst>
                <a:ext uri="{FF2B5EF4-FFF2-40B4-BE49-F238E27FC236}">
                  <a16:creationId xmlns:a16="http://schemas.microsoft.com/office/drawing/2014/main" id="{8E4AB240-09E9-5912-1C84-4A483264CA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2611" y="5009723"/>
              <a:ext cx="375660" cy="476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Download University of Chicago (U of C, UChicago) Logo in SVG Vector or PNG  File Format - Logo.wine">
              <a:extLst>
                <a:ext uri="{FF2B5EF4-FFF2-40B4-BE49-F238E27FC236}">
                  <a16:creationId xmlns:a16="http://schemas.microsoft.com/office/drawing/2014/main" id="{02D00372-2DA3-D25F-BA8A-B09590F668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0441" y="4493343"/>
              <a:ext cx="2264176" cy="15094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Bandung Institute of Technology - Wikipedia">
            <a:extLst>
              <a:ext uri="{FF2B5EF4-FFF2-40B4-BE49-F238E27FC236}">
                <a16:creationId xmlns:a16="http://schemas.microsoft.com/office/drawing/2014/main" id="{6EA6B2AA-CFD1-90ED-A981-D70B0ABF4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351" y="4266289"/>
            <a:ext cx="1225532" cy="122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02E645-B731-EB8E-1C40-D1841BFD2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546" y="4310279"/>
            <a:ext cx="2329611" cy="420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020D628-79A0-1B99-03F7-CDE12FA46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545" y="4730903"/>
            <a:ext cx="2329611" cy="81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icrosoft Azure Marketplace">
            <a:extLst>
              <a:ext uri="{FF2B5EF4-FFF2-40B4-BE49-F238E27FC236}">
                <a16:creationId xmlns:a16="http://schemas.microsoft.com/office/drawing/2014/main" id="{E978413E-1102-078D-1F7E-BEBCB6B46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974" y="4205111"/>
            <a:ext cx="1225532" cy="122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325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2CFED-9549-B448-5215-D593E369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837FB6-E629-2CFC-B5E5-FA5566DB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Screen Recording 2025-03-28 at 5.13.04 AM.mov">
            <a:hlinkClick r:id="" action="ppaction://media"/>
            <a:extLst>
              <a:ext uri="{FF2B5EF4-FFF2-40B4-BE49-F238E27FC236}">
                <a16:creationId xmlns:a16="http://schemas.microsoft.com/office/drawing/2014/main" id="{A6ADB781-9764-95C7-4271-B235F34DAA8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81719" y="622816"/>
            <a:ext cx="4980562" cy="14768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EF42297-EBF1-42B3-E4A0-1E2719E0D705}"/>
              </a:ext>
            </a:extLst>
          </p:cNvPr>
          <p:cNvGrpSpPr/>
          <p:nvPr/>
        </p:nvGrpSpPr>
        <p:grpSpPr>
          <a:xfrm>
            <a:off x="1343960" y="2249523"/>
            <a:ext cx="6539451" cy="607977"/>
            <a:chOff x="2081719" y="3309607"/>
            <a:chExt cx="6539451" cy="6079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447F7E-E7B3-7917-C823-4A00614D7FBB}"/>
                </a:ext>
              </a:extLst>
            </p:cNvPr>
            <p:cNvSpPr txBox="1"/>
            <p:nvPr/>
          </p:nvSpPr>
          <p:spPr>
            <a:xfrm>
              <a:off x="2688136" y="3413541"/>
              <a:ext cx="59330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Raleway" pitchFamily="2" charset="77"/>
                </a:rPr>
                <a:t>So why, sometimes it’s fast, sometimes it’s slow?</a:t>
              </a:r>
              <a:endParaRPr lang="en-US" sz="2000" b="1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F74D032-B929-A9CB-B7C9-FE5CA38BE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81719" y="3309607"/>
              <a:ext cx="409392" cy="607977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2B8E81-CF97-C652-E0BD-39A924271A27}"/>
              </a:ext>
            </a:extLst>
          </p:cNvPr>
          <p:cNvGrpSpPr/>
          <p:nvPr/>
        </p:nvGrpSpPr>
        <p:grpSpPr>
          <a:xfrm>
            <a:off x="3576443" y="3553297"/>
            <a:ext cx="2477878" cy="1614067"/>
            <a:chOff x="3576443" y="3553297"/>
            <a:chExt cx="2477878" cy="1614067"/>
          </a:xfrm>
        </p:grpSpPr>
        <p:pic>
          <p:nvPicPr>
            <p:cNvPr id="27" name="Picture 4" descr="Data center - Free computer icons">
              <a:extLst>
                <a:ext uri="{FF2B5EF4-FFF2-40B4-BE49-F238E27FC236}">
                  <a16:creationId xmlns:a16="http://schemas.microsoft.com/office/drawing/2014/main" id="{6EABCBC7-84F1-D221-336E-1753589FB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0254" y="3553297"/>
              <a:ext cx="1614067" cy="1614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2FC2933-A547-2A20-E5E6-8DB7F47AE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6443" y="4596574"/>
              <a:ext cx="762219" cy="998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7A3733-C07A-A190-C17A-2C606857B9E0}"/>
              </a:ext>
            </a:extLst>
          </p:cNvPr>
          <p:cNvGrpSpPr/>
          <p:nvPr/>
        </p:nvGrpSpPr>
        <p:grpSpPr>
          <a:xfrm>
            <a:off x="6149129" y="3824468"/>
            <a:ext cx="2407729" cy="1544211"/>
            <a:chOff x="6149129" y="3824468"/>
            <a:chExt cx="2407729" cy="154421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EA611F-FFCC-4A76-08C7-6FBBA1CEA631}"/>
                </a:ext>
              </a:extLst>
            </p:cNvPr>
            <p:cNvGrpSpPr/>
            <p:nvPr/>
          </p:nvGrpSpPr>
          <p:grpSpPr>
            <a:xfrm>
              <a:off x="7018652" y="3824468"/>
              <a:ext cx="1538206" cy="1544211"/>
              <a:chOff x="378238" y="1574000"/>
              <a:chExt cx="1538206" cy="1544211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5E29FA5-ADFB-19BE-64AC-D8680C5FDB19}"/>
                  </a:ext>
                </a:extLst>
              </p:cNvPr>
              <p:cNvGrpSpPr/>
              <p:nvPr/>
            </p:nvGrpSpPr>
            <p:grpSpPr>
              <a:xfrm>
                <a:off x="378238" y="1574000"/>
                <a:ext cx="1538206" cy="1544211"/>
                <a:chOff x="209201" y="2581548"/>
                <a:chExt cx="1538206" cy="1544211"/>
              </a:xfrm>
            </p:grpSpPr>
            <p:pic>
              <p:nvPicPr>
                <p:cNvPr id="22" name="Picture 2" descr="NVMe SSD icon PNG and SVG Vector Free Download">
                  <a:extLst>
                    <a:ext uri="{FF2B5EF4-FFF2-40B4-BE49-F238E27FC236}">
                      <a16:creationId xmlns:a16="http://schemas.microsoft.com/office/drawing/2014/main" id="{6B5C1EC9-F7C4-8608-A759-3774A48B1E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clrChange>
                    <a:clrFrom>
                      <a:srgbClr val="03F3FE"/>
                    </a:clrFrom>
                    <a:clrTo>
                      <a:srgbClr val="03F3FE">
                        <a:alpha val="0"/>
                      </a:srgbClr>
                    </a:clrTo>
                  </a:clrChange>
                  <a:duotone>
                    <a:prstClr val="black"/>
                    <a:srgbClr val="35DC11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artisticMarker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3497366">
                  <a:off x="209201" y="2581548"/>
                  <a:ext cx="1538206" cy="15442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DDDBCE0-6E92-F3E7-D617-67BCAF090A35}"/>
                    </a:ext>
                  </a:extLst>
                </p:cNvPr>
                <p:cNvSpPr/>
                <p:nvPr/>
              </p:nvSpPr>
              <p:spPr>
                <a:xfrm>
                  <a:off x="315111" y="3112605"/>
                  <a:ext cx="1179384" cy="47114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Raleway" pitchFamily="2" charset="77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7F276C8-8072-0966-8E8F-3AF16C0466E4}"/>
                  </a:ext>
                </a:extLst>
              </p:cNvPr>
              <p:cNvSpPr/>
              <p:nvPr/>
            </p:nvSpPr>
            <p:spPr>
              <a:xfrm>
                <a:off x="661472" y="2127741"/>
                <a:ext cx="823498" cy="4257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Raleway" pitchFamily="2" charset="77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83686CE-A34D-537E-DE7E-5D4D000F0A88}"/>
                  </a:ext>
                </a:extLst>
              </p:cNvPr>
              <p:cNvGrpSpPr/>
              <p:nvPr/>
            </p:nvGrpSpPr>
            <p:grpSpPr>
              <a:xfrm>
                <a:off x="642614" y="2169241"/>
                <a:ext cx="825491" cy="351095"/>
                <a:chOff x="4795926" y="3165053"/>
                <a:chExt cx="825491" cy="351095"/>
              </a:xfrm>
            </p:grpSpPr>
            <p:pic>
              <p:nvPicPr>
                <p:cNvPr id="12" name="Picture 14">
                  <a:extLst>
                    <a:ext uri="{FF2B5EF4-FFF2-40B4-BE49-F238E27FC236}">
                      <a16:creationId xmlns:a16="http://schemas.microsoft.com/office/drawing/2014/main" id="{CFED766D-D2F5-4363-937B-BC22BA277E1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Photocopy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95926" y="3170447"/>
                  <a:ext cx="345701" cy="3457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14">
                  <a:extLst>
                    <a:ext uri="{FF2B5EF4-FFF2-40B4-BE49-F238E27FC236}">
                      <a16:creationId xmlns:a16="http://schemas.microsoft.com/office/drawing/2014/main" id="{184CC81D-5BE5-03CD-EACA-F90EBA2890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artisticPhotocopy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75716" y="3165053"/>
                  <a:ext cx="345701" cy="3457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94752B7-C03C-D9EC-DA66-2E058ACFF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9129" y="4587964"/>
              <a:ext cx="762219" cy="998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219C41-59D5-FE33-8D3B-3E58A45D37DF}"/>
              </a:ext>
            </a:extLst>
          </p:cNvPr>
          <p:cNvGrpSpPr/>
          <p:nvPr/>
        </p:nvGrpSpPr>
        <p:grpSpPr>
          <a:xfrm>
            <a:off x="582129" y="3308051"/>
            <a:ext cx="2893794" cy="2005751"/>
            <a:chOff x="582129" y="3308051"/>
            <a:chExt cx="2893794" cy="200575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CA421AB-E6CB-4FCB-5E61-F623C424DA53}"/>
                </a:ext>
              </a:extLst>
            </p:cNvPr>
            <p:cNvGrpSpPr/>
            <p:nvPr/>
          </p:nvGrpSpPr>
          <p:grpSpPr>
            <a:xfrm>
              <a:off x="582129" y="3308051"/>
              <a:ext cx="2893794" cy="2005751"/>
              <a:chOff x="582129" y="3308051"/>
              <a:chExt cx="2893794" cy="2005751"/>
            </a:xfrm>
          </p:grpSpPr>
          <p:pic>
            <p:nvPicPr>
              <p:cNvPr id="28" name="Picture 6" descr="Cloud - Free vector clipart images on creazilla.com">
                <a:extLst>
                  <a:ext uri="{FF2B5EF4-FFF2-40B4-BE49-F238E27FC236}">
                    <a16:creationId xmlns:a16="http://schemas.microsoft.com/office/drawing/2014/main" id="{D93FC481-2043-653A-0875-754417F90A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2129" y="3308051"/>
                <a:ext cx="2893794" cy="20057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8">
                <a:extLst>
                  <a:ext uri="{FF2B5EF4-FFF2-40B4-BE49-F238E27FC236}">
                    <a16:creationId xmlns:a16="http://schemas.microsoft.com/office/drawing/2014/main" id="{0D7250F4-07CD-DACE-D173-E7163092B9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1870" y="4003645"/>
                <a:ext cx="438729" cy="3072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10" descr="Email, gmail, mail, logo, social, social media icon - Free download">
                <a:extLst>
                  <a:ext uri="{FF2B5EF4-FFF2-40B4-BE49-F238E27FC236}">
                    <a16:creationId xmlns:a16="http://schemas.microsoft.com/office/drawing/2014/main" id="{274E555F-1D4C-3477-6C3A-6874167A22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62791" y="3473042"/>
                <a:ext cx="480474" cy="4804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12" descr="Google docs - Free logo icons">
                <a:extLst>
                  <a:ext uri="{FF2B5EF4-FFF2-40B4-BE49-F238E27FC236}">
                    <a16:creationId xmlns:a16="http://schemas.microsoft.com/office/drawing/2014/main" id="{23E05532-64E0-E632-1227-EAAE7D6C97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398" y="4385321"/>
                <a:ext cx="422507" cy="4225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122" name="Picture 2" descr="Google, calendar icon - Free download on Iconfinder">
              <a:extLst>
                <a:ext uri="{FF2B5EF4-FFF2-40B4-BE49-F238E27FC236}">
                  <a16:creationId xmlns:a16="http://schemas.microsoft.com/office/drawing/2014/main" id="{FAC883C5-55BC-FF75-D8C6-9C18D78A20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9899" y="4385321"/>
              <a:ext cx="592851" cy="5928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Google drive logo - Social media &amp; Logos Icons">
              <a:extLst>
                <a:ext uri="{FF2B5EF4-FFF2-40B4-BE49-F238E27FC236}">
                  <a16:creationId xmlns:a16="http://schemas.microsoft.com/office/drawing/2014/main" id="{B4975D0A-E2CF-C7B2-1987-3A1FE4AF0D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9541" y="3915718"/>
              <a:ext cx="592282" cy="592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>
              <a:extLst>
                <a:ext uri="{FF2B5EF4-FFF2-40B4-BE49-F238E27FC236}">
                  <a16:creationId xmlns:a16="http://schemas.microsoft.com/office/drawing/2014/main" id="{8453EB2C-6F1C-566D-F970-9D4AC2E813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4770" y="4502163"/>
              <a:ext cx="382732" cy="526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>
              <a:extLst>
                <a:ext uri="{FF2B5EF4-FFF2-40B4-BE49-F238E27FC236}">
                  <a16:creationId xmlns:a16="http://schemas.microsoft.com/office/drawing/2014/main" id="{5482F629-83BB-EE78-36E5-BB2FB2514F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3862" y="4649213"/>
              <a:ext cx="518151" cy="5181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0" name="Picture 10">
              <a:extLst>
                <a:ext uri="{FF2B5EF4-FFF2-40B4-BE49-F238E27FC236}">
                  <a16:creationId xmlns:a16="http://schemas.microsoft.com/office/drawing/2014/main" id="{20901DC2-DA05-BF73-4226-6BEDA6015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6631" y="4202025"/>
              <a:ext cx="404538" cy="4045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32" name="Picture 12">
              <a:extLst>
                <a:ext uri="{FF2B5EF4-FFF2-40B4-BE49-F238E27FC236}">
                  <a16:creationId xmlns:a16="http://schemas.microsoft.com/office/drawing/2014/main" id="{32ADD68C-73B0-6526-4843-ADE1FE346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7077" y="4419709"/>
              <a:ext cx="372486" cy="411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1738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949C8E-1C7A-E642-A0CB-082DFD88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67D0799-18CD-EEEC-7B66-52C6DB24372F}"/>
              </a:ext>
            </a:extLst>
          </p:cNvPr>
          <p:cNvGrpSpPr/>
          <p:nvPr/>
        </p:nvGrpSpPr>
        <p:grpSpPr>
          <a:xfrm>
            <a:off x="2049754" y="1396140"/>
            <a:ext cx="1538206" cy="1544211"/>
            <a:chOff x="378238" y="1574000"/>
            <a:chExt cx="1538206" cy="154421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240154C-6BF4-7E27-BDD9-C5B786048380}"/>
                </a:ext>
              </a:extLst>
            </p:cNvPr>
            <p:cNvGrpSpPr/>
            <p:nvPr/>
          </p:nvGrpSpPr>
          <p:grpSpPr>
            <a:xfrm>
              <a:off x="378238" y="1574000"/>
              <a:ext cx="1538206" cy="1544211"/>
              <a:chOff x="209201" y="2581548"/>
              <a:chExt cx="1538206" cy="1544211"/>
            </a:xfrm>
          </p:grpSpPr>
          <p:pic>
            <p:nvPicPr>
              <p:cNvPr id="79" name="Picture 2" descr="NVMe SSD icon PNG and SVG Vector Free Download">
                <a:extLst>
                  <a:ext uri="{FF2B5EF4-FFF2-40B4-BE49-F238E27FC236}">
                    <a16:creationId xmlns:a16="http://schemas.microsoft.com/office/drawing/2014/main" id="{310008EF-6503-C67A-0BE0-731987D954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03F3FE"/>
                  </a:clrFrom>
                  <a:clrTo>
                    <a:srgbClr val="03F3FE">
                      <a:alpha val="0"/>
                    </a:srgbClr>
                  </a:clrTo>
                </a:clrChange>
                <a:duotone>
                  <a:prstClr val="black"/>
                  <a:srgbClr val="35DC11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497366">
                <a:off x="209201" y="2581548"/>
                <a:ext cx="1538206" cy="1544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3C1CAE4A-15D6-DD66-13D3-BC0EAB1246B8}"/>
                  </a:ext>
                </a:extLst>
              </p:cNvPr>
              <p:cNvSpPr/>
              <p:nvPr/>
            </p:nvSpPr>
            <p:spPr>
              <a:xfrm>
                <a:off x="315111" y="3112605"/>
                <a:ext cx="1179384" cy="47114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Raleway" pitchFamily="2" charset="77"/>
                </a:endParaRPr>
              </a:p>
            </p:txBody>
          </p:sp>
        </p:grp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BE2D4E2-6179-64A6-0F37-092B6C280A1E}"/>
                </a:ext>
              </a:extLst>
            </p:cNvPr>
            <p:cNvSpPr/>
            <p:nvPr/>
          </p:nvSpPr>
          <p:spPr>
            <a:xfrm>
              <a:off x="661472" y="2127741"/>
              <a:ext cx="823498" cy="4257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20C482CF-34FE-0ED5-FEC1-09E6C8C73E19}"/>
                </a:ext>
              </a:extLst>
            </p:cNvPr>
            <p:cNvGrpSpPr/>
            <p:nvPr/>
          </p:nvGrpSpPr>
          <p:grpSpPr>
            <a:xfrm>
              <a:off x="642614" y="2169241"/>
              <a:ext cx="825491" cy="351095"/>
              <a:chOff x="4795926" y="3165053"/>
              <a:chExt cx="825491" cy="351095"/>
            </a:xfrm>
          </p:grpSpPr>
          <p:pic>
            <p:nvPicPr>
              <p:cNvPr id="61" name="Picture 14">
                <a:extLst>
                  <a:ext uri="{FF2B5EF4-FFF2-40B4-BE49-F238E27FC236}">
                    <a16:creationId xmlns:a16="http://schemas.microsoft.com/office/drawing/2014/main" id="{35C5F216-878C-3164-AE08-07798B8DAF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5926" y="3170447"/>
                <a:ext cx="345701" cy="345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5" name="Picture 14">
                <a:extLst>
                  <a:ext uri="{FF2B5EF4-FFF2-40B4-BE49-F238E27FC236}">
                    <a16:creationId xmlns:a16="http://schemas.microsoft.com/office/drawing/2014/main" id="{1EA14657-7850-D404-E541-056EDBB9E5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75716" y="3165053"/>
                <a:ext cx="345701" cy="345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086E9805-AE8B-448D-591E-3432FD1D0DE1}"/>
              </a:ext>
            </a:extLst>
          </p:cNvPr>
          <p:cNvGrpSpPr/>
          <p:nvPr/>
        </p:nvGrpSpPr>
        <p:grpSpPr>
          <a:xfrm>
            <a:off x="565369" y="2195569"/>
            <a:ext cx="3010888" cy="1657362"/>
            <a:chOff x="986336" y="4255272"/>
            <a:chExt cx="3010888" cy="1657362"/>
          </a:xfrm>
        </p:grpSpPr>
        <p:sp>
          <p:nvSpPr>
            <p:cNvPr id="145" name="Triangle 144">
              <a:extLst>
                <a:ext uri="{FF2B5EF4-FFF2-40B4-BE49-F238E27FC236}">
                  <a16:creationId xmlns:a16="http://schemas.microsoft.com/office/drawing/2014/main" id="{7C4FD54D-9C34-7FCC-B545-B3154103777E}"/>
                </a:ext>
              </a:extLst>
            </p:cNvPr>
            <p:cNvSpPr/>
            <p:nvPr/>
          </p:nvSpPr>
          <p:spPr>
            <a:xfrm rot="20704861">
              <a:off x="3070574" y="4255272"/>
              <a:ext cx="270646" cy="549714"/>
            </a:xfrm>
            <a:prstGeom prst="triangle">
              <a:avLst/>
            </a:prstGeom>
            <a:solidFill>
              <a:schemeClr val="tx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5D2B3827-C2B9-957E-A9CB-D0AD3D15ABF2}"/>
                </a:ext>
              </a:extLst>
            </p:cNvPr>
            <p:cNvGrpSpPr/>
            <p:nvPr/>
          </p:nvGrpSpPr>
          <p:grpSpPr>
            <a:xfrm>
              <a:off x="986336" y="4745952"/>
              <a:ext cx="3010888" cy="1166682"/>
              <a:chOff x="328638" y="4339516"/>
              <a:chExt cx="3010888" cy="1166682"/>
            </a:xfrm>
          </p:grpSpPr>
          <p:sp>
            <p:nvSpPr>
              <p:cNvPr id="134" name="Rounded Rectangle 133">
                <a:extLst>
                  <a:ext uri="{FF2B5EF4-FFF2-40B4-BE49-F238E27FC236}">
                    <a16:creationId xmlns:a16="http://schemas.microsoft.com/office/drawing/2014/main" id="{FE2E9738-96FB-A9E2-067F-F11CC27AF926}"/>
                  </a:ext>
                </a:extLst>
              </p:cNvPr>
              <p:cNvSpPr/>
              <p:nvPr/>
            </p:nvSpPr>
            <p:spPr>
              <a:xfrm>
                <a:off x="328638" y="4339516"/>
                <a:ext cx="3010888" cy="1166682"/>
              </a:xfrm>
              <a:prstGeom prst="roundRect">
                <a:avLst/>
              </a:prstGeom>
              <a:solidFill>
                <a:schemeClr val="tx1"/>
              </a:solidFill>
              <a:ln w="28575" cmpd="sng"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i="1" dirty="0">
                  <a:solidFill>
                    <a:schemeClr val="tx1"/>
                  </a:solidFill>
                  <a:latin typeface="Raleway" pitchFamily="2" charset="77"/>
                  <a:cs typeface="Gill Sans"/>
                </a:endParaRPr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78AF7010-3C69-44DF-3C4D-20CC491532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5349"/>
              <a:stretch/>
            </p:blipFill>
            <p:spPr>
              <a:xfrm>
                <a:off x="431037" y="4459879"/>
                <a:ext cx="281484" cy="294768"/>
              </a:xfrm>
              <a:prstGeom prst="rect">
                <a:avLst/>
              </a:prstGeom>
            </p:spPr>
          </p:pic>
          <p:pic>
            <p:nvPicPr>
              <p:cNvPr id="136" name="Picture 135">
                <a:extLst>
                  <a:ext uri="{FF2B5EF4-FFF2-40B4-BE49-F238E27FC236}">
                    <a16:creationId xmlns:a16="http://schemas.microsoft.com/office/drawing/2014/main" id="{2A6C6B39-DFB6-B432-C762-D6EA6ABCDB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5349"/>
              <a:stretch/>
            </p:blipFill>
            <p:spPr>
              <a:xfrm>
                <a:off x="433301" y="4784458"/>
                <a:ext cx="281484" cy="294768"/>
              </a:xfrm>
              <a:prstGeom prst="rect">
                <a:avLst/>
              </a:prstGeom>
            </p:spPr>
          </p:pic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0864C9C-E845-63F6-4A44-C0542A515660}"/>
                  </a:ext>
                </a:extLst>
              </p:cNvPr>
              <p:cNvSpPr txBox="1"/>
              <p:nvPr/>
            </p:nvSpPr>
            <p:spPr>
              <a:xfrm>
                <a:off x="710945" y="4436201"/>
                <a:ext cx="25651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Raleway" pitchFamily="2" charset="77"/>
                  </a:rPr>
                  <a:t>Garbage Collection (GC)</a:t>
                </a:r>
                <a:endParaRPr sz="1600" dirty="0">
                  <a:solidFill>
                    <a:srgbClr val="FF0000"/>
                  </a:solidFill>
                  <a:latin typeface="Raleway" pitchFamily="2" charset="7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FF8DCF8-5E73-241E-F0E4-047E90ADC2FB}"/>
                  </a:ext>
                </a:extLst>
              </p:cNvPr>
              <p:cNvSpPr txBox="1"/>
              <p:nvPr/>
            </p:nvSpPr>
            <p:spPr>
              <a:xfrm>
                <a:off x="697698" y="4774848"/>
                <a:ext cx="128753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Raleway" pitchFamily="2" charset="77"/>
                  </a:rPr>
                  <a:t>Buffer flush</a:t>
                </a:r>
                <a:endParaRPr sz="1600" dirty="0">
                  <a:solidFill>
                    <a:srgbClr val="FF0000"/>
                  </a:solidFill>
                  <a:latin typeface="Raleway" pitchFamily="2" charset="77"/>
                </a:endParaRPr>
              </a:p>
            </p:txBody>
          </p:sp>
          <p:pic>
            <p:nvPicPr>
              <p:cNvPr id="141" name="Picture 140">
                <a:extLst>
                  <a:ext uri="{FF2B5EF4-FFF2-40B4-BE49-F238E27FC236}">
                    <a16:creationId xmlns:a16="http://schemas.microsoft.com/office/drawing/2014/main" id="{D889CC14-AC41-4C1F-3F15-3C52B3BB26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5349"/>
              <a:stretch/>
            </p:blipFill>
            <p:spPr>
              <a:xfrm>
                <a:off x="425334" y="5131765"/>
                <a:ext cx="281484" cy="294768"/>
              </a:xfrm>
              <a:prstGeom prst="rect">
                <a:avLst/>
              </a:prstGeom>
            </p:spPr>
          </p:pic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A5089C06-D999-4CEE-CE3A-9F57673D17D1}"/>
                  </a:ext>
                </a:extLst>
              </p:cNvPr>
              <p:cNvSpPr txBox="1"/>
              <p:nvPr/>
            </p:nvSpPr>
            <p:spPr>
              <a:xfrm>
                <a:off x="689731" y="5111995"/>
                <a:ext cx="19800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0000"/>
                    </a:solidFill>
                    <a:latin typeface="Raleway" pitchFamily="2" charset="77"/>
                  </a:rPr>
                  <a:t>Write amplification</a:t>
                </a:r>
                <a:endParaRPr sz="1600" dirty="0">
                  <a:solidFill>
                    <a:srgbClr val="FF0000"/>
                  </a:solidFill>
                  <a:latin typeface="Raleway" pitchFamily="2" charset="77"/>
                </a:endParaRPr>
              </a:p>
            </p:txBody>
          </p:sp>
        </p:grpSp>
        <p:sp>
          <p:nvSpPr>
            <p:cNvPr id="144" name="Triangle 143">
              <a:extLst>
                <a:ext uri="{FF2B5EF4-FFF2-40B4-BE49-F238E27FC236}">
                  <a16:creationId xmlns:a16="http://schemas.microsoft.com/office/drawing/2014/main" id="{C9B55E86-6504-A019-A1D3-959877657560}"/>
                </a:ext>
              </a:extLst>
            </p:cNvPr>
            <p:cNvSpPr/>
            <p:nvPr/>
          </p:nvSpPr>
          <p:spPr>
            <a:xfrm rot="21274416">
              <a:off x="3066280" y="4580841"/>
              <a:ext cx="392358" cy="2909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C23BBD1-32E7-9DC7-72CF-2EFB212E762D}"/>
              </a:ext>
            </a:extLst>
          </p:cNvPr>
          <p:cNvGrpSpPr/>
          <p:nvPr/>
        </p:nvGrpSpPr>
        <p:grpSpPr>
          <a:xfrm>
            <a:off x="610512" y="4100604"/>
            <a:ext cx="2781197" cy="552950"/>
            <a:chOff x="176024" y="1510166"/>
            <a:chExt cx="2781197" cy="552950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347A121A-9065-A743-E3A1-9A901D9A7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76024" y="1510166"/>
              <a:ext cx="434511" cy="433533"/>
            </a:xfrm>
            <a:prstGeom prst="rect">
              <a:avLst/>
            </a:prstGeom>
          </p:spPr>
        </p:pic>
        <p:sp>
          <p:nvSpPr>
            <p:cNvPr id="58" name="Rounded Rectangular Callout 57">
              <a:extLst>
                <a:ext uri="{FF2B5EF4-FFF2-40B4-BE49-F238E27FC236}">
                  <a16:creationId xmlns:a16="http://schemas.microsoft.com/office/drawing/2014/main" id="{06C89270-59EE-7677-B293-222E96D6C85F}"/>
                </a:ext>
              </a:extLst>
            </p:cNvPr>
            <p:cNvSpPr/>
            <p:nvPr/>
          </p:nvSpPr>
          <p:spPr>
            <a:xfrm>
              <a:off x="791506" y="1584704"/>
              <a:ext cx="2165715" cy="478412"/>
            </a:xfrm>
            <a:prstGeom prst="wedgeRoundRectCallout">
              <a:avLst>
                <a:gd name="adj1" fmla="val -57536"/>
                <a:gd name="adj2" fmla="val -34044"/>
                <a:gd name="adj3" fmla="val 16667"/>
              </a:avLst>
            </a:prstGeom>
            <a:solidFill>
              <a:srgbClr val="F6E9ED">
                <a:alpha val="74902"/>
              </a:srgbClr>
            </a:solidFill>
            <a:ln w="285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Raleway" pitchFamily="2" charset="77"/>
                  <a:cs typeface="Gill Sans" panose="020B0502020104020203" pitchFamily="34" charset="-79"/>
                </a:rPr>
                <a:t>Invisible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cs typeface="Gill Sans" panose="020B0502020104020203" pitchFamily="34" charset="-79"/>
                </a:rPr>
                <a:t> to Host!</a:t>
              </a:r>
            </a:p>
          </p:txBody>
        </p:sp>
      </p:grpSp>
      <p:sp>
        <p:nvSpPr>
          <p:cNvPr id="2" name="Explosion 1 1">
            <a:extLst>
              <a:ext uri="{FF2B5EF4-FFF2-40B4-BE49-F238E27FC236}">
                <a16:creationId xmlns:a16="http://schemas.microsoft.com/office/drawing/2014/main" id="{908CE549-68EE-AE28-2568-7BA445205980}"/>
              </a:ext>
            </a:extLst>
          </p:cNvPr>
          <p:cNvSpPr/>
          <p:nvPr/>
        </p:nvSpPr>
        <p:spPr>
          <a:xfrm>
            <a:off x="1755044" y="1743560"/>
            <a:ext cx="831020" cy="537365"/>
          </a:xfrm>
          <a:prstGeom prst="irregularSeal1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aleway" pitchFamily="2" charset="77"/>
              </a:rPr>
              <a:t>GC</a:t>
            </a:r>
            <a:endParaRPr b="1" dirty="0">
              <a:latin typeface="Raleway" pitchFamily="2" charset="77"/>
            </a:endParaRPr>
          </a:p>
        </p:txBody>
      </p:sp>
      <p:sp>
        <p:nvSpPr>
          <p:cNvPr id="13" name="Title 4">
            <a:extLst>
              <a:ext uri="{FF2B5EF4-FFF2-40B4-BE49-F238E27FC236}">
                <a16:creationId xmlns:a16="http://schemas.microsoft.com/office/drawing/2014/main" id="{7F6F63EB-3F3C-089B-0F52-04471AA9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07" y="280652"/>
            <a:ext cx="8621875" cy="704644"/>
          </a:xfrm>
        </p:spPr>
        <p:txBody>
          <a:bodyPr anchor="ctr"/>
          <a:lstStyle/>
          <a:p>
            <a:r>
              <a:rPr lang="en-US" sz="2800" dirty="0"/>
              <a:t>SSD is Unpredictable</a:t>
            </a:r>
            <a:endParaRPr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DD53A-09E0-5817-078A-59CD83BEDEB7}"/>
              </a:ext>
            </a:extLst>
          </p:cNvPr>
          <p:cNvSpPr txBox="1"/>
          <p:nvPr/>
        </p:nvSpPr>
        <p:spPr>
          <a:xfrm>
            <a:off x="1675449" y="230316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0097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704"/>
    </mc:Choice>
    <mc:Fallback xmlns="">
      <p:transition spd="slow" advTm="747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8EE51-B132-8008-6D67-B3F70DF9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3B2BA-A0C1-5734-6DC3-D00452BF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C17175A-AF61-6469-24F4-42159BF986AE}"/>
              </a:ext>
            </a:extLst>
          </p:cNvPr>
          <p:cNvGrpSpPr/>
          <p:nvPr/>
        </p:nvGrpSpPr>
        <p:grpSpPr>
          <a:xfrm>
            <a:off x="5570848" y="900134"/>
            <a:ext cx="1538206" cy="1544211"/>
            <a:chOff x="378238" y="1574000"/>
            <a:chExt cx="1538206" cy="1544211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E84F1A0-59A0-CB32-6B3E-BDFC30CAF40B}"/>
                </a:ext>
              </a:extLst>
            </p:cNvPr>
            <p:cNvGrpSpPr/>
            <p:nvPr/>
          </p:nvGrpSpPr>
          <p:grpSpPr>
            <a:xfrm>
              <a:off x="378238" y="1574000"/>
              <a:ext cx="1538206" cy="1544211"/>
              <a:chOff x="209201" y="2581548"/>
              <a:chExt cx="1538206" cy="1544211"/>
            </a:xfrm>
          </p:grpSpPr>
          <p:pic>
            <p:nvPicPr>
              <p:cNvPr id="94" name="Picture 2" descr="NVMe SSD icon PNG and SVG Vector Free Download">
                <a:extLst>
                  <a:ext uri="{FF2B5EF4-FFF2-40B4-BE49-F238E27FC236}">
                    <a16:creationId xmlns:a16="http://schemas.microsoft.com/office/drawing/2014/main" id="{803DFF3E-0E04-A279-E5DD-7EC9447C7B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03F3FE"/>
                  </a:clrFrom>
                  <a:clrTo>
                    <a:srgbClr val="03F3FE">
                      <a:alpha val="0"/>
                    </a:srgbClr>
                  </a:clrTo>
                </a:clrChange>
                <a:duotone>
                  <a:prstClr val="black"/>
                  <a:srgbClr val="35DC11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497366">
                <a:off x="209201" y="2581548"/>
                <a:ext cx="1538206" cy="1544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4E8253E-2A44-7880-ACFF-B5A16A261BDF}"/>
                  </a:ext>
                </a:extLst>
              </p:cNvPr>
              <p:cNvSpPr/>
              <p:nvPr/>
            </p:nvSpPr>
            <p:spPr>
              <a:xfrm>
                <a:off x="315111" y="3112605"/>
                <a:ext cx="1179384" cy="47114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Raleway" pitchFamily="2" charset="77"/>
                </a:endParaRPr>
              </a:p>
            </p:txBody>
          </p:sp>
        </p:grp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500A0FE-CB0F-EA34-8D8A-DF593E10BBCB}"/>
                </a:ext>
              </a:extLst>
            </p:cNvPr>
            <p:cNvSpPr/>
            <p:nvPr/>
          </p:nvSpPr>
          <p:spPr>
            <a:xfrm>
              <a:off x="661472" y="2127741"/>
              <a:ext cx="823498" cy="4257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5CB7E4B-8F44-610F-3D47-0112C0F36196}"/>
                </a:ext>
              </a:extLst>
            </p:cNvPr>
            <p:cNvGrpSpPr/>
            <p:nvPr/>
          </p:nvGrpSpPr>
          <p:grpSpPr>
            <a:xfrm>
              <a:off x="642614" y="2169241"/>
              <a:ext cx="825491" cy="351095"/>
              <a:chOff x="4795926" y="3165053"/>
              <a:chExt cx="825491" cy="351095"/>
            </a:xfrm>
          </p:grpSpPr>
          <p:pic>
            <p:nvPicPr>
              <p:cNvPr id="92" name="Picture 14">
                <a:extLst>
                  <a:ext uri="{FF2B5EF4-FFF2-40B4-BE49-F238E27FC236}">
                    <a16:creationId xmlns:a16="http://schemas.microsoft.com/office/drawing/2014/main" id="{BCC0B86B-BBA3-B9D1-8B66-EF6D3D6512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5926" y="3170447"/>
                <a:ext cx="345701" cy="345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3" name="Picture 14">
                <a:extLst>
                  <a:ext uri="{FF2B5EF4-FFF2-40B4-BE49-F238E27FC236}">
                    <a16:creationId xmlns:a16="http://schemas.microsoft.com/office/drawing/2014/main" id="{333EF483-DB87-8F9E-8AE9-43A9E8DEFC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75716" y="3165053"/>
                <a:ext cx="345701" cy="345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445D33-F914-3590-C435-52DB99FC5B5C}"/>
              </a:ext>
            </a:extLst>
          </p:cNvPr>
          <p:cNvGrpSpPr/>
          <p:nvPr/>
        </p:nvGrpSpPr>
        <p:grpSpPr>
          <a:xfrm>
            <a:off x="7170018" y="996180"/>
            <a:ext cx="1486547" cy="715581"/>
            <a:chOff x="7170018" y="935055"/>
            <a:chExt cx="1486547" cy="71558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907A948-EA6A-46E5-82F1-52CB3A1E8EE2}"/>
                </a:ext>
              </a:extLst>
            </p:cNvPr>
            <p:cNvSpPr/>
            <p:nvPr/>
          </p:nvSpPr>
          <p:spPr>
            <a:xfrm>
              <a:off x="7944972" y="935055"/>
              <a:ext cx="711593" cy="7155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4050" dirty="0">
                  <a:solidFill>
                    <a:srgbClr val="0299FF"/>
                  </a:solidFill>
                  <a:latin typeface="Raleway" pitchFamily="2" charset="77"/>
                  <a:sym typeface="Wingdings" pitchFamily="2" charset="2"/>
                </a:rPr>
                <a:t></a:t>
              </a:r>
              <a:endParaRPr lang="en-US" sz="3000" dirty="0">
                <a:solidFill>
                  <a:srgbClr val="0299FF"/>
                </a:solidFill>
                <a:latin typeface="Raleway" pitchFamily="2" charset="7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FBB4943-3EB3-4783-329B-519EA03E8D0B}"/>
                </a:ext>
              </a:extLst>
            </p:cNvPr>
            <p:cNvSpPr txBox="1"/>
            <p:nvPr/>
          </p:nvSpPr>
          <p:spPr>
            <a:xfrm>
              <a:off x="7170018" y="1025197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0299FF"/>
                  </a:solidFill>
                  <a:latin typeface="Raleway" pitchFamily="2" charset="77"/>
                  <a:cs typeface="Gill Sans" panose="020B0502020104020203" pitchFamily="34" charset="-79"/>
                </a:rPr>
                <a:t>100us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03CBA472-EAFC-2D96-BCF6-FA98A0A6B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6010" y="1292700"/>
              <a:ext cx="751340" cy="349076"/>
            </a:xfrm>
            <a:prstGeom prst="straightConnector1">
              <a:avLst/>
            </a:prstGeom>
            <a:ln w="38100" cmpd="sng">
              <a:solidFill>
                <a:srgbClr val="0299FF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37D50B8-D91D-40C2-FB16-4B97398C55DD}"/>
              </a:ext>
            </a:extLst>
          </p:cNvPr>
          <p:cNvGrpSpPr/>
          <p:nvPr/>
        </p:nvGrpSpPr>
        <p:grpSpPr>
          <a:xfrm>
            <a:off x="565369" y="1396140"/>
            <a:ext cx="3022591" cy="3257414"/>
            <a:chOff x="565369" y="1396140"/>
            <a:chExt cx="3022591" cy="3257414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5B6FC58A-539A-0850-4826-CD466D1C4406}"/>
                </a:ext>
              </a:extLst>
            </p:cNvPr>
            <p:cNvGrpSpPr/>
            <p:nvPr/>
          </p:nvGrpSpPr>
          <p:grpSpPr>
            <a:xfrm>
              <a:off x="2049754" y="1396140"/>
              <a:ext cx="1538206" cy="1544211"/>
              <a:chOff x="378238" y="1574000"/>
              <a:chExt cx="1538206" cy="1544211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9DF32372-D1F2-3D35-0FD5-B16CE75AD75D}"/>
                  </a:ext>
                </a:extLst>
              </p:cNvPr>
              <p:cNvGrpSpPr/>
              <p:nvPr/>
            </p:nvGrpSpPr>
            <p:grpSpPr>
              <a:xfrm>
                <a:off x="378238" y="1574000"/>
                <a:ext cx="1538206" cy="1544211"/>
                <a:chOff x="209201" y="2581548"/>
                <a:chExt cx="1538206" cy="1544211"/>
              </a:xfrm>
            </p:grpSpPr>
            <p:pic>
              <p:nvPicPr>
                <p:cNvPr id="79" name="Picture 2" descr="NVMe SSD icon PNG and SVG Vector Free Download">
                  <a:extLst>
                    <a:ext uri="{FF2B5EF4-FFF2-40B4-BE49-F238E27FC236}">
                      <a16:creationId xmlns:a16="http://schemas.microsoft.com/office/drawing/2014/main" id="{22107FD9-A5D9-1C1E-D31F-14E4E8CCFE1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03F3FE"/>
                    </a:clrFrom>
                    <a:clrTo>
                      <a:srgbClr val="03F3FE">
                        <a:alpha val="0"/>
                      </a:srgbClr>
                    </a:clrTo>
                  </a:clrChange>
                  <a:duotone>
                    <a:prstClr val="black"/>
                    <a:srgbClr val="35DC11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artisticMarker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3497366">
                  <a:off x="209201" y="2581548"/>
                  <a:ext cx="1538206" cy="15442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6A27ADBB-11D5-9EAD-BEC5-DFC9C6DB5F71}"/>
                    </a:ext>
                  </a:extLst>
                </p:cNvPr>
                <p:cNvSpPr/>
                <p:nvPr/>
              </p:nvSpPr>
              <p:spPr>
                <a:xfrm>
                  <a:off x="315111" y="3112605"/>
                  <a:ext cx="1179384" cy="47114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>
                    <a:latin typeface="Raleway" pitchFamily="2" charset="77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CF740EE-B402-E8F6-C6EB-17E975FA910C}"/>
                  </a:ext>
                </a:extLst>
              </p:cNvPr>
              <p:cNvSpPr/>
              <p:nvPr/>
            </p:nvSpPr>
            <p:spPr>
              <a:xfrm>
                <a:off x="661472" y="2127741"/>
                <a:ext cx="823498" cy="42577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Raleway" pitchFamily="2" charset="77"/>
                </a:endParaRP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2CF7BD89-55F3-E0BF-43AA-FD0E6F6EFCA0}"/>
                  </a:ext>
                </a:extLst>
              </p:cNvPr>
              <p:cNvGrpSpPr/>
              <p:nvPr/>
            </p:nvGrpSpPr>
            <p:grpSpPr>
              <a:xfrm>
                <a:off x="642614" y="2169241"/>
                <a:ext cx="825491" cy="351095"/>
                <a:chOff x="4795926" y="3165053"/>
                <a:chExt cx="825491" cy="351095"/>
              </a:xfrm>
            </p:grpSpPr>
            <p:pic>
              <p:nvPicPr>
                <p:cNvPr id="61" name="Picture 14">
                  <a:extLst>
                    <a:ext uri="{FF2B5EF4-FFF2-40B4-BE49-F238E27FC236}">
                      <a16:creationId xmlns:a16="http://schemas.microsoft.com/office/drawing/2014/main" id="{DC0184F5-6E2B-311A-1776-AEAD69C0047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artisticPhotocopy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795926" y="3170447"/>
                  <a:ext cx="345701" cy="3457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5" name="Picture 14">
                  <a:extLst>
                    <a:ext uri="{FF2B5EF4-FFF2-40B4-BE49-F238E27FC236}">
                      <a16:creationId xmlns:a16="http://schemas.microsoft.com/office/drawing/2014/main" id="{9CEE70CD-D7F2-749F-D8F3-7BE2DE0534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7">
                          <a14:imgEffect>
                            <a14:artisticPhotocopy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75716" y="3165053"/>
                  <a:ext cx="345701" cy="3457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70D0DEB-CAEF-E3D2-2115-74BA055331C5}"/>
                </a:ext>
              </a:extLst>
            </p:cNvPr>
            <p:cNvGrpSpPr/>
            <p:nvPr/>
          </p:nvGrpSpPr>
          <p:grpSpPr>
            <a:xfrm>
              <a:off x="565369" y="2195569"/>
              <a:ext cx="3010888" cy="1657362"/>
              <a:chOff x="986336" y="4255272"/>
              <a:chExt cx="3010888" cy="1657362"/>
            </a:xfrm>
          </p:grpSpPr>
          <p:sp>
            <p:nvSpPr>
              <p:cNvPr id="145" name="Triangle 144">
                <a:extLst>
                  <a:ext uri="{FF2B5EF4-FFF2-40B4-BE49-F238E27FC236}">
                    <a16:creationId xmlns:a16="http://schemas.microsoft.com/office/drawing/2014/main" id="{277732F7-DB6A-3D83-2158-F6E90AE764E4}"/>
                  </a:ext>
                </a:extLst>
              </p:cNvPr>
              <p:cNvSpPr/>
              <p:nvPr/>
            </p:nvSpPr>
            <p:spPr>
              <a:xfrm rot="20704861">
                <a:off x="3070574" y="4255272"/>
                <a:ext cx="270646" cy="549714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bg2">
                      <a:lumMod val="25000"/>
                      <a:lumOff val="75000"/>
                    </a:schemeClr>
                  </a:solidFill>
                  <a:latin typeface="Raleway" pitchFamily="2" charset="77"/>
                </a:endParaRPr>
              </a:p>
            </p:txBody>
          </p: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9253D17E-14AB-9FB6-530E-C67D4338E512}"/>
                  </a:ext>
                </a:extLst>
              </p:cNvPr>
              <p:cNvGrpSpPr/>
              <p:nvPr/>
            </p:nvGrpSpPr>
            <p:grpSpPr>
              <a:xfrm>
                <a:off x="986336" y="4745952"/>
                <a:ext cx="3010888" cy="1166682"/>
                <a:chOff x="328638" y="4339516"/>
                <a:chExt cx="3010888" cy="1166682"/>
              </a:xfrm>
            </p:grpSpPr>
            <p:sp>
              <p:nvSpPr>
                <p:cNvPr id="134" name="Rounded Rectangle 133">
                  <a:extLst>
                    <a:ext uri="{FF2B5EF4-FFF2-40B4-BE49-F238E27FC236}">
                      <a16:creationId xmlns:a16="http://schemas.microsoft.com/office/drawing/2014/main" id="{2E812E0F-2C9D-7B85-A780-B82B26AC072D}"/>
                    </a:ext>
                  </a:extLst>
                </p:cNvPr>
                <p:cNvSpPr/>
                <p:nvPr/>
              </p:nvSpPr>
              <p:spPr>
                <a:xfrm>
                  <a:off x="328638" y="4339516"/>
                  <a:ext cx="3010888" cy="1166682"/>
                </a:xfrm>
                <a:prstGeom prst="roundRect">
                  <a:avLst/>
                </a:prstGeom>
                <a:solidFill>
                  <a:schemeClr val="tx1"/>
                </a:solidFill>
                <a:ln w="28575" cmpd="sng"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 i="1" dirty="0">
                    <a:solidFill>
                      <a:schemeClr val="bg2">
                        <a:lumMod val="25000"/>
                        <a:lumOff val="75000"/>
                      </a:schemeClr>
                    </a:solidFill>
                    <a:latin typeface="Raleway" pitchFamily="2" charset="77"/>
                    <a:cs typeface="Gill Sans"/>
                  </a:endParaRPr>
                </a:p>
              </p:txBody>
            </p:sp>
            <p:pic>
              <p:nvPicPr>
                <p:cNvPr id="135" name="Picture 134">
                  <a:extLst>
                    <a:ext uri="{FF2B5EF4-FFF2-40B4-BE49-F238E27FC236}">
                      <a16:creationId xmlns:a16="http://schemas.microsoft.com/office/drawing/2014/main" id="{B805E9AE-44C1-A623-D336-6372FF216D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</a:blip>
                <a:srcRect l="5349"/>
                <a:stretch/>
              </p:blipFill>
              <p:spPr>
                <a:xfrm>
                  <a:off x="431037" y="4459879"/>
                  <a:ext cx="281484" cy="294768"/>
                </a:xfrm>
                <a:prstGeom prst="rect">
                  <a:avLst/>
                </a:prstGeom>
              </p:spPr>
            </p:pic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A3458924-5D9B-DE33-FF90-B867638EC6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</a:blip>
                <a:srcRect l="5349"/>
                <a:stretch/>
              </p:blipFill>
              <p:spPr>
                <a:xfrm>
                  <a:off x="433301" y="4784458"/>
                  <a:ext cx="281484" cy="294768"/>
                </a:xfrm>
                <a:prstGeom prst="rect">
                  <a:avLst/>
                </a:prstGeom>
              </p:spPr>
            </p:pic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4E0EDAB3-7C4E-6423-DE4D-2E62E8FBB075}"/>
                    </a:ext>
                  </a:extLst>
                </p:cNvPr>
                <p:cNvSpPr txBox="1"/>
                <p:nvPr/>
              </p:nvSpPr>
              <p:spPr>
                <a:xfrm>
                  <a:off x="710945" y="4436201"/>
                  <a:ext cx="256512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2">
                          <a:lumMod val="25000"/>
                          <a:lumOff val="75000"/>
                        </a:schemeClr>
                      </a:solidFill>
                      <a:latin typeface="Raleway" pitchFamily="2" charset="77"/>
                    </a:rPr>
                    <a:t>Garbage Collection (GC)</a:t>
                  </a:r>
                  <a:endParaRPr sz="1600" dirty="0">
                    <a:solidFill>
                      <a:schemeClr val="bg2">
                        <a:lumMod val="25000"/>
                        <a:lumOff val="75000"/>
                      </a:schemeClr>
                    </a:solidFill>
                    <a:latin typeface="Raleway" pitchFamily="2" charset="77"/>
                  </a:endParaRP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CD16D8F1-BB26-7AB4-8A86-370DEF593FBB}"/>
                    </a:ext>
                  </a:extLst>
                </p:cNvPr>
                <p:cNvSpPr txBox="1"/>
                <p:nvPr/>
              </p:nvSpPr>
              <p:spPr>
                <a:xfrm>
                  <a:off x="697698" y="4774848"/>
                  <a:ext cx="128753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2">
                          <a:lumMod val="25000"/>
                          <a:lumOff val="75000"/>
                        </a:schemeClr>
                      </a:solidFill>
                      <a:latin typeface="Raleway" pitchFamily="2" charset="77"/>
                    </a:rPr>
                    <a:t>Buffer flush</a:t>
                  </a:r>
                  <a:endParaRPr sz="1600" dirty="0">
                    <a:solidFill>
                      <a:schemeClr val="bg2">
                        <a:lumMod val="25000"/>
                        <a:lumOff val="75000"/>
                      </a:schemeClr>
                    </a:solidFill>
                    <a:latin typeface="Raleway" pitchFamily="2" charset="77"/>
                  </a:endParaRPr>
                </a:p>
              </p:txBody>
            </p:sp>
            <p:pic>
              <p:nvPicPr>
                <p:cNvPr id="141" name="Picture 140">
                  <a:extLst>
                    <a:ext uri="{FF2B5EF4-FFF2-40B4-BE49-F238E27FC236}">
                      <a16:creationId xmlns:a16="http://schemas.microsoft.com/office/drawing/2014/main" id="{301A4BC0-1BC6-447F-655D-D739BD69D7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</a:blip>
                <a:srcRect l="5349"/>
                <a:stretch/>
              </p:blipFill>
              <p:spPr>
                <a:xfrm>
                  <a:off x="425334" y="5131765"/>
                  <a:ext cx="281484" cy="294768"/>
                </a:xfrm>
                <a:prstGeom prst="rect">
                  <a:avLst/>
                </a:prstGeom>
              </p:spPr>
            </p:pic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2F7B6C07-0F3D-C0FD-0E08-1B942D0D8939}"/>
                    </a:ext>
                  </a:extLst>
                </p:cNvPr>
                <p:cNvSpPr txBox="1"/>
                <p:nvPr/>
              </p:nvSpPr>
              <p:spPr>
                <a:xfrm>
                  <a:off x="689731" y="5111995"/>
                  <a:ext cx="198002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solidFill>
                        <a:schemeClr val="bg2">
                          <a:lumMod val="25000"/>
                          <a:lumOff val="75000"/>
                        </a:schemeClr>
                      </a:solidFill>
                      <a:latin typeface="Raleway" pitchFamily="2" charset="77"/>
                    </a:rPr>
                    <a:t>Write amplification</a:t>
                  </a:r>
                  <a:endParaRPr sz="1600" dirty="0">
                    <a:solidFill>
                      <a:schemeClr val="bg2">
                        <a:lumMod val="25000"/>
                        <a:lumOff val="75000"/>
                      </a:schemeClr>
                    </a:solidFill>
                    <a:latin typeface="Raleway" pitchFamily="2" charset="77"/>
                  </a:endParaRPr>
                </a:p>
              </p:txBody>
            </p:sp>
          </p:grpSp>
          <p:sp>
            <p:nvSpPr>
              <p:cNvPr id="144" name="Triangle 143">
                <a:extLst>
                  <a:ext uri="{FF2B5EF4-FFF2-40B4-BE49-F238E27FC236}">
                    <a16:creationId xmlns:a16="http://schemas.microsoft.com/office/drawing/2014/main" id="{2DC00EF0-582F-18D3-8A76-05DAFC71E8A2}"/>
                  </a:ext>
                </a:extLst>
              </p:cNvPr>
              <p:cNvSpPr/>
              <p:nvPr/>
            </p:nvSpPr>
            <p:spPr>
              <a:xfrm rot="21274416">
                <a:off x="3066280" y="4580841"/>
                <a:ext cx="392358" cy="290957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bg2">
                      <a:lumMod val="25000"/>
                      <a:lumOff val="75000"/>
                    </a:schemeClr>
                  </a:solidFill>
                  <a:latin typeface="Raleway" pitchFamily="2" charset="77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B87312A-A27F-10E8-E851-58BAB40445F4}"/>
                </a:ext>
              </a:extLst>
            </p:cNvPr>
            <p:cNvGrpSpPr/>
            <p:nvPr/>
          </p:nvGrpSpPr>
          <p:grpSpPr>
            <a:xfrm>
              <a:off x="610512" y="4100604"/>
              <a:ext cx="2781197" cy="552950"/>
              <a:chOff x="176024" y="1510166"/>
              <a:chExt cx="2781197" cy="552950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7E4C4FDF-1896-62AB-117D-2DCCB5F74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76024" y="1510166"/>
                <a:ext cx="434511" cy="433533"/>
              </a:xfrm>
              <a:prstGeom prst="rect">
                <a:avLst/>
              </a:prstGeom>
            </p:spPr>
          </p:pic>
          <p:sp>
            <p:nvSpPr>
              <p:cNvPr id="58" name="Rounded Rectangular Callout 57">
                <a:extLst>
                  <a:ext uri="{FF2B5EF4-FFF2-40B4-BE49-F238E27FC236}">
                    <a16:creationId xmlns:a16="http://schemas.microsoft.com/office/drawing/2014/main" id="{AB9E2660-9231-D6D4-2368-E3D15CD77DD2}"/>
                  </a:ext>
                </a:extLst>
              </p:cNvPr>
              <p:cNvSpPr/>
              <p:nvPr/>
            </p:nvSpPr>
            <p:spPr>
              <a:xfrm>
                <a:off x="791506" y="1584704"/>
                <a:ext cx="2165715" cy="478412"/>
              </a:xfrm>
              <a:prstGeom prst="wedgeRoundRectCallout">
                <a:avLst>
                  <a:gd name="adj1" fmla="val -57536"/>
                  <a:gd name="adj2" fmla="val -34044"/>
                  <a:gd name="adj3" fmla="val 16667"/>
                </a:avLst>
              </a:prstGeom>
              <a:solidFill>
                <a:schemeClr val="tx1">
                  <a:alpha val="74902"/>
                </a:schemeClr>
              </a:solidFill>
              <a:ln w="28575">
                <a:solidFill>
                  <a:schemeClr val="bg2">
                    <a:lumMod val="25000"/>
                    <a:lumOff val="7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chemeClr val="bg2">
                        <a:lumMod val="25000"/>
                        <a:lumOff val="75000"/>
                      </a:schemeClr>
                    </a:solidFill>
                    <a:latin typeface="Raleway" pitchFamily="2" charset="77"/>
                    <a:cs typeface="Gill Sans" panose="020B0502020104020203" pitchFamily="34" charset="-79"/>
                  </a:rPr>
                  <a:t>Invisible</a:t>
                </a:r>
                <a:r>
                  <a:rPr lang="en-US" sz="1600" dirty="0">
                    <a:solidFill>
                      <a:schemeClr val="bg2">
                        <a:lumMod val="25000"/>
                        <a:lumOff val="75000"/>
                      </a:schemeClr>
                    </a:solidFill>
                    <a:latin typeface="Raleway" pitchFamily="2" charset="77"/>
                    <a:cs typeface="Gill Sans" panose="020B0502020104020203" pitchFamily="34" charset="-79"/>
                  </a:rPr>
                  <a:t> to Host!</a:t>
                </a:r>
              </a:p>
            </p:txBody>
          </p:sp>
        </p:grpSp>
        <p:sp>
          <p:nvSpPr>
            <p:cNvPr id="2" name="Explosion 1 1">
              <a:extLst>
                <a:ext uri="{FF2B5EF4-FFF2-40B4-BE49-F238E27FC236}">
                  <a16:creationId xmlns:a16="http://schemas.microsoft.com/office/drawing/2014/main" id="{3F11A074-3784-9F8F-3085-B1B15AE33916}"/>
                </a:ext>
              </a:extLst>
            </p:cNvPr>
            <p:cNvSpPr/>
            <p:nvPr/>
          </p:nvSpPr>
          <p:spPr>
            <a:xfrm>
              <a:off x="1755044" y="1743560"/>
              <a:ext cx="831020" cy="537365"/>
            </a:xfrm>
            <a:prstGeom prst="irregularSeal1">
              <a:avLst/>
            </a:prstGeom>
            <a:solidFill>
              <a:schemeClr val="bg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Raleway" pitchFamily="2" charset="77"/>
                </a:rPr>
                <a:t>GC</a:t>
              </a:r>
              <a:endParaRPr b="1" dirty="0">
                <a:latin typeface="Raleway" pitchFamily="2" charset="77"/>
              </a:endParaRPr>
            </a:p>
          </p:txBody>
        </p:sp>
      </p:grpSp>
      <p:sp>
        <p:nvSpPr>
          <p:cNvPr id="13" name="Title 4">
            <a:extLst>
              <a:ext uri="{FF2B5EF4-FFF2-40B4-BE49-F238E27FC236}">
                <a16:creationId xmlns:a16="http://schemas.microsoft.com/office/drawing/2014/main" id="{FB9F2FCD-6FB0-BCEC-D874-C910FE95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07" y="280652"/>
            <a:ext cx="8621875" cy="704644"/>
          </a:xfrm>
        </p:spPr>
        <p:txBody>
          <a:bodyPr anchor="ctr"/>
          <a:lstStyle/>
          <a:p>
            <a:r>
              <a:rPr lang="en-US" sz="2800" dirty="0"/>
              <a:t>SSD is Unpredictable</a:t>
            </a:r>
            <a:endParaRPr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B9641-9B56-AC1F-C484-48C8525952BA}"/>
              </a:ext>
            </a:extLst>
          </p:cNvPr>
          <p:cNvSpPr txBox="1"/>
          <p:nvPr/>
        </p:nvSpPr>
        <p:spPr>
          <a:xfrm>
            <a:off x="1675449" y="230316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1B8B17-A003-7194-3296-91F21D2EA639}"/>
              </a:ext>
            </a:extLst>
          </p:cNvPr>
          <p:cNvGrpSpPr/>
          <p:nvPr/>
        </p:nvGrpSpPr>
        <p:grpSpPr>
          <a:xfrm>
            <a:off x="4189394" y="1353825"/>
            <a:ext cx="1400577" cy="639588"/>
            <a:chOff x="4189394" y="1292700"/>
            <a:chExt cx="1400577" cy="6395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04CB15A-85A2-42C5-EC9D-461E0DF74E5E}"/>
                </a:ext>
              </a:extLst>
            </p:cNvPr>
            <p:cNvGrpSpPr/>
            <p:nvPr/>
          </p:nvGrpSpPr>
          <p:grpSpPr>
            <a:xfrm>
              <a:off x="4189394" y="1292700"/>
              <a:ext cx="639588" cy="639588"/>
              <a:chOff x="4506694" y="1661841"/>
              <a:chExt cx="639588" cy="639588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F17E5A4-5141-86E6-DB6C-55774848DFA4}"/>
                  </a:ext>
                </a:extLst>
              </p:cNvPr>
              <p:cNvSpPr/>
              <p:nvPr/>
            </p:nvSpPr>
            <p:spPr>
              <a:xfrm>
                <a:off x="4506694" y="1661841"/>
                <a:ext cx="639588" cy="639588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  <a:latin typeface="Raleway" pitchFamily="2" charset="77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6C32860-FB88-1E1D-B89D-9DE12AA98770}"/>
                  </a:ext>
                </a:extLst>
              </p:cNvPr>
              <p:cNvSpPr txBox="1"/>
              <p:nvPr/>
            </p:nvSpPr>
            <p:spPr>
              <a:xfrm>
                <a:off x="4549344" y="1814360"/>
                <a:ext cx="54213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bg1"/>
                    </a:solidFill>
                    <a:latin typeface="Raleway" pitchFamily="2" charset="77"/>
                  </a:rPr>
                  <a:t>I/O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C1C6493-FA54-DD57-B775-3CD3377B414F}"/>
                </a:ext>
              </a:extLst>
            </p:cNvPr>
            <p:cNvCxnSpPr>
              <a:cxnSpLocks/>
            </p:cNvCxnSpPr>
            <p:nvPr/>
          </p:nvCxnSpPr>
          <p:spPr>
            <a:xfrm>
              <a:off x="4838631" y="1617195"/>
              <a:ext cx="751340" cy="0"/>
            </a:xfrm>
            <a:prstGeom prst="straightConnector1">
              <a:avLst/>
            </a:prstGeom>
            <a:ln w="38100" cmpd="sng">
              <a:solidFill>
                <a:srgbClr val="FFC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39608D-1A0D-7757-1F54-2D7F39D55FB5}"/>
              </a:ext>
            </a:extLst>
          </p:cNvPr>
          <p:cNvGrpSpPr/>
          <p:nvPr/>
        </p:nvGrpSpPr>
        <p:grpSpPr>
          <a:xfrm>
            <a:off x="7164514" y="1708746"/>
            <a:ext cx="1379334" cy="568204"/>
            <a:chOff x="7164514" y="1647621"/>
            <a:chExt cx="1379334" cy="568204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660F8263-F885-646A-9743-BA1EE4ACE30F}"/>
                </a:ext>
              </a:extLst>
            </p:cNvPr>
            <p:cNvCxnSpPr>
              <a:cxnSpLocks/>
            </p:cNvCxnSpPr>
            <p:nvPr/>
          </p:nvCxnSpPr>
          <p:spPr>
            <a:xfrm>
              <a:off x="7212669" y="1647621"/>
              <a:ext cx="774681" cy="301956"/>
            </a:xfrm>
            <a:prstGeom prst="straightConnector1">
              <a:avLst/>
            </a:prstGeom>
            <a:ln w="38100" cmpd="sng">
              <a:solidFill>
                <a:srgbClr val="FF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000FB19-F062-FA89-9C77-169B374F7F1A}"/>
                </a:ext>
              </a:extLst>
            </p:cNvPr>
            <p:cNvSpPr txBox="1"/>
            <p:nvPr/>
          </p:nvSpPr>
          <p:spPr>
            <a:xfrm>
              <a:off x="7164514" y="1864556"/>
              <a:ext cx="686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rgbClr val="FF0000"/>
                  </a:solidFill>
                  <a:latin typeface="Raleway" pitchFamily="2" charset="77"/>
                  <a:cs typeface="Gill Sans" panose="020B0502020104020203" pitchFamily="34" charset="-79"/>
                </a:rPr>
                <a:t>10ms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623FB934-C0A1-3121-C9E5-FA1C37D5C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011351" y="1683328"/>
              <a:ext cx="532497" cy="53249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Rounded Rectangular Callout 149">
            <a:extLst>
              <a:ext uri="{FF2B5EF4-FFF2-40B4-BE49-F238E27FC236}">
                <a16:creationId xmlns:a16="http://schemas.microsoft.com/office/drawing/2014/main" id="{BDC04264-33D5-604E-6DF4-D6B5A31DD7AB}"/>
              </a:ext>
            </a:extLst>
          </p:cNvPr>
          <p:cNvSpPr/>
          <p:nvPr/>
        </p:nvSpPr>
        <p:spPr>
          <a:xfrm>
            <a:off x="6824472" y="2470717"/>
            <a:ext cx="1995958" cy="405940"/>
          </a:xfrm>
          <a:prstGeom prst="wedgeRoundRectCallout">
            <a:avLst>
              <a:gd name="adj1" fmla="val -16605"/>
              <a:gd name="adj2" fmla="val -102909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Raleway" pitchFamily="2" charset="77"/>
                <a:cs typeface="Gill Sans" panose="020B0502020104020203" pitchFamily="34" charset="-79"/>
              </a:rPr>
              <a:t>slower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 due to </a:t>
            </a:r>
            <a:r>
              <a:rPr lang="en-US" sz="1600" dirty="0">
                <a:solidFill>
                  <a:srgbClr val="FF0000"/>
                </a:solidFill>
                <a:latin typeface="Raleway" pitchFamily="2" charset="77"/>
                <a:cs typeface="Gill Sans" panose="020B0502020104020203" pitchFamily="34" charset="-79"/>
              </a:rPr>
              <a:t>GC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12AF9E-E6B2-7E87-E3EF-419DC52C9B56}"/>
              </a:ext>
            </a:extLst>
          </p:cNvPr>
          <p:cNvCxnSpPr>
            <a:cxnSpLocks/>
          </p:cNvCxnSpPr>
          <p:nvPr/>
        </p:nvCxnSpPr>
        <p:spPr>
          <a:xfrm flipH="1">
            <a:off x="3907570" y="970575"/>
            <a:ext cx="21196" cy="4970182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68C259-F791-654D-2FA5-D8165C1AB8C6}"/>
              </a:ext>
            </a:extLst>
          </p:cNvPr>
          <p:cNvSpPr txBox="1"/>
          <p:nvPr/>
        </p:nvSpPr>
        <p:spPr>
          <a:xfrm>
            <a:off x="5494221" y="2951682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b="1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SSDs Read Latency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8A1838-7EE1-F805-06EC-7533B3237C76}"/>
              </a:ext>
            </a:extLst>
          </p:cNvPr>
          <p:cNvGrpSpPr/>
          <p:nvPr/>
        </p:nvGrpSpPr>
        <p:grpSpPr>
          <a:xfrm>
            <a:off x="4442822" y="3242253"/>
            <a:ext cx="3686702" cy="2340551"/>
            <a:chOff x="4442822" y="3210723"/>
            <a:chExt cx="3686702" cy="234055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BBC0D4-BE07-ACA1-88B9-6E6FCC98A2C2}"/>
                </a:ext>
              </a:extLst>
            </p:cNvPr>
            <p:cNvSpPr/>
            <p:nvPr/>
          </p:nvSpPr>
          <p:spPr>
            <a:xfrm>
              <a:off x="5201165" y="3312777"/>
              <a:ext cx="2732546" cy="170366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33113C3-3DAD-87F3-26D0-68439FE62634}"/>
                </a:ext>
              </a:extLst>
            </p:cNvPr>
            <p:cNvSpPr/>
            <p:nvPr/>
          </p:nvSpPr>
          <p:spPr>
            <a:xfrm>
              <a:off x="5251472" y="3362764"/>
              <a:ext cx="2677692" cy="1638969"/>
            </a:xfrm>
            <a:custGeom>
              <a:avLst/>
              <a:gdLst>
                <a:gd name="connsiteX0" fmla="*/ 0 w 3607496"/>
                <a:gd name="connsiteY0" fmla="*/ 2893512 h 2893512"/>
                <a:gd name="connsiteX1" fmla="*/ 350729 w 3607496"/>
                <a:gd name="connsiteY1" fmla="*/ 977030 h 2893512"/>
                <a:gd name="connsiteX2" fmla="*/ 1202498 w 3607496"/>
                <a:gd name="connsiteY2" fmla="*/ 225468 h 2893512"/>
                <a:gd name="connsiteX3" fmla="*/ 3607496 w 3607496"/>
                <a:gd name="connsiteY3" fmla="*/ 0 h 2893512"/>
                <a:gd name="connsiteX4" fmla="*/ 3607496 w 3607496"/>
                <a:gd name="connsiteY4" fmla="*/ 0 h 2893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7496" h="2893512">
                  <a:moveTo>
                    <a:pt x="0" y="2893512"/>
                  </a:moveTo>
                  <a:cubicBezTo>
                    <a:pt x="75156" y="2157608"/>
                    <a:pt x="150313" y="1421704"/>
                    <a:pt x="350729" y="977030"/>
                  </a:cubicBezTo>
                  <a:cubicBezTo>
                    <a:pt x="551145" y="532356"/>
                    <a:pt x="659704" y="388306"/>
                    <a:pt x="1202498" y="225468"/>
                  </a:cubicBezTo>
                  <a:cubicBezTo>
                    <a:pt x="1745292" y="62630"/>
                    <a:pt x="3607496" y="0"/>
                    <a:pt x="3607496" y="0"/>
                  </a:cubicBezTo>
                  <a:lnTo>
                    <a:pt x="3607496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Raleway" pitchFamily="2" charset="7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5A3A9FE-52AB-A36F-A6B4-9838D7B4FA89}"/>
                </a:ext>
              </a:extLst>
            </p:cNvPr>
            <p:cNvSpPr txBox="1"/>
            <p:nvPr/>
          </p:nvSpPr>
          <p:spPr>
            <a:xfrm>
              <a:off x="5716982" y="5212720"/>
              <a:ext cx="13997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cs typeface="Gill Sans" panose="020B0502020104020203" pitchFamily="34" charset="-79"/>
                </a:rPr>
                <a:t>Latency (ms)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63AD025-8A4B-B7B0-6B17-1E0BA27AF88F}"/>
                </a:ext>
              </a:extLst>
            </p:cNvPr>
            <p:cNvSpPr txBox="1"/>
            <p:nvPr/>
          </p:nvSpPr>
          <p:spPr>
            <a:xfrm>
              <a:off x="5041819" y="4998940"/>
              <a:ext cx="3087705" cy="300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Raleway" pitchFamily="2" charset="77"/>
                  <a:cs typeface="Gill Sans"/>
                </a:rPr>
                <a:t>0         5         10        15        20       25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3BEB38-367C-DFC9-9254-5273DE951C71}"/>
                </a:ext>
              </a:extLst>
            </p:cNvPr>
            <p:cNvSpPr txBox="1"/>
            <p:nvPr/>
          </p:nvSpPr>
          <p:spPr>
            <a:xfrm>
              <a:off x="4735183" y="3210723"/>
              <a:ext cx="502061" cy="17543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latin typeface="Raleway" pitchFamily="2" charset="77"/>
                <a:cs typeface="Gill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Raleway" pitchFamily="2" charset="77"/>
                  <a:cs typeface="Gill Sans"/>
                </a:rPr>
                <a:t>p80</a:t>
              </a:r>
            </a:p>
            <a:p>
              <a:endParaRPr lang="en-US" dirty="0">
                <a:solidFill>
                  <a:schemeClr val="bg1"/>
                </a:solidFill>
                <a:latin typeface="Raleway" pitchFamily="2" charset="77"/>
                <a:cs typeface="Gill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Raleway" pitchFamily="2" charset="77"/>
                  <a:cs typeface="Gill Sans"/>
                </a:rPr>
                <a:t>p60</a:t>
              </a:r>
            </a:p>
            <a:p>
              <a:endParaRPr lang="en-US" dirty="0">
                <a:solidFill>
                  <a:schemeClr val="bg1"/>
                </a:solidFill>
                <a:latin typeface="Raleway" pitchFamily="2" charset="77"/>
                <a:cs typeface="Gill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Raleway" pitchFamily="2" charset="77"/>
                  <a:cs typeface="Gill Sans"/>
                </a:rPr>
                <a:t>p40</a:t>
              </a:r>
            </a:p>
            <a:p>
              <a:endParaRPr lang="en-US" dirty="0">
                <a:solidFill>
                  <a:schemeClr val="bg1"/>
                </a:solidFill>
                <a:latin typeface="Raleway" pitchFamily="2" charset="77"/>
                <a:cs typeface="Gill Sans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Raleway" pitchFamily="2" charset="77"/>
                  <a:cs typeface="Gill Sans"/>
                </a:rPr>
                <a:t>p20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FE56852-2D18-509D-383C-747ECB864F45}"/>
                </a:ext>
              </a:extLst>
            </p:cNvPr>
            <p:cNvGrpSpPr/>
            <p:nvPr/>
          </p:nvGrpSpPr>
          <p:grpSpPr>
            <a:xfrm>
              <a:off x="5468558" y="4006591"/>
              <a:ext cx="798617" cy="338555"/>
              <a:chOff x="4189913" y="4875477"/>
              <a:chExt cx="1064823" cy="466032"/>
            </a:xfrm>
          </p:grpSpPr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CF5B10F5-A082-7A7F-070A-26322A47EE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10677" y="4881587"/>
                <a:ext cx="798555" cy="0"/>
              </a:xfrm>
              <a:prstGeom prst="straightConnector1">
                <a:avLst/>
              </a:prstGeom>
              <a:ln w="31750">
                <a:solidFill>
                  <a:srgbClr val="0299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575E983-2551-7AB1-46A3-B87931BC8B89}"/>
                  </a:ext>
                </a:extLst>
              </p:cNvPr>
              <p:cNvSpPr txBox="1"/>
              <p:nvPr/>
            </p:nvSpPr>
            <p:spPr>
              <a:xfrm>
                <a:off x="4189913" y="4875477"/>
                <a:ext cx="1064823" cy="46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299FF"/>
                    </a:solidFill>
                    <a:latin typeface="Raleway" pitchFamily="2" charset="77"/>
                    <a:cs typeface="Gill Sans"/>
                  </a:rPr>
                  <a:t>better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A0914D5-B456-2019-E145-BB0FB5612E91}"/>
                </a:ext>
              </a:extLst>
            </p:cNvPr>
            <p:cNvGrpSpPr/>
            <p:nvPr/>
          </p:nvGrpSpPr>
          <p:grpSpPr>
            <a:xfrm>
              <a:off x="6294605" y="4007215"/>
              <a:ext cx="797984" cy="338586"/>
              <a:chOff x="3983031" y="4881582"/>
              <a:chExt cx="1063977" cy="466076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274847B-EB69-DA64-11BD-F51C5AA8FF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95650" y="4881582"/>
                <a:ext cx="1051358" cy="0"/>
              </a:xfrm>
              <a:prstGeom prst="straightConnector1">
                <a:avLst/>
              </a:prstGeom>
              <a:ln w="317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2C30D3-4CC8-D3A2-DD39-2416BD499F78}"/>
                  </a:ext>
                </a:extLst>
              </p:cNvPr>
              <p:cNvSpPr txBox="1"/>
              <p:nvPr/>
            </p:nvSpPr>
            <p:spPr>
              <a:xfrm>
                <a:off x="3983031" y="4881626"/>
                <a:ext cx="1047723" cy="4660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rgbClr val="FF0000"/>
                    </a:solidFill>
                    <a:latin typeface="Raleway" pitchFamily="2" charset="77"/>
                    <a:cs typeface="Gill Sans"/>
                  </a:rPr>
                  <a:t>worse</a:t>
                </a:r>
              </a:p>
            </p:txBody>
          </p:sp>
        </p:grp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A10C349-E6DF-77BE-7CAC-70B51D7E543D}"/>
                </a:ext>
              </a:extLst>
            </p:cNvPr>
            <p:cNvCxnSpPr>
              <a:cxnSpLocks/>
            </p:cNvCxnSpPr>
            <p:nvPr/>
          </p:nvCxnSpPr>
          <p:spPr>
            <a:xfrm>
              <a:off x="6227644" y="3455666"/>
              <a:ext cx="0" cy="1592602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  <a:lumOff val="75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D0D2056-0A13-29E4-D8BB-A2CE320D9565}"/>
                </a:ext>
              </a:extLst>
            </p:cNvPr>
            <p:cNvSpPr txBox="1"/>
            <p:nvPr/>
          </p:nvSpPr>
          <p:spPr>
            <a:xfrm rot="16200000">
              <a:off x="4315383" y="3984024"/>
              <a:ext cx="593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cs typeface="Gill Sans" panose="020B0502020104020203" pitchFamily="34" charset="-79"/>
                </a:rPr>
                <a:t>CDF</a:t>
              </a:r>
            </a:p>
          </p:txBody>
        </p:sp>
      </p:grp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14A7CF7D-385C-0D88-CB30-4E5446815AB8}"/>
              </a:ext>
            </a:extLst>
          </p:cNvPr>
          <p:cNvSpPr/>
          <p:nvPr/>
        </p:nvSpPr>
        <p:spPr>
          <a:xfrm>
            <a:off x="7126930" y="3528983"/>
            <a:ext cx="1168782" cy="408229"/>
          </a:xfrm>
          <a:prstGeom prst="wedgeRoundRectCallout">
            <a:avLst>
              <a:gd name="adj1" fmla="val -70272"/>
              <a:gd name="adj2" fmla="val -58491"/>
              <a:gd name="adj3" fmla="val 16667"/>
            </a:avLst>
          </a:prstGeom>
          <a:solidFill>
            <a:srgbClr val="F6E9ED"/>
          </a:solidFill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Raleway" pitchFamily="2" charset="77"/>
                <a:cs typeface="Gill Sans" panose="020B0502020104020203" pitchFamily="34" charset="-79"/>
              </a:rPr>
              <a:t>Long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 tails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66B0C7F7-EDD4-6011-B4D7-D26DDE0D7B23}"/>
              </a:ext>
            </a:extLst>
          </p:cNvPr>
          <p:cNvSpPr/>
          <p:nvPr/>
        </p:nvSpPr>
        <p:spPr>
          <a:xfrm>
            <a:off x="5241034" y="3385584"/>
            <a:ext cx="972382" cy="1662293"/>
          </a:xfrm>
          <a:custGeom>
            <a:avLst/>
            <a:gdLst>
              <a:gd name="connsiteX0" fmla="*/ 0 w 3607496"/>
              <a:gd name="connsiteY0" fmla="*/ 2893512 h 2893512"/>
              <a:gd name="connsiteX1" fmla="*/ 350729 w 3607496"/>
              <a:gd name="connsiteY1" fmla="*/ 977030 h 2893512"/>
              <a:gd name="connsiteX2" fmla="*/ 1202498 w 3607496"/>
              <a:gd name="connsiteY2" fmla="*/ 225468 h 2893512"/>
              <a:gd name="connsiteX3" fmla="*/ 3607496 w 3607496"/>
              <a:gd name="connsiteY3" fmla="*/ 0 h 2893512"/>
              <a:gd name="connsiteX4" fmla="*/ 3607496 w 3607496"/>
              <a:gd name="connsiteY4" fmla="*/ 0 h 289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07496" h="2893512">
                <a:moveTo>
                  <a:pt x="0" y="2893512"/>
                </a:moveTo>
                <a:cubicBezTo>
                  <a:pt x="75156" y="2157608"/>
                  <a:pt x="150313" y="1421704"/>
                  <a:pt x="350729" y="977030"/>
                </a:cubicBezTo>
                <a:cubicBezTo>
                  <a:pt x="551145" y="532356"/>
                  <a:pt x="659704" y="388306"/>
                  <a:pt x="1202498" y="225468"/>
                </a:cubicBezTo>
                <a:cubicBezTo>
                  <a:pt x="1745292" y="62630"/>
                  <a:pt x="3607496" y="0"/>
                  <a:pt x="3607496" y="0"/>
                </a:cubicBezTo>
                <a:lnTo>
                  <a:pt x="3607496" y="0"/>
                </a:ln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96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704"/>
    </mc:Choice>
    <mc:Fallback xmlns="">
      <p:transition spd="slow" advTm="747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5" grpId="0"/>
      <p:bldP spid="32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F47D-14BE-45BE-97CE-84735C404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168E2-161C-6329-D158-CBA024A7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2" name="Title 4">
            <a:extLst>
              <a:ext uri="{FF2B5EF4-FFF2-40B4-BE49-F238E27FC236}">
                <a16:creationId xmlns:a16="http://schemas.microsoft.com/office/drawing/2014/main" id="{EFF74977-7E43-F646-9048-190EC73A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07" y="280652"/>
            <a:ext cx="8621875" cy="704644"/>
          </a:xfrm>
        </p:spPr>
        <p:txBody>
          <a:bodyPr anchor="ctr"/>
          <a:lstStyle/>
          <a:p>
            <a:r>
              <a:rPr lang="en-US" sz="2800" dirty="0"/>
              <a:t>Heimdall: ML-for-I/O admission controller</a:t>
            </a:r>
            <a:endParaRPr sz="2800" dirty="0"/>
          </a:p>
        </p:txBody>
      </p:sp>
      <p:pic>
        <p:nvPicPr>
          <p:cNvPr id="1026" name="Picture 2" descr="Disneyland Park | Disneyland Resort">
            <a:extLst>
              <a:ext uri="{FF2B5EF4-FFF2-40B4-BE49-F238E27FC236}">
                <a16:creationId xmlns:a16="http://schemas.microsoft.com/office/drawing/2014/main" id="{0A5E3970-6815-950F-9D54-F12A025F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342" y="1221091"/>
            <a:ext cx="6893315" cy="3875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406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BEAB9-07E1-96F9-1E34-1F0131D4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04F3B-C394-8D64-F2A1-200507CB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7FCFE1D-5485-011C-34B7-B0EECA621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75" y="3830958"/>
            <a:ext cx="409392" cy="607977"/>
          </a:xfrm>
          <a:prstGeom prst="rect">
            <a:avLst/>
          </a:prstGeom>
        </p:spPr>
      </p:pic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F596D7B6-4F6A-3599-9141-7318B7FCD32B}"/>
              </a:ext>
            </a:extLst>
          </p:cNvPr>
          <p:cNvCxnSpPr>
            <a:cxnSpLocks/>
          </p:cNvCxnSpPr>
          <p:nvPr/>
        </p:nvCxnSpPr>
        <p:spPr>
          <a:xfrm>
            <a:off x="958203" y="4363278"/>
            <a:ext cx="1301261" cy="761455"/>
          </a:xfrm>
          <a:prstGeom prst="curvedConnector3">
            <a:avLst>
              <a:gd name="adj1" fmla="val 50000"/>
            </a:avLst>
          </a:prstGeom>
          <a:ln w="25400">
            <a:solidFill>
              <a:schemeClr val="bg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C2E6D51D-2DB3-7695-F02F-A3E9ACA8A7EE}"/>
              </a:ext>
            </a:extLst>
          </p:cNvPr>
          <p:cNvCxnSpPr>
            <a:cxnSpLocks/>
          </p:cNvCxnSpPr>
          <p:nvPr/>
        </p:nvCxnSpPr>
        <p:spPr>
          <a:xfrm flipV="1">
            <a:off x="958203" y="3099629"/>
            <a:ext cx="1332459" cy="731329"/>
          </a:xfrm>
          <a:prstGeom prst="curvedConnector3">
            <a:avLst>
              <a:gd name="adj1" fmla="val 50000"/>
            </a:avLst>
          </a:prstGeom>
          <a:ln w="25400">
            <a:solidFill>
              <a:schemeClr val="bg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itle 4">
            <a:extLst>
              <a:ext uri="{FF2B5EF4-FFF2-40B4-BE49-F238E27FC236}">
                <a16:creationId xmlns:a16="http://schemas.microsoft.com/office/drawing/2014/main" id="{D8AEFAE1-BE98-D219-A7A6-25C5EA42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07" y="280652"/>
            <a:ext cx="8621875" cy="704644"/>
          </a:xfrm>
        </p:spPr>
        <p:txBody>
          <a:bodyPr anchor="ctr"/>
          <a:lstStyle/>
          <a:p>
            <a:r>
              <a:rPr lang="en-US" sz="2800" dirty="0"/>
              <a:t>Heimdall: ML-for-I/O admission controller</a:t>
            </a:r>
            <a:endParaRPr sz="28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54A6E9-CEA8-0C7A-A03C-AB8AB0323979}"/>
              </a:ext>
            </a:extLst>
          </p:cNvPr>
          <p:cNvGrpSpPr/>
          <p:nvPr/>
        </p:nvGrpSpPr>
        <p:grpSpPr>
          <a:xfrm>
            <a:off x="8120631" y="2872654"/>
            <a:ext cx="559772" cy="2382941"/>
            <a:chOff x="5945263" y="2237896"/>
            <a:chExt cx="559772" cy="2382941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FCDB6F6-0A3B-0C0F-C209-A404B1521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5264" y="2237896"/>
              <a:ext cx="559771" cy="690032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E290D077-21FC-7AD1-3AEE-6B292CA7A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5263" y="3930805"/>
              <a:ext cx="559771" cy="690032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CD446FF-AAED-A666-70FB-F11952B24805}"/>
                </a:ext>
              </a:extLst>
            </p:cNvPr>
            <p:cNvSpPr txBox="1"/>
            <p:nvPr/>
          </p:nvSpPr>
          <p:spPr>
            <a:xfrm>
              <a:off x="6088967" y="2883710"/>
              <a:ext cx="3241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i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...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8133322-49CE-C8F8-26F7-A35604209F8F}"/>
              </a:ext>
            </a:extLst>
          </p:cNvPr>
          <p:cNvCxnSpPr>
            <a:cxnSpLocks/>
          </p:cNvCxnSpPr>
          <p:nvPr/>
        </p:nvCxnSpPr>
        <p:spPr>
          <a:xfrm flipH="1">
            <a:off x="5695431" y="3729913"/>
            <a:ext cx="1800241" cy="340741"/>
          </a:xfrm>
          <a:prstGeom prst="straightConnector1">
            <a:avLst/>
          </a:prstGeom>
          <a:ln w="25400">
            <a:solidFill>
              <a:srgbClr val="FF0000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4AAD7FA-E785-AB57-5E03-27A75F4AC4B9}"/>
              </a:ext>
            </a:extLst>
          </p:cNvPr>
          <p:cNvSpPr txBox="1"/>
          <p:nvPr/>
        </p:nvSpPr>
        <p:spPr>
          <a:xfrm rot="21017830">
            <a:off x="5657654" y="3964983"/>
            <a:ext cx="15424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Gill Sans" charset="0"/>
              </a:rPr>
              <a:t>Slow</a:t>
            </a:r>
            <a:r>
              <a:rPr lang="en-US" sz="1200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Gill Sans" charset="0"/>
              </a:rPr>
              <a:t> </a:t>
            </a:r>
            <a:r>
              <a:rPr lang="en-US" sz="1200" b="1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Gill Sans" charset="0"/>
              </a:rPr>
              <a:t>I/O? </a:t>
            </a:r>
            <a:r>
              <a:rPr lang="en-US" sz="1200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Gill Sans" charset="0"/>
              </a:rPr>
              <a:t>Revoke!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C41E26-D5F7-DFB5-79EF-64156183A48D}"/>
              </a:ext>
            </a:extLst>
          </p:cNvPr>
          <p:cNvSpPr txBox="1"/>
          <p:nvPr/>
        </p:nvSpPr>
        <p:spPr>
          <a:xfrm rot="21447346">
            <a:off x="5658998" y="4396403"/>
            <a:ext cx="1236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I/O</a:t>
            </a:r>
            <a:r>
              <a:rPr lang="en-US" sz="1400" dirty="0">
                <a:solidFill>
                  <a:srgbClr val="0099FF"/>
                </a:solidFill>
                <a:latin typeface="Raleway" pitchFamily="2" charset="77"/>
                <a:ea typeface="Gill Sans" charset="0"/>
                <a:cs typeface="Gill Sans" charset="0"/>
              </a:rPr>
              <a:t> </a:t>
            </a:r>
            <a:r>
              <a:rPr lang="en-US" sz="1400" b="1" dirty="0">
                <a:solidFill>
                  <a:srgbClr val="0099FF"/>
                </a:solidFill>
                <a:latin typeface="Raleway" pitchFamily="2" charset="77"/>
                <a:ea typeface="Gill Sans" charset="0"/>
                <a:cs typeface="Gill Sans" charset="0"/>
              </a:rPr>
              <a:t>re-route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23B1B23-AA7C-0714-359B-8E1694BDA2CA}"/>
              </a:ext>
            </a:extLst>
          </p:cNvPr>
          <p:cNvGrpSpPr/>
          <p:nvPr/>
        </p:nvGrpSpPr>
        <p:grpSpPr>
          <a:xfrm>
            <a:off x="4829943" y="3534670"/>
            <a:ext cx="577402" cy="967213"/>
            <a:chOff x="4760854" y="3260586"/>
            <a:chExt cx="577402" cy="967213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DDD8644-DEB3-F8B9-79AF-84F1B0C2E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43297" y="3619822"/>
              <a:ext cx="409392" cy="607977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5BD5CC8-6F8D-20B7-CFE7-737327B7D474}"/>
                </a:ext>
              </a:extLst>
            </p:cNvPr>
            <p:cNvSpPr txBox="1"/>
            <p:nvPr/>
          </p:nvSpPr>
          <p:spPr>
            <a:xfrm>
              <a:off x="4760854" y="3260586"/>
              <a:ext cx="5774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App</a:t>
              </a:r>
            </a:p>
          </p:txBody>
        </p:sp>
      </p:grpSp>
      <p:cxnSp>
        <p:nvCxnSpPr>
          <p:cNvPr id="74" name="Curved Connector 73">
            <a:extLst>
              <a:ext uri="{FF2B5EF4-FFF2-40B4-BE49-F238E27FC236}">
                <a16:creationId xmlns:a16="http://schemas.microsoft.com/office/drawing/2014/main" id="{CA7A9331-AC5B-3DE3-1461-FB240C4A0BD5}"/>
              </a:ext>
            </a:extLst>
          </p:cNvPr>
          <p:cNvCxnSpPr>
            <a:cxnSpLocks/>
          </p:cNvCxnSpPr>
          <p:nvPr/>
        </p:nvCxnSpPr>
        <p:spPr>
          <a:xfrm>
            <a:off x="5762323" y="4697381"/>
            <a:ext cx="2447769" cy="231683"/>
          </a:xfrm>
          <a:prstGeom prst="curvedConnector3">
            <a:avLst>
              <a:gd name="adj1" fmla="val 71952"/>
            </a:avLst>
          </a:prstGeom>
          <a:ln w="25400">
            <a:solidFill>
              <a:srgbClr val="0299FF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46CC287-0235-B77C-EC2A-EFD8CC068090}"/>
              </a:ext>
            </a:extLst>
          </p:cNvPr>
          <p:cNvSpPr txBox="1"/>
          <p:nvPr/>
        </p:nvSpPr>
        <p:spPr>
          <a:xfrm rot="21384153">
            <a:off x="5663745" y="3504709"/>
            <a:ext cx="1478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I/O attempt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2FB3983-3AF4-D4A7-4DF2-3E0B6B8B28EF}"/>
              </a:ext>
            </a:extLst>
          </p:cNvPr>
          <p:cNvGrpSpPr/>
          <p:nvPr/>
        </p:nvGrpSpPr>
        <p:grpSpPr>
          <a:xfrm>
            <a:off x="5437854" y="3518468"/>
            <a:ext cx="285656" cy="338554"/>
            <a:chOff x="5226605" y="2806900"/>
            <a:chExt cx="285656" cy="338554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73923002-4906-C8F3-F926-06774CD47825}"/>
                </a:ext>
              </a:extLst>
            </p:cNvPr>
            <p:cNvSpPr/>
            <p:nvPr/>
          </p:nvSpPr>
          <p:spPr>
            <a:xfrm>
              <a:off x="5228389" y="2846485"/>
              <a:ext cx="274320" cy="27432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Raleway" pitchFamily="2" charset="77"/>
                <a:cs typeface="Arial" panose="020B0604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E79FEA1-21AE-F106-CDBD-A03718AD1958}"/>
                </a:ext>
              </a:extLst>
            </p:cNvPr>
            <p:cNvSpPr txBox="1"/>
            <p:nvPr/>
          </p:nvSpPr>
          <p:spPr>
            <a:xfrm>
              <a:off x="5226605" y="2806900"/>
              <a:ext cx="2856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Raleway" pitchFamily="2" charset="77"/>
                </a:rPr>
                <a:t>1</a:t>
              </a:r>
              <a:endParaRPr sz="1600" b="1" dirty="0">
                <a:latin typeface="Raleway" pitchFamily="2" charset="77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5B760BD-7561-164F-2E80-A81BF982EC15}"/>
              </a:ext>
            </a:extLst>
          </p:cNvPr>
          <p:cNvGrpSpPr/>
          <p:nvPr/>
        </p:nvGrpSpPr>
        <p:grpSpPr>
          <a:xfrm>
            <a:off x="5426757" y="4026494"/>
            <a:ext cx="298480" cy="338554"/>
            <a:chOff x="5209437" y="3402204"/>
            <a:chExt cx="298480" cy="338554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4DFBF3B7-8F99-DCB6-08B7-0BF75BE4BCAD}"/>
                </a:ext>
              </a:extLst>
            </p:cNvPr>
            <p:cNvSpPr/>
            <p:nvPr/>
          </p:nvSpPr>
          <p:spPr>
            <a:xfrm>
              <a:off x="5222354" y="3451618"/>
              <a:ext cx="274320" cy="27432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Raleway" pitchFamily="2" charset="77"/>
                <a:cs typeface="Arial" panose="020B06040202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34E6C46-DF82-0C57-058C-C206FF10EA1B}"/>
                </a:ext>
              </a:extLst>
            </p:cNvPr>
            <p:cNvSpPr txBox="1"/>
            <p:nvPr/>
          </p:nvSpPr>
          <p:spPr>
            <a:xfrm>
              <a:off x="5209437" y="3402204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Raleway" pitchFamily="2" charset="77"/>
                </a:rPr>
                <a:t>3</a:t>
              </a:r>
              <a:endParaRPr sz="1600" b="1" dirty="0">
                <a:latin typeface="Raleway" pitchFamily="2" charset="77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47A40A3-23B8-767B-EB34-D21C2CE09688}"/>
              </a:ext>
            </a:extLst>
          </p:cNvPr>
          <p:cNvGrpSpPr/>
          <p:nvPr/>
        </p:nvGrpSpPr>
        <p:grpSpPr>
          <a:xfrm>
            <a:off x="5432283" y="4417189"/>
            <a:ext cx="301686" cy="338554"/>
            <a:chOff x="5188902" y="3822735"/>
            <a:chExt cx="301686" cy="338554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1811D07-9662-84F0-66E0-9DB48D1CEF14}"/>
                </a:ext>
              </a:extLst>
            </p:cNvPr>
            <p:cNvSpPr/>
            <p:nvPr/>
          </p:nvSpPr>
          <p:spPr>
            <a:xfrm>
              <a:off x="5197922" y="3882175"/>
              <a:ext cx="274320" cy="27432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Raleway" pitchFamily="2" charset="77"/>
                <a:cs typeface="Arial" panose="020B0604020202020204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15D1EDE-0DEC-AF52-6F19-AA91EEE07962}"/>
                </a:ext>
              </a:extLst>
            </p:cNvPr>
            <p:cNvSpPr txBox="1"/>
            <p:nvPr/>
          </p:nvSpPr>
          <p:spPr>
            <a:xfrm>
              <a:off x="5188902" y="3822735"/>
              <a:ext cx="30168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Raleway" pitchFamily="2" charset="77"/>
                </a:rPr>
                <a:t>4</a:t>
              </a:r>
              <a:endParaRPr sz="1600" b="1" dirty="0">
                <a:latin typeface="Raleway" pitchFamily="2" charset="77"/>
              </a:endParaRPr>
            </a:p>
          </p:txBody>
        </p:sp>
      </p:grpSp>
      <p:cxnSp>
        <p:nvCxnSpPr>
          <p:cNvPr id="90" name="Curved Connector 89">
            <a:extLst>
              <a:ext uri="{FF2B5EF4-FFF2-40B4-BE49-F238E27FC236}">
                <a16:creationId xmlns:a16="http://schemas.microsoft.com/office/drawing/2014/main" id="{4D7A6E13-E0E4-D729-3EAD-1BF454F899FD}"/>
              </a:ext>
            </a:extLst>
          </p:cNvPr>
          <p:cNvCxnSpPr>
            <a:cxnSpLocks/>
          </p:cNvCxnSpPr>
          <p:nvPr/>
        </p:nvCxnSpPr>
        <p:spPr>
          <a:xfrm flipV="1">
            <a:off x="5743597" y="3178594"/>
            <a:ext cx="2466495" cy="659314"/>
          </a:xfrm>
          <a:prstGeom prst="curvedConnector3">
            <a:avLst>
              <a:gd name="adj1" fmla="val 73884"/>
            </a:avLst>
          </a:prstGeom>
          <a:ln w="25400">
            <a:solidFill>
              <a:schemeClr val="bg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8FE622E-FEEF-6518-B454-1B37A0C2F51A}"/>
              </a:ext>
            </a:extLst>
          </p:cNvPr>
          <p:cNvGrpSpPr/>
          <p:nvPr/>
        </p:nvGrpSpPr>
        <p:grpSpPr>
          <a:xfrm>
            <a:off x="7028464" y="3339268"/>
            <a:ext cx="678096" cy="850181"/>
            <a:chOff x="6538351" y="2627565"/>
            <a:chExt cx="844966" cy="1059399"/>
          </a:xfrm>
        </p:grpSpPr>
        <p:sp>
          <p:nvSpPr>
            <p:cNvPr id="93" name="Diamond 92">
              <a:extLst>
                <a:ext uri="{FF2B5EF4-FFF2-40B4-BE49-F238E27FC236}">
                  <a16:creationId xmlns:a16="http://schemas.microsoft.com/office/drawing/2014/main" id="{05417561-37A0-3A8C-ED14-E886E7D77402}"/>
                </a:ext>
              </a:extLst>
            </p:cNvPr>
            <p:cNvSpPr/>
            <p:nvPr/>
          </p:nvSpPr>
          <p:spPr>
            <a:xfrm>
              <a:off x="6538351" y="2627565"/>
              <a:ext cx="844966" cy="1059399"/>
            </a:xfrm>
            <a:prstGeom prst="diamond">
              <a:avLst/>
            </a:prstGeom>
            <a:solidFill>
              <a:schemeClr val="tx1">
                <a:lumMod val="95000"/>
              </a:schemeClr>
            </a:solidFill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49578E7-C52A-F8C0-2950-699736707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93528" y="2766137"/>
              <a:ext cx="629770" cy="798796"/>
            </a:xfrm>
            <a:prstGeom prst="rect">
              <a:avLst/>
            </a:prstGeom>
          </p:spPr>
        </p:pic>
      </p:grpSp>
      <p:sp>
        <p:nvSpPr>
          <p:cNvPr id="95" name="Rounded Rectangular Callout 94">
            <a:extLst>
              <a:ext uri="{FF2B5EF4-FFF2-40B4-BE49-F238E27FC236}">
                <a16:creationId xmlns:a16="http://schemas.microsoft.com/office/drawing/2014/main" id="{AFAAF5E1-6A8E-8F2D-E4B0-179E14A115D8}"/>
              </a:ext>
            </a:extLst>
          </p:cNvPr>
          <p:cNvSpPr/>
          <p:nvPr/>
        </p:nvSpPr>
        <p:spPr>
          <a:xfrm>
            <a:off x="7706559" y="3868626"/>
            <a:ext cx="1280601" cy="659314"/>
          </a:xfrm>
          <a:prstGeom prst="wedgeRoundRectCallout">
            <a:avLst>
              <a:gd name="adj1" fmla="val -70865"/>
              <a:gd name="adj2" fmla="val -52141"/>
              <a:gd name="adj3" fmla="val 16667"/>
            </a:avLst>
          </a:prstGeom>
          <a:solidFill>
            <a:schemeClr val="tx1"/>
          </a:solidFill>
          <a:ln w="2857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      </a:t>
            </a:r>
            <a:r>
              <a:rPr lang="en-US" sz="1400" b="1" dirty="0">
                <a:solidFill>
                  <a:srgbClr val="7030A0"/>
                </a:solidFill>
                <a:latin typeface="Raleway" pitchFamily="2" charset="77"/>
                <a:cs typeface="Gill Sans" panose="020B0502020104020203" pitchFamily="34" charset="-79"/>
              </a:rPr>
              <a:t>P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Raleway" pitchFamily="2" charset="77"/>
                <a:cs typeface="Gill Sans" panose="020B0502020104020203" pitchFamily="34" charset="-79"/>
              </a:rPr>
              <a:t>redict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cs typeface="Gill Sans" panose="020B0502020104020203" pitchFamily="34" charset="-79"/>
              </a:rPr>
              <a:t> </a:t>
            </a:r>
            <a:b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cs typeface="Gill Sans" panose="020B0502020104020203" pitchFamily="34" charset="-79"/>
              </a:rPr>
            </a:br>
            <a:endParaRPr kumimoji="0" lang="en-US" sz="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leway" pitchFamily="2" charset="77"/>
              <a:cs typeface="Gill Sans" panose="020B0502020104020203" pitchFamily="34" charset="-79"/>
            </a:endParaRP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cs typeface="Gill Sans" panose="020B0502020104020203" pitchFamily="34" charset="-79"/>
              </a:rPr>
              <a:t>I/O latency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3666C23-7A16-EE6A-CAF7-61AD47FD6B45}"/>
              </a:ext>
            </a:extLst>
          </p:cNvPr>
          <p:cNvGrpSpPr/>
          <p:nvPr/>
        </p:nvGrpSpPr>
        <p:grpSpPr>
          <a:xfrm>
            <a:off x="7809086" y="3876499"/>
            <a:ext cx="300082" cy="338554"/>
            <a:chOff x="5188902" y="3822735"/>
            <a:chExt cx="300082" cy="338554"/>
          </a:xfrm>
          <a:solidFill>
            <a:srgbClr val="7030A0"/>
          </a:solidFill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A82F715-BDC7-4AF2-AA28-C74152E54FB2}"/>
                </a:ext>
              </a:extLst>
            </p:cNvPr>
            <p:cNvSpPr/>
            <p:nvPr/>
          </p:nvSpPr>
          <p:spPr>
            <a:xfrm>
              <a:off x="5197922" y="3882175"/>
              <a:ext cx="274320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latin typeface="Raleway" pitchFamily="2" charset="77"/>
                <a:cs typeface="Arial" panose="020B0604020202020204" pitchFamily="34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C0468AA-E017-4549-EA61-E3481626AD12}"/>
                </a:ext>
              </a:extLst>
            </p:cNvPr>
            <p:cNvSpPr txBox="1"/>
            <p:nvPr/>
          </p:nvSpPr>
          <p:spPr>
            <a:xfrm>
              <a:off x="5188902" y="3822735"/>
              <a:ext cx="30008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latin typeface="Raleway" pitchFamily="2" charset="77"/>
                </a:rPr>
                <a:t>2</a:t>
              </a:r>
              <a:endParaRPr sz="1600" b="1" dirty="0">
                <a:latin typeface="Raleway" pitchFamily="2" charset="77"/>
              </a:endParaRPr>
            </a:p>
          </p:txBody>
        </p:sp>
      </p:grpSp>
      <p:sp>
        <p:nvSpPr>
          <p:cNvPr id="114" name="Oval Callout 113">
            <a:extLst>
              <a:ext uri="{FF2B5EF4-FFF2-40B4-BE49-F238E27FC236}">
                <a16:creationId xmlns:a16="http://schemas.microsoft.com/office/drawing/2014/main" id="{4803118C-76E8-8B7F-1586-D4BCE91FB564}"/>
              </a:ext>
            </a:extLst>
          </p:cNvPr>
          <p:cNvSpPr/>
          <p:nvPr/>
        </p:nvSpPr>
        <p:spPr>
          <a:xfrm>
            <a:off x="220825" y="2530816"/>
            <a:ext cx="1810190" cy="746261"/>
          </a:xfrm>
          <a:prstGeom prst="wedgeEllipseCallout">
            <a:avLst>
              <a:gd name="adj1" fmla="val -24252"/>
              <a:gd name="adj2" fmla="val 76726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aleway" pitchFamily="2" charset="77"/>
              </a:rPr>
              <a:t>Which one will make me </a:t>
            </a:r>
            <a:r>
              <a:rPr lang="en-US" b="1" dirty="0">
                <a:latin typeface="Raleway" pitchFamily="2" charset="77"/>
              </a:rPr>
              <a:t>happier</a:t>
            </a:r>
            <a:r>
              <a:rPr lang="en-US" dirty="0">
                <a:latin typeface="Raleway" pitchFamily="2" charset="77"/>
              </a:rPr>
              <a:t>?</a:t>
            </a:r>
          </a:p>
        </p:txBody>
      </p: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3A1C0D63-9063-CFB7-1478-E7D04BDE8E07}"/>
              </a:ext>
            </a:extLst>
          </p:cNvPr>
          <p:cNvCxnSpPr>
            <a:cxnSpLocks/>
          </p:cNvCxnSpPr>
          <p:nvPr/>
        </p:nvCxnSpPr>
        <p:spPr>
          <a:xfrm>
            <a:off x="961518" y="4356654"/>
            <a:ext cx="1301261" cy="761455"/>
          </a:xfrm>
          <a:prstGeom prst="curvedConnector3">
            <a:avLst>
              <a:gd name="adj1" fmla="val 50000"/>
            </a:avLst>
          </a:prstGeom>
          <a:ln w="25400">
            <a:solidFill>
              <a:srgbClr val="0299FF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F9DEAB54-D43B-1264-0FCB-AFDD9D9F03FE}"/>
              </a:ext>
            </a:extLst>
          </p:cNvPr>
          <p:cNvCxnSpPr>
            <a:cxnSpLocks/>
          </p:cNvCxnSpPr>
          <p:nvPr/>
        </p:nvCxnSpPr>
        <p:spPr>
          <a:xfrm>
            <a:off x="4643066" y="1262270"/>
            <a:ext cx="0" cy="4283765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E084BD5B-9A92-2356-2067-3F0ECE2C254B}"/>
              </a:ext>
            </a:extLst>
          </p:cNvPr>
          <p:cNvGrpSpPr/>
          <p:nvPr/>
        </p:nvGrpSpPr>
        <p:grpSpPr>
          <a:xfrm>
            <a:off x="6120188" y="887315"/>
            <a:ext cx="1538206" cy="1544211"/>
            <a:chOff x="378238" y="1574000"/>
            <a:chExt cx="1538206" cy="154421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2B9F7C40-3567-22C3-73B9-99C011BB7373}"/>
                </a:ext>
              </a:extLst>
            </p:cNvPr>
            <p:cNvGrpSpPr/>
            <p:nvPr/>
          </p:nvGrpSpPr>
          <p:grpSpPr>
            <a:xfrm>
              <a:off x="378238" y="1574000"/>
              <a:ext cx="1538206" cy="1544211"/>
              <a:chOff x="209201" y="2581548"/>
              <a:chExt cx="1538206" cy="1544211"/>
            </a:xfrm>
          </p:grpSpPr>
          <p:pic>
            <p:nvPicPr>
              <p:cNvPr id="126" name="Picture 2" descr="NVMe SSD icon PNG and SVG Vector Free Download">
                <a:extLst>
                  <a:ext uri="{FF2B5EF4-FFF2-40B4-BE49-F238E27FC236}">
                    <a16:creationId xmlns:a16="http://schemas.microsoft.com/office/drawing/2014/main" id="{DFCC24A3-B3F5-B719-3979-401F4A1620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03F3FE"/>
                  </a:clrFrom>
                  <a:clrTo>
                    <a:srgbClr val="03F3FE">
                      <a:alpha val="0"/>
                    </a:srgbClr>
                  </a:clrTo>
                </a:clrChange>
                <a:duotone>
                  <a:prstClr val="black"/>
                  <a:srgbClr val="35DC11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artisticMarker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3497366">
                <a:off x="209201" y="2581548"/>
                <a:ext cx="1538206" cy="1544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801AD092-0C87-3FCC-ABAF-6A032B6669A8}"/>
                  </a:ext>
                </a:extLst>
              </p:cNvPr>
              <p:cNvSpPr/>
              <p:nvPr/>
            </p:nvSpPr>
            <p:spPr>
              <a:xfrm>
                <a:off x="315111" y="3112605"/>
                <a:ext cx="1179384" cy="47114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>
                  <a:latin typeface="Raleway" pitchFamily="2" charset="77"/>
                </a:endParaRPr>
              </a:p>
            </p:txBody>
          </p:sp>
        </p:grp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8E44D29-C132-DB89-E8B9-2ED00503DD5B}"/>
                </a:ext>
              </a:extLst>
            </p:cNvPr>
            <p:cNvSpPr/>
            <p:nvPr/>
          </p:nvSpPr>
          <p:spPr>
            <a:xfrm>
              <a:off x="661472" y="2127741"/>
              <a:ext cx="823498" cy="42577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68DE896-1F10-2617-55AF-A04813376C15}"/>
                </a:ext>
              </a:extLst>
            </p:cNvPr>
            <p:cNvGrpSpPr/>
            <p:nvPr/>
          </p:nvGrpSpPr>
          <p:grpSpPr>
            <a:xfrm>
              <a:off x="642614" y="2169241"/>
              <a:ext cx="825491" cy="351095"/>
              <a:chOff x="4795926" y="3165053"/>
              <a:chExt cx="825491" cy="351095"/>
            </a:xfrm>
          </p:grpSpPr>
          <p:pic>
            <p:nvPicPr>
              <p:cNvPr id="124" name="Picture 14">
                <a:extLst>
                  <a:ext uri="{FF2B5EF4-FFF2-40B4-BE49-F238E27FC236}">
                    <a16:creationId xmlns:a16="http://schemas.microsoft.com/office/drawing/2014/main" id="{1901D1C3-4101-5FC0-EE2A-198FD7A34A8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5926" y="3170447"/>
                <a:ext cx="345701" cy="345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5" name="Picture 14">
                <a:extLst>
                  <a:ext uri="{FF2B5EF4-FFF2-40B4-BE49-F238E27FC236}">
                    <a16:creationId xmlns:a16="http://schemas.microsoft.com/office/drawing/2014/main" id="{CFB6A40F-140C-07D3-3CF9-A36CBE9797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artisticPhotocopy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75716" y="3165053"/>
                <a:ext cx="345701" cy="3457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1026" name="Picture 2" descr="Disneyland Park | Disneyland Resort">
            <a:extLst>
              <a:ext uri="{FF2B5EF4-FFF2-40B4-BE49-F238E27FC236}">
                <a16:creationId xmlns:a16="http://schemas.microsoft.com/office/drawing/2014/main" id="{68F1C298-5AA2-D1CD-2FB3-6E62508E1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722" y="948107"/>
            <a:ext cx="2553761" cy="143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 descr="Our Guide To STAR WARS: Galaxy's Edge | Disney® Visa® Credit Cards">
            <a:extLst>
              <a:ext uri="{FF2B5EF4-FFF2-40B4-BE49-F238E27FC236}">
                <a16:creationId xmlns:a16="http://schemas.microsoft.com/office/drawing/2014/main" id="{8D44F5A6-B444-AF73-CCDC-B8E387EF5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662" y="2805352"/>
            <a:ext cx="2306771" cy="121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2" descr="Pirates of the Caribbean | Disneyland Paris">
            <a:extLst>
              <a:ext uri="{FF2B5EF4-FFF2-40B4-BE49-F238E27FC236}">
                <a16:creationId xmlns:a16="http://schemas.microsoft.com/office/drawing/2014/main" id="{D69AFD4F-7EF3-C4F6-A0DD-A5D21F82B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0" t="10603"/>
          <a:stretch/>
        </p:blipFill>
        <p:spPr bwMode="auto">
          <a:xfrm>
            <a:off x="2292397" y="4243264"/>
            <a:ext cx="2311228" cy="119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526FD1A-668F-A9DC-E18D-CD716F4F1552}"/>
              </a:ext>
            </a:extLst>
          </p:cNvPr>
          <p:cNvGrpSpPr/>
          <p:nvPr/>
        </p:nvGrpSpPr>
        <p:grpSpPr>
          <a:xfrm>
            <a:off x="2005024" y="3907023"/>
            <a:ext cx="1461823" cy="659314"/>
            <a:chOff x="2005024" y="3907023"/>
            <a:chExt cx="1461823" cy="659314"/>
          </a:xfrm>
        </p:grpSpPr>
        <p:sp>
          <p:nvSpPr>
            <p:cNvPr id="4" name="Rounded Rectangular Callout 3">
              <a:extLst>
                <a:ext uri="{FF2B5EF4-FFF2-40B4-BE49-F238E27FC236}">
                  <a16:creationId xmlns:a16="http://schemas.microsoft.com/office/drawing/2014/main" id="{2D8DDDB6-60C3-EBD0-C1BD-6187C0B052DE}"/>
                </a:ext>
              </a:extLst>
            </p:cNvPr>
            <p:cNvSpPr/>
            <p:nvPr/>
          </p:nvSpPr>
          <p:spPr>
            <a:xfrm>
              <a:off x="2005024" y="3907023"/>
              <a:ext cx="1461823" cy="659314"/>
            </a:xfrm>
            <a:prstGeom prst="wedgeRoundRectCallout">
              <a:avLst>
                <a:gd name="adj1" fmla="val -70865"/>
                <a:gd name="adj2" fmla="val -52141"/>
                <a:gd name="adj3" fmla="val 16667"/>
              </a:avLst>
            </a:prstGeom>
            <a:solidFill>
              <a:schemeClr val="tx1"/>
            </a:solidFill>
            <a:ln w="28575">
              <a:solidFill>
                <a:schemeClr val="bg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7030A0"/>
                  </a:solidFill>
                  <a:latin typeface="Raleway" pitchFamily="2" charset="77"/>
                  <a:cs typeface="Gill Sans" panose="020B0502020104020203" pitchFamily="34" charset="-79"/>
                </a:rPr>
                <a:t>         P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aleway" pitchFamily="2" charset="77"/>
                  <a:cs typeface="Gill Sans" panose="020B0502020104020203" pitchFamily="34" charset="-79"/>
                </a:rPr>
                <a:t>redict</a:t>
              </a:r>
              <a: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aleway" pitchFamily="2" charset="77"/>
                  <a:cs typeface="Gill Sans" panose="020B0502020104020203" pitchFamily="34" charset="-79"/>
                </a:rPr>
                <a:t> </a:t>
              </a:r>
              <a:br>
                <a:rPr kumimoji="0" lang="en-US" sz="140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aleway" pitchFamily="2" charset="77"/>
                  <a:cs typeface="Gill Sans" panose="020B0502020104020203" pitchFamily="34" charset="-79"/>
                </a:rPr>
              </a:br>
              <a:endParaRPr kumimoji="0" lang="en-US" sz="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cs typeface="Gill Sans" panose="020B0502020104020203" pitchFamily="34" charset="-79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  <a:cs typeface="Gill Sans" panose="020B0502020104020203" pitchFamily="34" charset="-79"/>
                </a:rPr>
                <a:t>waiting time</a:t>
              </a:r>
              <a:endPara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cs typeface="Gill Sans" panose="020B0502020104020203" pitchFamily="34" charset="-79"/>
              </a:endParaRPr>
            </a:p>
          </p:txBody>
        </p:sp>
        <p:pic>
          <p:nvPicPr>
            <p:cNvPr id="2050" name="Picture 2" descr="Hour glass - Free time and date icons">
              <a:extLst>
                <a:ext uri="{FF2B5EF4-FFF2-40B4-BE49-F238E27FC236}">
                  <a16:creationId xmlns:a16="http://schemas.microsoft.com/office/drawing/2014/main" id="{7920B48C-4884-A147-5428-8D889CA61D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3772" y="3970981"/>
              <a:ext cx="281672" cy="2816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341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7" grpId="0"/>
      <p:bldP spid="95" grpId="0" animBg="1"/>
      <p:bldP spid="1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1DE72-9B51-0FAD-1485-76E76DC9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67AE4-3294-543B-38CF-8782237A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10F3CB69-CA70-26CC-2353-A592D3EC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07" y="280652"/>
            <a:ext cx="8621875" cy="704644"/>
          </a:xfrm>
        </p:spPr>
        <p:txBody>
          <a:bodyPr anchor="ctr"/>
          <a:lstStyle/>
          <a:p>
            <a:r>
              <a:rPr lang="en-US" sz="2800" dirty="0"/>
              <a:t>Prior Works</a:t>
            </a:r>
            <a:endParaRPr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D8ADA-69C8-6615-87BB-9DDAE5B87005}"/>
              </a:ext>
            </a:extLst>
          </p:cNvPr>
          <p:cNvSpPr txBox="1"/>
          <p:nvPr/>
        </p:nvSpPr>
        <p:spPr>
          <a:xfrm>
            <a:off x="470702" y="946205"/>
            <a:ext cx="4981192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50" indent="-2349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Random</a:t>
            </a:r>
          </a:p>
          <a:p>
            <a:pPr marL="234950" indent="-2349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Cloning</a:t>
            </a:r>
          </a:p>
          <a:p>
            <a:endParaRPr lang="en-US" sz="300" dirty="0">
              <a:solidFill>
                <a:schemeClr val="bg1"/>
              </a:solidFill>
              <a:latin typeface="Raleway" pitchFamily="2" charset="77"/>
              <a:ea typeface="Gill Sans" charset="0"/>
              <a:cs typeface="Gill Sans" charset="0"/>
            </a:endParaRPr>
          </a:p>
          <a:p>
            <a:pPr marL="234950" indent="-2349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Hedging (speculative)</a:t>
            </a:r>
          </a:p>
          <a:p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</a:t>
            </a:r>
            <a:r>
              <a:rPr lang="en-US" sz="1600" dirty="0" err="1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Kwiken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 [SIGCOMM’13]</a:t>
            </a:r>
          </a:p>
          <a:p>
            <a:pPr marL="234950" indent="-2349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Replica scoring and rate-limiting</a:t>
            </a:r>
          </a:p>
          <a:p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Heron [SRDS’18]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AMS [TCC’23]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</a:t>
            </a:r>
            <a:r>
              <a:rPr lang="en-US" sz="1600" dirty="0" err="1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OnOff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 [J. Parallel </a:t>
            </a:r>
            <a:r>
              <a:rPr lang="en-US" sz="1600" dirty="0" err="1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Distrib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. Comput.’23]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L2 [IS’19]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C3 [NSDI’15]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</a:t>
            </a:r>
            <a:r>
              <a:rPr lang="en-US" sz="1600" dirty="0" err="1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PriorityMeister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 [SoCC’14]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Aequitas [SIGCOMM’22]</a:t>
            </a:r>
          </a:p>
          <a:p>
            <a:pPr marL="234950" indent="-234950"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Forecasting and rate controlling</a:t>
            </a:r>
          </a:p>
          <a:p>
            <a:r>
              <a:rPr lang="en-US" sz="20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PSLO [EuroSys’19]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	TAP [CCPE’19]</a:t>
            </a:r>
          </a:p>
          <a:p>
            <a:pPr marL="234950" indent="-234950">
              <a:buFont typeface="Wingdings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ML-based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D14726-B676-725B-BDE6-0B56A0468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641" y="2711144"/>
            <a:ext cx="3886199" cy="16644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CF00E9-449D-1212-3F83-5E542AE51F67}"/>
              </a:ext>
            </a:extLst>
          </p:cNvPr>
          <p:cNvSpPr txBox="1"/>
          <p:nvPr/>
        </p:nvSpPr>
        <p:spPr>
          <a:xfrm>
            <a:off x="4267201" y="1491356"/>
            <a:ext cx="463248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0" lang="en-US" sz="2000" i="0" u="none" strike="noStrike" kern="1200" cap="none" spc="42" normalizeH="0" baseline="0" noProof="0" dirty="0" err="1">
                <a:ln w="12700" cmpd="sng">
                  <a:solidFill>
                    <a:srgbClr val="000000"/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ea typeface="+mj-ea"/>
                <a:cs typeface="Gill Sans"/>
              </a:rPr>
              <a:t>LinnOS</a:t>
            </a:r>
            <a:r>
              <a:rPr kumimoji="0" lang="en-US" sz="2000" i="0" u="none" strike="noStrike" kern="1200" cap="none" spc="42" normalizeH="0" baseline="0" noProof="0" dirty="0">
                <a:ln w="12700" cmpd="sng">
                  <a:solidFill>
                    <a:srgbClr val="000000"/>
                  </a:solidFill>
                  <a:prstDash val="solid"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ea typeface="+mj-ea"/>
                <a:cs typeface="Gill Sans"/>
              </a:rPr>
              <a:t> [OSDI’20], LAKE [ASPLOS’23]</a:t>
            </a:r>
            <a:endParaRPr lang="en-US" sz="2000" dirty="0">
              <a:solidFill>
                <a:schemeClr val="bg1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582D7D2D-DF07-D0A9-25E7-8669538580D2}"/>
              </a:ext>
            </a:extLst>
          </p:cNvPr>
          <p:cNvSpPr/>
          <p:nvPr/>
        </p:nvSpPr>
        <p:spPr>
          <a:xfrm rot="21306773">
            <a:off x="3351346" y="817724"/>
            <a:ext cx="2063485" cy="457057"/>
          </a:xfrm>
          <a:prstGeom prst="wedgeRoundRectCallout">
            <a:avLst>
              <a:gd name="adj1" fmla="val 36978"/>
              <a:gd name="adj2" fmla="val 110430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What’s wrong?</a:t>
            </a:r>
            <a:endParaRPr lang="en-US" sz="1600" dirty="0">
              <a:solidFill>
                <a:schemeClr val="bg1"/>
              </a:solidFill>
              <a:latin typeface="Raleway" pitchFamily="2" charset="77"/>
              <a:cs typeface="Gill Sans" panose="020B0502020104020203" pitchFamily="34" charset="-79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5A8FCB-A398-04EB-1B08-8A268F9FE2C2}"/>
              </a:ext>
            </a:extLst>
          </p:cNvPr>
          <p:cNvSpPr txBox="1"/>
          <p:nvPr/>
        </p:nvSpPr>
        <p:spPr>
          <a:xfrm>
            <a:off x="5756856" y="2086377"/>
            <a:ext cx="23807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Alibaba, MSR, Tencent</a:t>
            </a:r>
          </a:p>
        </p:txBody>
      </p:sp>
    </p:spTree>
    <p:extLst>
      <p:ext uri="{BB962C8B-B14F-4D97-AF65-F5344CB8AC3E}">
        <p14:creationId xmlns:p14="http://schemas.microsoft.com/office/powerpoint/2010/main" val="396406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4D0F1-E73B-FA06-F768-A935C787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45CF8-1FAD-1B6D-B30F-AA1E13166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924D70-8BAE-C59D-742B-ABE453CD56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59"/>
          <a:stretch/>
        </p:blipFill>
        <p:spPr>
          <a:xfrm>
            <a:off x="384620" y="1893022"/>
            <a:ext cx="3794230" cy="3052258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3E416209-FBAB-34C1-8E7D-844F515C9763}"/>
              </a:ext>
            </a:extLst>
          </p:cNvPr>
          <p:cNvSpPr txBox="1">
            <a:spLocks/>
          </p:cNvSpPr>
          <p:nvPr/>
        </p:nvSpPr>
        <p:spPr>
          <a:xfrm>
            <a:off x="277807" y="280652"/>
            <a:ext cx="8621875" cy="70464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761992" rtl="0" eaLnBrk="1" latinLnBrk="0" hangingPunct="1">
              <a:spcBef>
                <a:spcPct val="0"/>
              </a:spcBef>
              <a:buNone/>
              <a:defRPr sz="3750" b="1" kern="1200" cap="none" spc="42" baseline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rgbClr val="6D1B1F"/>
                </a:solidFill>
                <a:effectLst/>
                <a:latin typeface="Raleway" pitchFamily="2" charset="77"/>
                <a:ea typeface="+mj-ea"/>
                <a:cs typeface="Gill San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What’s Wrong?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8AE5D2-92E4-631B-C2F1-4787507AC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486" y="1346788"/>
            <a:ext cx="4247200" cy="3299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AEECEF-070F-61B9-F12E-E274478BA951}"/>
              </a:ext>
            </a:extLst>
          </p:cNvPr>
          <p:cNvSpPr txBox="1"/>
          <p:nvPr/>
        </p:nvSpPr>
        <p:spPr>
          <a:xfrm>
            <a:off x="4879572" y="4914865"/>
            <a:ext cx="3401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Can </a:t>
            </a:r>
            <a:r>
              <a:rPr lang="en-US" sz="1600" b="1" dirty="0">
                <a:solidFill>
                  <a:srgbClr val="C00000"/>
                </a:solidFill>
                <a:latin typeface="Raleway" pitchFamily="2" charset="77"/>
              </a:rPr>
              <a:t>exploring other stages 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help?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AE2CCFBE-629F-DDAB-B50A-7AE7604F079F}"/>
              </a:ext>
            </a:extLst>
          </p:cNvPr>
          <p:cNvSpPr/>
          <p:nvPr/>
        </p:nvSpPr>
        <p:spPr>
          <a:xfrm>
            <a:off x="1111827" y="985296"/>
            <a:ext cx="2836718" cy="729204"/>
          </a:xfrm>
          <a:prstGeom prst="wedgeRoundRectCallout">
            <a:avLst>
              <a:gd name="adj1" fmla="val 2610"/>
              <a:gd name="adj2" fmla="val 71050"/>
              <a:gd name="adj3" fmla="val 16667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Mostly focus on </a:t>
            </a:r>
            <a:r>
              <a:rPr lang="en-US" sz="1600" b="1" dirty="0">
                <a:solidFill>
                  <a:schemeClr val="bg1"/>
                </a:solidFill>
                <a:latin typeface="Raleway" pitchFamily="2" charset="77"/>
              </a:rPr>
              <a:t>feature &amp; model engineering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!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031DF5C2-FDD5-E2E3-3141-35230A548E45}"/>
              </a:ext>
            </a:extLst>
          </p:cNvPr>
          <p:cNvSpPr/>
          <p:nvPr/>
        </p:nvSpPr>
        <p:spPr>
          <a:xfrm>
            <a:off x="5295900" y="831273"/>
            <a:ext cx="2836718" cy="381308"/>
          </a:xfrm>
          <a:prstGeom prst="wedgeRoundRectCallout">
            <a:avLst>
              <a:gd name="adj1" fmla="val 20925"/>
              <a:gd name="adj2" fmla="val 66775"/>
              <a:gd name="adj3" fmla="val 16667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The pipeline is </a:t>
            </a:r>
            <a:r>
              <a:rPr lang="en-US" sz="1600" b="1" dirty="0">
                <a:solidFill>
                  <a:schemeClr val="bg1"/>
                </a:solidFill>
                <a:latin typeface="Raleway" pitchFamily="2" charset="77"/>
              </a:rPr>
              <a:t>LONG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8B4C78-74DF-3872-C313-84D66274B397}"/>
              </a:ext>
            </a:extLst>
          </p:cNvPr>
          <p:cNvSpPr/>
          <p:nvPr/>
        </p:nvSpPr>
        <p:spPr>
          <a:xfrm>
            <a:off x="1603019" y="1893022"/>
            <a:ext cx="654759" cy="3052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D72233-FC3B-E03E-3A53-67731400C5C1}"/>
              </a:ext>
            </a:extLst>
          </p:cNvPr>
          <p:cNvSpPr/>
          <p:nvPr/>
        </p:nvSpPr>
        <p:spPr>
          <a:xfrm>
            <a:off x="3031062" y="1898665"/>
            <a:ext cx="1147788" cy="305225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7E3B8E-FBE1-A18B-DC16-DAD993D863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458"/>
          <a:stretch/>
        </p:blipFill>
        <p:spPr>
          <a:xfrm>
            <a:off x="384620" y="4934770"/>
            <a:ext cx="3794230" cy="24740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5462D09-64F7-311F-5EB9-DB6F7F39E53D}"/>
              </a:ext>
            </a:extLst>
          </p:cNvPr>
          <p:cNvSpPr/>
          <p:nvPr/>
        </p:nvSpPr>
        <p:spPr>
          <a:xfrm>
            <a:off x="384620" y="4945280"/>
            <a:ext cx="3794230" cy="247404"/>
          </a:xfrm>
          <a:prstGeom prst="rect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3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2" grpId="0" animBg="1"/>
      <p:bldP spid="5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4C88C-59C8-F795-B942-861C9B0C0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2B5675-BA51-EA7A-A3B6-E678CAFF03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83239" y="2584693"/>
            <a:ext cx="3161221" cy="1561365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</a:pPr>
            <a:endParaRPr lang="en-US" sz="100" dirty="0"/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lang="en-US" sz="2000" dirty="0"/>
              <a:t>Design Principles</a:t>
            </a:r>
          </a:p>
          <a:p>
            <a:pPr lvl="1">
              <a:spcBef>
                <a:spcPts val="300"/>
              </a:spcBef>
              <a:spcAft>
                <a:spcPts val="100"/>
              </a:spcAft>
            </a:pPr>
            <a:r>
              <a:rPr lang="en-US" sz="1800" b="1" dirty="0"/>
              <a:t>Accurate </a:t>
            </a:r>
            <a:r>
              <a:rPr lang="en-US" sz="1800" dirty="0"/>
              <a:t>prediction</a:t>
            </a:r>
          </a:p>
          <a:p>
            <a:pPr lvl="1">
              <a:spcBef>
                <a:spcPts val="300"/>
              </a:spcBef>
              <a:spcAft>
                <a:spcPts val="100"/>
              </a:spcAft>
            </a:pPr>
            <a:r>
              <a:rPr lang="en-US" sz="1800" b="1" dirty="0"/>
              <a:t>Light and efficient 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299FF"/>
                </a:solidFill>
              </a:rPr>
              <a:t>deployable!</a:t>
            </a:r>
            <a:r>
              <a:rPr lang="en-US" sz="1800" dirty="0"/>
              <a:t>)</a:t>
            </a:r>
          </a:p>
          <a:p>
            <a:pPr marL="380996" lvl="1" indent="0">
              <a:spcBef>
                <a:spcPts val="300"/>
              </a:spcBef>
              <a:spcAft>
                <a:spcPts val="100"/>
              </a:spcAft>
              <a:buNone/>
            </a:pPr>
            <a:endParaRPr lang="en-US" sz="100" dirty="0"/>
          </a:p>
          <a:p>
            <a:pPr marL="0" indent="0">
              <a:spcBef>
                <a:spcPts val="300"/>
              </a:spcBef>
              <a:spcAft>
                <a:spcPts val="100"/>
              </a:spcAft>
              <a:buNone/>
            </a:pPr>
            <a:endParaRPr lang="en-US" sz="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C1C60B-FE4A-AB43-FB56-9F7227E06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008" y="1140817"/>
            <a:ext cx="3375256" cy="41253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8B7B8D-430A-06E2-9438-41AF79BC30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8" y="1144626"/>
            <a:ext cx="3374136" cy="41239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29C19EF-4762-82AB-CD4B-CE6E2B0E2DA4}"/>
              </a:ext>
            </a:extLst>
          </p:cNvPr>
          <p:cNvSpPr txBox="1"/>
          <p:nvPr/>
        </p:nvSpPr>
        <p:spPr>
          <a:xfrm>
            <a:off x="3975958" y="2709651"/>
            <a:ext cx="583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1" dirty="0">
                <a:solidFill>
                  <a:srgbClr val="FF0000"/>
                </a:solidFill>
                <a:latin typeface="Raleway" pitchFamily="2" charset="77"/>
                <a:cs typeface="Gill Sans" panose="020B0502020104020203" pitchFamily="34" charset="-79"/>
              </a:rPr>
              <a:t>GC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23741-B9A3-0C21-603E-7CA48AB1E28E}"/>
              </a:ext>
            </a:extLst>
          </p:cNvPr>
          <p:cNvSpPr txBox="1"/>
          <p:nvPr/>
        </p:nvSpPr>
        <p:spPr>
          <a:xfrm>
            <a:off x="3152978" y="1797942"/>
            <a:ext cx="1406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1" dirty="0">
                <a:solidFill>
                  <a:schemeClr val="tx1">
                    <a:lumMod val="6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2000" i="1" dirty="0" err="1">
                <a:solidFill>
                  <a:schemeClr val="tx1">
                    <a:lumMod val="6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NoGC</a:t>
            </a:r>
            <a:r>
              <a:rPr lang="en-US" sz="1000" i="1" dirty="0">
                <a:solidFill>
                  <a:srgbClr val="0299FF"/>
                </a:solidFill>
                <a:latin typeface="Raleway" pitchFamily="2" charset="77"/>
                <a:cs typeface="Gill Sans" panose="020B0502020104020203" pitchFamily="34" charset="-79"/>
              </a:rPr>
              <a:t>(perfect)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3D19F1-2402-B6EA-B595-7EB82A59B449}"/>
              </a:ext>
            </a:extLst>
          </p:cNvPr>
          <p:cNvCxnSpPr>
            <a:cxnSpLocks/>
          </p:cNvCxnSpPr>
          <p:nvPr/>
        </p:nvCxnSpPr>
        <p:spPr>
          <a:xfrm>
            <a:off x="2841319" y="1843716"/>
            <a:ext cx="0" cy="2686110"/>
          </a:xfrm>
          <a:prstGeom prst="straightConnector1">
            <a:avLst/>
          </a:prstGeom>
          <a:ln w="15875">
            <a:solidFill>
              <a:schemeClr val="bg2">
                <a:lumMod val="25000"/>
                <a:lumOff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ight Arrow 4">
            <a:extLst>
              <a:ext uri="{FF2B5EF4-FFF2-40B4-BE49-F238E27FC236}">
                <a16:creationId xmlns:a16="http://schemas.microsoft.com/office/drawing/2014/main" id="{5060201F-F964-1BED-D5A5-721AD7A54B8C}"/>
              </a:ext>
            </a:extLst>
          </p:cNvPr>
          <p:cNvSpPr/>
          <p:nvPr/>
        </p:nvSpPr>
        <p:spPr>
          <a:xfrm rot="13635085">
            <a:off x="2645439" y="2172610"/>
            <a:ext cx="1233658" cy="456558"/>
          </a:xfrm>
          <a:prstGeom prst="rightArrow">
            <a:avLst>
              <a:gd name="adj1" fmla="val 45911"/>
              <a:gd name="adj2" fmla="val 88909"/>
            </a:avLst>
          </a:prstGeom>
          <a:solidFill>
            <a:srgbClr val="02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E66C82BB-7744-86EE-930A-FFEEC7930233}"/>
              </a:ext>
            </a:extLst>
          </p:cNvPr>
          <p:cNvSpPr/>
          <p:nvPr/>
        </p:nvSpPr>
        <p:spPr>
          <a:xfrm>
            <a:off x="1110508" y="1954679"/>
            <a:ext cx="1614110" cy="630014"/>
          </a:xfrm>
          <a:prstGeom prst="wedgeRoundRectCallout">
            <a:avLst>
              <a:gd name="adj1" fmla="val 73174"/>
              <a:gd name="adj2" fmla="val -4425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Room for improvement</a:t>
            </a:r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A14677B9-AE6A-BF3A-0006-F3B43EBFB677}"/>
              </a:ext>
            </a:extLst>
          </p:cNvPr>
          <p:cNvSpPr txBox="1">
            <a:spLocks/>
          </p:cNvSpPr>
          <p:nvPr/>
        </p:nvSpPr>
        <p:spPr>
          <a:xfrm>
            <a:off x="277807" y="280652"/>
            <a:ext cx="8621875" cy="70464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761992" rtl="0" eaLnBrk="1" latinLnBrk="0" hangingPunct="1">
              <a:spcBef>
                <a:spcPct val="0"/>
              </a:spcBef>
              <a:buNone/>
              <a:defRPr sz="3750" b="1" kern="1200" cap="none" spc="42" baseline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rgbClr val="6D1B1F"/>
                </a:solidFill>
                <a:effectLst/>
                <a:latin typeface="Raleway" pitchFamily="2" charset="77"/>
                <a:ea typeface="+mj-ea"/>
                <a:cs typeface="Gill San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Heimdall: The Quest for Tail-free SSDs!</a:t>
            </a:r>
          </a:p>
        </p:txBody>
      </p:sp>
    </p:spTree>
    <p:extLst>
      <p:ext uri="{BB962C8B-B14F-4D97-AF65-F5344CB8AC3E}">
        <p14:creationId xmlns:p14="http://schemas.microsoft.com/office/powerpoint/2010/main" val="29764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EDA59-E668-8139-74DF-E01E1FDB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0889BF-585E-6FF4-BC06-69AC0533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9" name="Title 4">
            <a:extLst>
              <a:ext uri="{FF2B5EF4-FFF2-40B4-BE49-F238E27FC236}">
                <a16:creationId xmlns:a16="http://schemas.microsoft.com/office/drawing/2014/main" id="{B5EA8E5F-1465-998E-2723-3ECD9CBA5953}"/>
              </a:ext>
            </a:extLst>
          </p:cNvPr>
          <p:cNvSpPr txBox="1">
            <a:spLocks/>
          </p:cNvSpPr>
          <p:nvPr/>
        </p:nvSpPr>
        <p:spPr>
          <a:xfrm>
            <a:off x="277807" y="280652"/>
            <a:ext cx="8621875" cy="70464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761992" rtl="0" eaLnBrk="1" latinLnBrk="0" hangingPunct="1">
              <a:spcBef>
                <a:spcPct val="0"/>
              </a:spcBef>
              <a:buNone/>
              <a:defRPr sz="3750" b="1" kern="1200" cap="none" spc="42" baseline="0">
                <a:ln w="12700" cmpd="sng">
                  <a:solidFill>
                    <a:schemeClr val="bg1"/>
                  </a:solidFill>
                  <a:prstDash val="solid"/>
                </a:ln>
                <a:solidFill>
                  <a:srgbClr val="6D1B1F"/>
                </a:solidFill>
                <a:effectLst/>
                <a:latin typeface="Raleway" pitchFamily="2" charset="77"/>
                <a:ea typeface="+mj-ea"/>
                <a:cs typeface="Gill San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Heimdall: The Quest for Tail-free SSDs!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74A2BF-2A6F-38C3-96E3-2BCDB8D616C2}"/>
              </a:ext>
            </a:extLst>
          </p:cNvPr>
          <p:cNvGrpSpPr/>
          <p:nvPr/>
        </p:nvGrpSpPr>
        <p:grpSpPr>
          <a:xfrm>
            <a:off x="1003300" y="3394841"/>
            <a:ext cx="3295080" cy="1409700"/>
            <a:chOff x="1003300" y="3394841"/>
            <a:chExt cx="3295080" cy="14097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D6C5D4-0A48-A7EA-D6B6-7B699F5A6402}"/>
                </a:ext>
              </a:extLst>
            </p:cNvPr>
            <p:cNvSpPr/>
            <p:nvPr/>
          </p:nvSpPr>
          <p:spPr>
            <a:xfrm>
              <a:off x="1003300" y="3394841"/>
              <a:ext cx="3295080" cy="1409700"/>
            </a:xfrm>
            <a:prstGeom prst="rect">
              <a:avLst/>
            </a:prstGeom>
            <a:solidFill>
              <a:srgbClr val="C2EA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DA398E-196E-ACEF-B6EA-0A7B574D757E}"/>
                </a:ext>
              </a:extLst>
            </p:cNvPr>
            <p:cNvSpPr txBox="1"/>
            <p:nvPr/>
          </p:nvSpPr>
          <p:spPr>
            <a:xfrm>
              <a:off x="1149538" y="3394841"/>
              <a:ext cx="3002602" cy="11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US" sz="5400" b="1" dirty="0">
                  <a:solidFill>
                    <a:srgbClr val="239CF1"/>
                  </a:solidFill>
                  <a:latin typeface="Raleway" pitchFamily="2" charset="77"/>
                </a:rPr>
                <a:t> 15-35</a:t>
              </a:r>
              <a:r>
                <a:rPr lang="en-US" sz="2400" b="1" dirty="0">
                  <a:solidFill>
                    <a:srgbClr val="239CF1"/>
                  </a:solidFill>
                  <a:latin typeface="Raleway" pitchFamily="2" charset="77"/>
                </a:rPr>
                <a:t>%</a:t>
              </a:r>
              <a:endParaRPr lang="en-US" sz="5400" b="1" dirty="0">
                <a:solidFill>
                  <a:srgbClr val="239CF1"/>
                </a:solidFill>
                <a:latin typeface="Raleway" pitchFamily="2" charset="77"/>
              </a:endParaRPr>
            </a:p>
            <a:p>
              <a:pPr algn="ctr">
                <a:spcAft>
                  <a:spcPts val="3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Raleway" pitchFamily="2" charset="77"/>
                </a:rPr>
                <a:t>Lower average I/O latency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4E1C21-EECF-556F-EC98-898F78826D7A}"/>
              </a:ext>
            </a:extLst>
          </p:cNvPr>
          <p:cNvGrpSpPr/>
          <p:nvPr/>
        </p:nvGrpSpPr>
        <p:grpSpPr>
          <a:xfrm>
            <a:off x="4845620" y="1612900"/>
            <a:ext cx="3295080" cy="1409700"/>
            <a:chOff x="4845620" y="1612900"/>
            <a:chExt cx="3295080" cy="14097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BEABED2-2187-7C39-A290-C5910014A4C6}"/>
                </a:ext>
              </a:extLst>
            </p:cNvPr>
            <p:cNvSpPr/>
            <p:nvPr/>
          </p:nvSpPr>
          <p:spPr>
            <a:xfrm>
              <a:off x="4845620" y="1612900"/>
              <a:ext cx="3295080" cy="1409700"/>
            </a:xfrm>
            <a:prstGeom prst="rect">
              <a:avLst/>
            </a:prstGeom>
            <a:solidFill>
              <a:srgbClr val="C2EA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66B328-9F87-F892-9EC3-2ABA6CDCDE23}"/>
                </a:ext>
              </a:extLst>
            </p:cNvPr>
            <p:cNvSpPr txBox="1"/>
            <p:nvPr/>
          </p:nvSpPr>
          <p:spPr>
            <a:xfrm>
              <a:off x="4845620" y="1620774"/>
              <a:ext cx="3295080" cy="11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  <a:ea typeface="+mn-ea"/>
                  <a:cs typeface="+mn-cs"/>
                </a:rPr>
                <a:t>10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  <a:ea typeface="+mn-ea"/>
                  <a:cs typeface="+mn-cs"/>
                </a:rPr>
                <a:t>x</a:t>
              </a: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39CF1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Raleway" pitchFamily="2" charset="77"/>
                </a:rPr>
                <a:t>More efficient than GPU batching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aleway" pitchFamily="2" charset="77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3BB8E7E-5134-19E7-2717-5E3A361D4493}"/>
              </a:ext>
            </a:extLst>
          </p:cNvPr>
          <p:cNvGrpSpPr/>
          <p:nvPr/>
        </p:nvGrpSpPr>
        <p:grpSpPr>
          <a:xfrm>
            <a:off x="4845620" y="3394841"/>
            <a:ext cx="3295080" cy="1409700"/>
            <a:chOff x="4845620" y="3394841"/>
            <a:chExt cx="3295080" cy="14097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0531FCD-D42A-9363-F5F4-017FADB2DBFC}"/>
                </a:ext>
              </a:extLst>
            </p:cNvPr>
            <p:cNvSpPr/>
            <p:nvPr/>
          </p:nvSpPr>
          <p:spPr>
            <a:xfrm>
              <a:off x="4845620" y="3394841"/>
              <a:ext cx="3295080" cy="1409700"/>
            </a:xfrm>
            <a:prstGeom prst="rect">
              <a:avLst/>
            </a:prstGeom>
            <a:solidFill>
              <a:srgbClr val="C2EA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27EC29D-FC82-FA5A-37BD-971DE5608848}"/>
                </a:ext>
              </a:extLst>
            </p:cNvPr>
            <p:cNvSpPr txBox="1"/>
            <p:nvPr/>
          </p:nvSpPr>
          <p:spPr>
            <a:xfrm>
              <a:off x="5135290" y="3409535"/>
              <a:ext cx="2715740" cy="13696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5400" b="1" dirty="0">
                  <a:solidFill>
                    <a:srgbClr val="239CF1"/>
                  </a:solidFill>
                  <a:latin typeface="Raleway" pitchFamily="2" charset="77"/>
                </a:rPr>
                <a:t>4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</a:rPr>
                <a:t>x</a:t>
              </a:r>
              <a:endParaRPr kumimoji="0" lang="en-US" sz="5400" i="0" u="none" strike="noStrike" kern="1200" cap="none" spc="0" normalizeH="0" baseline="0" noProof="0" dirty="0">
                <a:ln>
                  <a:noFill/>
                </a:ln>
                <a:solidFill>
                  <a:srgbClr val="239CF1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Raleway" pitchFamily="2" charset="77"/>
                </a:rPr>
                <a:t>F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aleway" pitchFamily="2" charset="77"/>
                </a:rPr>
                <a:t>aster inference throughput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algn="ctr">
                <a:spcAft>
                  <a:spcPts val="300"/>
                </a:spcAft>
              </a:pPr>
              <a:endParaRPr sz="1000" b="1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B10AB2-234E-EB84-BA77-34D607216581}"/>
              </a:ext>
            </a:extLst>
          </p:cNvPr>
          <p:cNvGrpSpPr/>
          <p:nvPr/>
        </p:nvGrpSpPr>
        <p:grpSpPr>
          <a:xfrm>
            <a:off x="1003300" y="1612900"/>
            <a:ext cx="3295080" cy="1409700"/>
            <a:chOff x="1003300" y="1612900"/>
            <a:chExt cx="3295080" cy="14097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A82A19-70C3-755A-C3AA-CC626AF27A79}"/>
                </a:ext>
              </a:extLst>
            </p:cNvPr>
            <p:cNvSpPr/>
            <p:nvPr/>
          </p:nvSpPr>
          <p:spPr>
            <a:xfrm>
              <a:off x="1003300" y="1612900"/>
              <a:ext cx="3295080" cy="1409700"/>
            </a:xfrm>
            <a:prstGeom prst="rect">
              <a:avLst/>
            </a:prstGeom>
            <a:solidFill>
              <a:srgbClr val="C2EA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5CF4BC-C738-C39E-6988-74CA4A05104C}"/>
                </a:ext>
              </a:extLst>
            </p:cNvPr>
            <p:cNvSpPr txBox="1"/>
            <p:nvPr/>
          </p:nvSpPr>
          <p:spPr>
            <a:xfrm>
              <a:off x="1285248" y="1620774"/>
              <a:ext cx="2731183" cy="11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sz="5400" b="1" dirty="0">
                  <a:solidFill>
                    <a:srgbClr val="239CF1"/>
                  </a:solidFill>
                  <a:latin typeface="Raleway" pitchFamily="2" charset="77"/>
                </a:rPr>
                <a:t>7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  <a:ea typeface="+mn-ea"/>
                  <a:cs typeface="+mn-cs"/>
                </a:rPr>
                <a:t>m</a:t>
              </a:r>
              <a:r>
                <a:rPr lang="en-US" sz="2400" b="1" dirty="0">
                  <a:solidFill>
                    <a:srgbClr val="239CF1"/>
                  </a:solidFill>
                  <a:latin typeface="Raleway" pitchFamily="2" charset="77"/>
                </a:rPr>
                <a:t>IOPS</a:t>
              </a: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39CF1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Raleway" pitchFamily="2" charset="77"/>
                </a:rPr>
                <a:t>I/O admission per second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aleway" pitchFamily="2" charset="7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FEF0CF6-CD49-8D97-1F3A-8560AEFCA7B8}"/>
              </a:ext>
            </a:extLst>
          </p:cNvPr>
          <p:cNvSpPr txBox="1"/>
          <p:nvPr/>
        </p:nvSpPr>
        <p:spPr>
          <a:xfrm>
            <a:off x="2887797" y="4991065"/>
            <a:ext cx="29065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latin typeface="Raleway" pitchFamily="2" charset="77"/>
              </a:rPr>
              <a:t>How Heimdall achieve this?</a:t>
            </a:r>
          </a:p>
        </p:txBody>
      </p:sp>
    </p:spTree>
    <p:extLst>
      <p:ext uri="{BB962C8B-B14F-4D97-AF65-F5344CB8AC3E}">
        <p14:creationId xmlns:p14="http://schemas.microsoft.com/office/powerpoint/2010/main" val="382728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08F1-6F52-E384-8599-119B6B10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16EB5-52F8-4ACF-703A-14D027A6F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6F0CFA-ABA6-2C51-5407-877E66A3C6BE}"/>
              </a:ext>
            </a:extLst>
          </p:cNvPr>
          <p:cNvSpPr txBox="1"/>
          <p:nvPr/>
        </p:nvSpPr>
        <p:spPr>
          <a:xfrm>
            <a:off x="152633" y="389435"/>
            <a:ext cx="4392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Accurate Labeling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8160B-094A-7CBD-4C53-66B916B8E03B}"/>
              </a:ext>
            </a:extLst>
          </p:cNvPr>
          <p:cNvSpPr txBox="1"/>
          <p:nvPr/>
        </p:nvSpPr>
        <p:spPr>
          <a:xfrm>
            <a:off x="160136" y="1707495"/>
            <a:ext cx="4455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Seer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[ASPLOS ‘19]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LinnOS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[OSDI ’20]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, </a:t>
            </a:r>
            <a:r>
              <a:rPr lang="en-US" sz="1400" b="1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Sage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[ASPLOS ‘21],</a:t>
            </a:r>
            <a:endParaRPr lang="en-US" sz="1400" dirty="0">
              <a:solidFill>
                <a:srgbClr val="000000"/>
              </a:solidFill>
              <a:latin typeface="Raleway" pitchFamily="2" charset="77"/>
              <a:cs typeface="Gill Sans" panose="020B0502020104020203" pitchFamily="34" charset="-79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Prophet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[ASPLOS ‘17], </a:t>
            </a:r>
            <a:r>
              <a:rPr lang="en-US" sz="1400" b="1" dirty="0" err="1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Laedge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[NSDI ‘21]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endParaRPr lang="en-US" sz="1400" dirty="0">
              <a:solidFill>
                <a:schemeClr val="bg1"/>
              </a:solidFill>
              <a:latin typeface="Raleway" pitchFamily="2" charset="77"/>
              <a:cs typeface="Gill Sans" panose="020B05020201040202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5FCB0-9ED5-6EBD-4280-14F3B1F64365}"/>
              </a:ext>
            </a:extLst>
          </p:cNvPr>
          <p:cNvSpPr txBox="1"/>
          <p:nvPr/>
        </p:nvSpPr>
        <p:spPr>
          <a:xfrm>
            <a:off x="157950" y="1100630"/>
            <a:ext cx="438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Prior works use </a:t>
            </a:r>
            <a:r>
              <a:rPr lang="en-US" sz="1800" b="1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Arial" charset="0"/>
              </a:rPr>
              <a:t>cutoff-based</a:t>
            </a:r>
            <a:r>
              <a:rPr lang="en-US" sz="1800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Arial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method on </a:t>
            </a:r>
            <a:r>
              <a:rPr lang="en-US" sz="18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uniform-sized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 I/</a:t>
            </a:r>
            <a:r>
              <a:rPr lang="en-US" sz="1800" dirty="0" err="1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Os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.</a:t>
            </a:r>
            <a:endParaRPr lang="en-US" sz="1800" dirty="0">
              <a:solidFill>
                <a:schemeClr val="bg1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252CC7-C1E6-B0D2-7774-F30C964D37A4}"/>
              </a:ext>
            </a:extLst>
          </p:cNvPr>
          <p:cNvSpPr/>
          <p:nvPr/>
        </p:nvSpPr>
        <p:spPr>
          <a:xfrm>
            <a:off x="725207" y="2482389"/>
            <a:ext cx="3221986" cy="523220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Raleway" pitchFamily="2" charset="77"/>
              </a:rPr>
              <a:t>I/O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BDDC99A5-4ADE-96D9-2C03-A7D2415BC52C}"/>
              </a:ext>
            </a:extLst>
          </p:cNvPr>
          <p:cNvSpPr/>
          <p:nvPr/>
        </p:nvSpPr>
        <p:spPr>
          <a:xfrm>
            <a:off x="2131976" y="3166402"/>
            <a:ext cx="375139" cy="890954"/>
          </a:xfrm>
          <a:prstGeom prst="down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1C3A53-28DD-011D-910E-EFE440271BBE}"/>
              </a:ext>
            </a:extLst>
          </p:cNvPr>
          <p:cNvSpPr/>
          <p:nvPr/>
        </p:nvSpPr>
        <p:spPr>
          <a:xfrm>
            <a:off x="708552" y="4218150"/>
            <a:ext cx="497301" cy="507422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77"/>
              </a:rPr>
              <a:t>I/O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2A2E35-38CA-EDFD-3718-A909063EF29C}"/>
              </a:ext>
            </a:extLst>
          </p:cNvPr>
          <p:cNvSpPr/>
          <p:nvPr/>
        </p:nvSpPr>
        <p:spPr>
          <a:xfrm>
            <a:off x="1294706" y="4218150"/>
            <a:ext cx="497301" cy="507422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77"/>
              </a:rPr>
              <a:t>I/O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226688-ABDD-4DB0-CE41-0339B3A02422}"/>
              </a:ext>
            </a:extLst>
          </p:cNvPr>
          <p:cNvSpPr/>
          <p:nvPr/>
        </p:nvSpPr>
        <p:spPr>
          <a:xfrm>
            <a:off x="3449892" y="4218150"/>
            <a:ext cx="497301" cy="507422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77"/>
              </a:rPr>
              <a:t>I/O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04DBE4-8E2A-41E8-AC9F-32B4693F8BBC}"/>
              </a:ext>
            </a:extLst>
          </p:cNvPr>
          <p:cNvSpPr/>
          <p:nvPr/>
        </p:nvSpPr>
        <p:spPr>
          <a:xfrm>
            <a:off x="2863738" y="4218150"/>
            <a:ext cx="497301" cy="507422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77"/>
              </a:rPr>
              <a:t>I/O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89E336-F9D1-98B8-2C27-310292832A54}"/>
              </a:ext>
            </a:extLst>
          </p:cNvPr>
          <p:cNvSpPr/>
          <p:nvPr/>
        </p:nvSpPr>
        <p:spPr>
          <a:xfrm>
            <a:off x="1866772" y="4218150"/>
            <a:ext cx="497301" cy="507422"/>
          </a:xfrm>
          <a:prstGeom prst="rect">
            <a:avLst/>
          </a:prstGeom>
          <a:solidFill>
            <a:srgbClr val="FFD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Raleway" pitchFamily="2" charset="77"/>
              </a:rPr>
              <a:t>I/O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198100-0798-085E-AE8E-41B2825B87CC}"/>
              </a:ext>
            </a:extLst>
          </p:cNvPr>
          <p:cNvSpPr txBox="1"/>
          <p:nvPr/>
        </p:nvSpPr>
        <p:spPr>
          <a:xfrm>
            <a:off x="2399242" y="3960243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Raleway" pitchFamily="2" charset="77"/>
              </a:rPr>
              <a:t>…</a:t>
            </a:r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19ACD8FC-11E0-11C8-48C6-0E8CC90D81E6}"/>
              </a:ext>
            </a:extLst>
          </p:cNvPr>
          <p:cNvSpPr/>
          <p:nvPr/>
        </p:nvSpPr>
        <p:spPr>
          <a:xfrm rot="21306773">
            <a:off x="2852328" y="3640467"/>
            <a:ext cx="2195503" cy="357951"/>
          </a:xfrm>
          <a:prstGeom prst="wedgeRoundRectCallout">
            <a:avLst>
              <a:gd name="adj1" fmla="val -71179"/>
              <a:gd name="adj2" fmla="val 63988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Uniform Page Size</a:t>
            </a:r>
            <a:endParaRPr lang="en-US" sz="1600" dirty="0">
              <a:solidFill>
                <a:schemeClr val="bg1"/>
              </a:solidFill>
              <a:latin typeface="Raleway" pitchFamily="2" charset="77"/>
              <a:cs typeface="Gill Sans" panose="020B0502020104020203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D7220-77F7-1F05-1778-CE1D40F11788}"/>
              </a:ext>
            </a:extLst>
          </p:cNvPr>
          <p:cNvSpPr txBox="1"/>
          <p:nvPr/>
        </p:nvSpPr>
        <p:spPr>
          <a:xfrm>
            <a:off x="-23798" y="5105538"/>
            <a:ext cx="4616117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Raleway" pitchFamily="2" charset="77"/>
              </a:rPr>
              <a:t>Too many inference </a:t>
            </a:r>
            <a:r>
              <a:rPr lang="en-US" sz="1600" b="1">
                <a:latin typeface="Raleway" pitchFamily="2" charset="77"/>
              </a:rPr>
              <a:t>(overhead)</a:t>
            </a:r>
            <a:endParaRPr lang="en-US" sz="1600" b="1" dirty="0"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8195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/>
      <p:bldP spid="21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A3575-82CF-2D04-267D-770BA056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C9C78-4E74-99F4-50B4-7F649E8F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276629-3791-6EFE-3463-600D47539B3E}"/>
              </a:ext>
            </a:extLst>
          </p:cNvPr>
          <p:cNvSpPr txBox="1"/>
          <p:nvPr/>
        </p:nvSpPr>
        <p:spPr>
          <a:xfrm>
            <a:off x="152633" y="389435"/>
            <a:ext cx="4392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Accurate Labeling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F69BB-595A-AB01-DF58-63B840E9836B}"/>
              </a:ext>
            </a:extLst>
          </p:cNvPr>
          <p:cNvSpPr txBox="1"/>
          <p:nvPr/>
        </p:nvSpPr>
        <p:spPr>
          <a:xfrm>
            <a:off x="160136" y="1707495"/>
            <a:ext cx="4455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Seer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[ASPLOS ‘19]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, </a:t>
            </a:r>
            <a:r>
              <a:rPr lang="en-US" sz="1400" b="1" dirty="0" err="1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LinnOS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[OSDI ’20]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, </a:t>
            </a:r>
            <a:r>
              <a:rPr lang="en-US" sz="1400" b="1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Sage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[ASPLOS ‘21],</a:t>
            </a:r>
            <a:endParaRPr lang="en-US" sz="1400" dirty="0">
              <a:solidFill>
                <a:srgbClr val="000000"/>
              </a:solidFill>
              <a:latin typeface="Raleway" pitchFamily="2" charset="77"/>
              <a:cs typeface="Gill Sans" panose="020B0502020104020203" pitchFamily="34" charset="-79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Prophet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[ASPLOS ‘17], </a:t>
            </a:r>
            <a:r>
              <a:rPr lang="en-US" sz="1400" b="1" dirty="0" err="1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Laedge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[NSDI ‘21]</a:t>
            </a:r>
            <a:r>
              <a:rPr lang="en-US" sz="1400" dirty="0">
                <a:solidFill>
                  <a:srgbClr val="000000"/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endParaRPr lang="en-US" sz="1400" dirty="0">
              <a:solidFill>
                <a:schemeClr val="bg1"/>
              </a:solidFill>
              <a:latin typeface="Raleway" pitchFamily="2" charset="77"/>
              <a:cs typeface="Gill Sans" panose="020B05020201040202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CF7CA-6EAF-D437-B5F1-5EAE028557A3}"/>
              </a:ext>
            </a:extLst>
          </p:cNvPr>
          <p:cNvSpPr txBox="1"/>
          <p:nvPr/>
        </p:nvSpPr>
        <p:spPr>
          <a:xfrm>
            <a:off x="157950" y="1100630"/>
            <a:ext cx="438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Prior works use </a:t>
            </a:r>
            <a:r>
              <a:rPr lang="en-US" sz="1800" b="1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Arial" charset="0"/>
              </a:rPr>
              <a:t>cutoff-based</a:t>
            </a:r>
            <a:r>
              <a:rPr lang="en-US" sz="1800" dirty="0">
                <a:solidFill>
                  <a:srgbClr val="FF0000"/>
                </a:solidFill>
                <a:latin typeface="Raleway" pitchFamily="2" charset="77"/>
                <a:ea typeface="Gill Sans" charset="0"/>
                <a:cs typeface="Arial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method on </a:t>
            </a:r>
            <a:r>
              <a:rPr lang="en-US" sz="18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uniform-sized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 I/</a:t>
            </a:r>
            <a:r>
              <a:rPr lang="en-US" sz="1800" dirty="0" err="1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Os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Arial" charset="0"/>
              </a:rPr>
              <a:t>.</a:t>
            </a:r>
            <a:endParaRPr lang="en-US" sz="1800" dirty="0">
              <a:solidFill>
                <a:schemeClr val="bg1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D8621-BECC-0793-73D5-2C24D043E19F}"/>
              </a:ext>
            </a:extLst>
          </p:cNvPr>
          <p:cNvSpPr txBox="1"/>
          <p:nvPr/>
        </p:nvSpPr>
        <p:spPr>
          <a:xfrm>
            <a:off x="-23798" y="5105538"/>
            <a:ext cx="4616117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Raleway" pitchFamily="2" charset="77"/>
              </a:rPr>
              <a:t>Inaccurate due to I/O size variations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C7800C9-88A9-0023-3B73-71FC61D00A7E}"/>
              </a:ext>
            </a:extLst>
          </p:cNvPr>
          <p:cNvGrpSpPr/>
          <p:nvPr/>
        </p:nvGrpSpPr>
        <p:grpSpPr>
          <a:xfrm>
            <a:off x="281370" y="2653667"/>
            <a:ext cx="2751423" cy="2292433"/>
            <a:chOff x="281370" y="2653667"/>
            <a:chExt cx="2751423" cy="2292433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B7BB3DB-7A00-5217-684B-7BDC71B3F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909" y="2653667"/>
              <a:ext cx="2706884" cy="229243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2E46049-76A2-6E5B-EB39-097D5CAAC6E2}"/>
                </a:ext>
              </a:extLst>
            </p:cNvPr>
            <p:cNvSpPr/>
            <p:nvPr/>
          </p:nvSpPr>
          <p:spPr>
            <a:xfrm>
              <a:off x="281370" y="2653667"/>
              <a:ext cx="377391" cy="27972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C32FEC94-9F45-06F9-5BAD-FE683A9F17D0}"/>
              </a:ext>
            </a:extLst>
          </p:cNvPr>
          <p:cNvSpPr/>
          <p:nvPr/>
        </p:nvSpPr>
        <p:spPr>
          <a:xfrm>
            <a:off x="2777641" y="2579674"/>
            <a:ext cx="1606688" cy="894105"/>
          </a:xfrm>
          <a:prstGeom prst="wedgeRoundRectCallout">
            <a:avLst>
              <a:gd name="adj1" fmla="val -72835"/>
              <a:gd name="adj2" fmla="val 14599"/>
              <a:gd name="adj3" fmla="val 16667"/>
            </a:avLst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Raleway" pitchFamily="2" charset="77"/>
              </a:rPr>
              <a:t>Big I/</a:t>
            </a:r>
            <a:r>
              <a:rPr lang="en-US" sz="1600" dirty="0" err="1">
                <a:solidFill>
                  <a:srgbClr val="FF0000"/>
                </a:solidFill>
                <a:latin typeface="Raleway" pitchFamily="2" charset="77"/>
              </a:rPr>
              <a:t>Os</a:t>
            </a:r>
            <a:r>
              <a:rPr lang="en-US" sz="1600" dirty="0">
                <a:solidFill>
                  <a:srgbClr val="FF0000"/>
                </a:solidFill>
                <a:latin typeface="Raleway" pitchFamily="2" charset="77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will always be </a:t>
            </a:r>
            <a:r>
              <a:rPr lang="en-US" sz="1600" dirty="0">
                <a:solidFill>
                  <a:srgbClr val="FF0000"/>
                </a:solidFill>
                <a:latin typeface="Raleway" pitchFamily="2" charset="77"/>
              </a:rPr>
              <a:t>slow 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anyway!</a:t>
            </a:r>
          </a:p>
        </p:txBody>
      </p:sp>
    </p:spTree>
    <p:extLst>
      <p:ext uri="{BB962C8B-B14F-4D97-AF65-F5344CB8AC3E}">
        <p14:creationId xmlns:p14="http://schemas.microsoft.com/office/powerpoint/2010/main" val="181033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ABB3A3-90D0-33C4-2A21-266B1E17B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95" y="2575696"/>
            <a:ext cx="2557967" cy="22412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1E767D-9498-7215-4D75-F7758775C1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5909" y="2653667"/>
            <a:ext cx="2706884" cy="229243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4686-9827-6A48-A276-EF3BF3B3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FEA69-7D09-7E43-AD4D-13B29FE1CCFC}"/>
              </a:ext>
            </a:extLst>
          </p:cNvPr>
          <p:cNvSpPr txBox="1"/>
          <p:nvPr/>
        </p:nvSpPr>
        <p:spPr>
          <a:xfrm>
            <a:off x="152633" y="389435"/>
            <a:ext cx="4392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Accurate Labeling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22057-C804-AC95-7489-CC8BE4A89C45}"/>
              </a:ext>
            </a:extLst>
          </p:cNvPr>
          <p:cNvSpPr txBox="1"/>
          <p:nvPr/>
        </p:nvSpPr>
        <p:spPr>
          <a:xfrm>
            <a:off x="160136" y="1707495"/>
            <a:ext cx="44551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Seer</a:t>
            </a:r>
            <a:r>
              <a:rPr lang="en-US" sz="12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[ASPLOS ‘19]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, </a:t>
            </a:r>
            <a:r>
              <a:rPr lang="en-US" sz="1400" b="1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LinnOS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[OSDI ’20]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, </a:t>
            </a:r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Sage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[ASPLOS ‘21],</a:t>
            </a:r>
            <a:endParaRPr lang="en-US" sz="1400" dirty="0">
              <a:solidFill>
                <a:schemeClr val="bg2">
                  <a:lumMod val="25000"/>
                  <a:lumOff val="75000"/>
                </a:schemeClr>
              </a:solidFill>
              <a:latin typeface="Raleway" pitchFamily="2" charset="77"/>
              <a:cs typeface="Gill Sans" panose="020B0502020104020203" pitchFamily="34" charset="-79"/>
            </a:endParaRPr>
          </a:p>
          <a:p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Prophet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[ASPLOS ‘17], </a:t>
            </a:r>
            <a:r>
              <a:rPr lang="en-US" sz="1400" b="1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Laedge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  <a:r>
              <a:rPr lang="en-US" sz="12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[NSDI ‘21]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cs typeface="Gill Sans" panose="020B0502020104020203" pitchFamily="34" charset="-79"/>
              </a:rPr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8D436D-737B-DDF3-1951-F86C9A3D79F5}"/>
              </a:ext>
            </a:extLst>
          </p:cNvPr>
          <p:cNvCxnSpPr>
            <a:cxnSpLocks/>
          </p:cNvCxnSpPr>
          <p:nvPr/>
        </p:nvCxnSpPr>
        <p:spPr>
          <a:xfrm>
            <a:off x="4592320" y="1322986"/>
            <a:ext cx="0" cy="4392014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D74FA5B-E3CF-8AD5-533D-FDB7DE30C01A}"/>
              </a:ext>
            </a:extLst>
          </p:cNvPr>
          <p:cNvSpPr txBox="1"/>
          <p:nvPr/>
        </p:nvSpPr>
        <p:spPr>
          <a:xfrm>
            <a:off x="-23798" y="5105538"/>
            <a:ext cx="4616117" cy="338554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solidFill>
              <a:schemeClr val="bg2">
                <a:lumMod val="25000"/>
                <a:lumOff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Raleway" pitchFamily="2" charset="77"/>
              </a:rPr>
              <a:t>Inaccurate due to I/O size variations</a:t>
            </a: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4E4F12C3-4146-60C9-FD7B-F310D1C659CC}"/>
              </a:ext>
            </a:extLst>
          </p:cNvPr>
          <p:cNvSpPr/>
          <p:nvPr/>
        </p:nvSpPr>
        <p:spPr>
          <a:xfrm>
            <a:off x="2777641" y="2579674"/>
            <a:ext cx="1606688" cy="894105"/>
          </a:xfrm>
          <a:prstGeom prst="wedgeRoundRectCallout">
            <a:avLst>
              <a:gd name="adj1" fmla="val -72835"/>
              <a:gd name="adj2" fmla="val 14599"/>
              <a:gd name="adj3" fmla="val 16667"/>
            </a:avLst>
          </a:prstGeom>
          <a:noFill/>
          <a:ln w="28575">
            <a:solidFill>
              <a:schemeClr val="bg2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</a:rPr>
              <a:t>Big I/</a:t>
            </a:r>
            <a:r>
              <a:rPr lang="en-US" sz="1600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</a:rPr>
              <a:t>Os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</a:rPr>
              <a:t> will always be slow anyway!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E2E04B-7F78-6BAA-D684-1EDAECEF8FC3}"/>
              </a:ext>
            </a:extLst>
          </p:cNvPr>
          <p:cNvSpPr txBox="1"/>
          <p:nvPr/>
        </p:nvSpPr>
        <p:spPr>
          <a:xfrm>
            <a:off x="4744998" y="1358536"/>
            <a:ext cx="4782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Heimdall 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uses</a:t>
            </a:r>
            <a:r>
              <a:rPr lang="en-US" sz="18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 </a:t>
            </a:r>
            <a:r>
              <a:rPr lang="en-US" sz="1800" b="1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rPr>
              <a:t>period-based </a:t>
            </a:r>
            <a:r>
              <a: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labeling</a:t>
            </a:r>
          </a:p>
        </p:txBody>
      </p:sp>
      <p:sp>
        <p:nvSpPr>
          <p:cNvPr id="35" name="Rounded Rectangular Callout 34">
            <a:extLst>
              <a:ext uri="{FF2B5EF4-FFF2-40B4-BE49-F238E27FC236}">
                <a16:creationId xmlns:a16="http://schemas.microsoft.com/office/drawing/2014/main" id="{567F1C5C-F416-2830-3AFB-580F845B8323}"/>
              </a:ext>
            </a:extLst>
          </p:cNvPr>
          <p:cNvSpPr/>
          <p:nvPr/>
        </p:nvSpPr>
        <p:spPr>
          <a:xfrm>
            <a:off x="7240361" y="2075416"/>
            <a:ext cx="888358" cy="630014"/>
          </a:xfrm>
          <a:prstGeom prst="wedgeRoundRectCallout">
            <a:avLst>
              <a:gd name="adj1" fmla="val -76507"/>
              <a:gd name="adj2" fmla="val 42091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Raleway" pitchFamily="2" charset="77"/>
              </a:rPr>
              <a:t>Slow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 period</a:t>
            </a:r>
            <a:endParaRPr lang="en-US" sz="1600" dirty="0">
              <a:solidFill>
                <a:srgbClr val="FF0000"/>
              </a:solidFill>
              <a:latin typeface="Raleway" pitchFamily="2" charset="77"/>
            </a:endParaRPr>
          </a:p>
        </p:txBody>
      </p:sp>
      <p:sp>
        <p:nvSpPr>
          <p:cNvPr id="65" name="Rounded Rectangular Callout 64">
            <a:extLst>
              <a:ext uri="{FF2B5EF4-FFF2-40B4-BE49-F238E27FC236}">
                <a16:creationId xmlns:a16="http://schemas.microsoft.com/office/drawing/2014/main" id="{FA685E14-58E0-6060-91BF-A91A676351E2}"/>
              </a:ext>
            </a:extLst>
          </p:cNvPr>
          <p:cNvSpPr/>
          <p:nvPr/>
        </p:nvSpPr>
        <p:spPr>
          <a:xfrm>
            <a:off x="5742444" y="1874342"/>
            <a:ext cx="1046035" cy="630014"/>
          </a:xfrm>
          <a:prstGeom prst="wedgeRoundRectCallout">
            <a:avLst>
              <a:gd name="adj1" fmla="val 41990"/>
              <a:gd name="adj2" fmla="val 80795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Latency</a:t>
            </a:r>
            <a:r>
              <a:rPr lang="en-US" sz="1600" b="1" dirty="0">
                <a:solidFill>
                  <a:schemeClr val="bg1"/>
                </a:solidFill>
                <a:latin typeface="Raleway" pitchFamily="2" charset="77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Raleway" pitchFamily="2" charset="77"/>
              </a:rPr>
              <a:t>spike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5E00F9-3838-CD92-7B40-A27EF69FD855}"/>
              </a:ext>
            </a:extLst>
          </p:cNvPr>
          <p:cNvSpPr txBox="1"/>
          <p:nvPr/>
        </p:nvSpPr>
        <p:spPr>
          <a:xfrm>
            <a:off x="6788479" y="1887569"/>
            <a:ext cx="3588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=</a:t>
            </a:r>
            <a:endParaRPr lang="en-US" sz="4000" dirty="0">
              <a:solidFill>
                <a:schemeClr val="bg1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67" name="Rounded Rectangular Callout 66">
            <a:extLst>
              <a:ext uri="{FF2B5EF4-FFF2-40B4-BE49-F238E27FC236}">
                <a16:creationId xmlns:a16="http://schemas.microsoft.com/office/drawing/2014/main" id="{96F09154-9091-6CC2-ECB5-8E9521686689}"/>
              </a:ext>
            </a:extLst>
          </p:cNvPr>
          <p:cNvSpPr/>
          <p:nvPr/>
        </p:nvSpPr>
        <p:spPr>
          <a:xfrm>
            <a:off x="5293942" y="4990330"/>
            <a:ext cx="2774267" cy="421845"/>
          </a:xfrm>
          <a:prstGeom prst="wedgeRoundRectCallout">
            <a:avLst>
              <a:gd name="adj1" fmla="val 30601"/>
              <a:gd name="adj2" fmla="val -5309"/>
              <a:gd name="adj3" fmla="val 16667"/>
            </a:avLst>
          </a:prstGeom>
          <a:solidFill>
            <a:schemeClr val="tx1"/>
          </a:solidFill>
          <a:ln w="28575">
            <a:solidFill>
              <a:srgbClr val="02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99FF"/>
                </a:solidFill>
                <a:latin typeface="Raleway" pitchFamily="2" charset="77"/>
                <a:ea typeface="Gill Sans" charset="0"/>
                <a:cs typeface="Gill Sans" charset="0"/>
              </a:rPr>
              <a:t>More accurate</a:t>
            </a:r>
            <a:r>
              <a:rPr lang="en-US" sz="1400" dirty="0">
                <a:solidFill>
                  <a:srgbClr val="0099FF"/>
                </a:solidFill>
                <a:latin typeface="Raleway" pitchFamily="2" charset="77"/>
                <a:ea typeface="Gill Sans" charset="0"/>
                <a:cs typeface="Gill Sans" charset="0"/>
              </a:rPr>
              <a:t> and </a:t>
            </a:r>
            <a:r>
              <a:rPr lang="en-US" sz="1400" b="1" dirty="0">
                <a:solidFill>
                  <a:srgbClr val="0099FF"/>
                </a:solidFill>
                <a:latin typeface="Raleway" pitchFamily="2" charset="77"/>
                <a:ea typeface="Gill Sans" charset="0"/>
                <a:cs typeface="Gill Sans" charset="0"/>
              </a:rPr>
              <a:t>dynamic!</a:t>
            </a:r>
            <a:endParaRPr lang="en-US" sz="1400" dirty="0">
              <a:solidFill>
                <a:srgbClr val="0099F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89A7C1E-4391-D20D-D555-7D08EC853295}"/>
              </a:ext>
            </a:extLst>
          </p:cNvPr>
          <p:cNvSpPr/>
          <p:nvPr/>
        </p:nvSpPr>
        <p:spPr>
          <a:xfrm>
            <a:off x="8137563" y="4864159"/>
            <a:ext cx="711593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50" dirty="0">
                <a:solidFill>
                  <a:srgbClr val="0299FF"/>
                </a:solidFill>
                <a:latin typeface="Raleway" pitchFamily="2" charset="77"/>
                <a:sym typeface="Wingdings" pitchFamily="2" charset="2"/>
              </a:rPr>
              <a:t></a:t>
            </a:r>
            <a:endParaRPr lang="en-US" sz="3000" dirty="0">
              <a:solidFill>
                <a:srgbClr val="0299FF"/>
              </a:solidFill>
              <a:latin typeface="Raleway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46480A-9769-99C9-13BF-6F4E92CF1CDD}"/>
              </a:ext>
            </a:extLst>
          </p:cNvPr>
          <p:cNvSpPr/>
          <p:nvPr/>
        </p:nvSpPr>
        <p:spPr>
          <a:xfrm>
            <a:off x="281370" y="2653667"/>
            <a:ext cx="377391" cy="27972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29FD1-9750-78C1-56B9-D7E90004BD08}"/>
              </a:ext>
            </a:extLst>
          </p:cNvPr>
          <p:cNvSpPr txBox="1"/>
          <p:nvPr/>
        </p:nvSpPr>
        <p:spPr>
          <a:xfrm>
            <a:off x="157950" y="1100630"/>
            <a:ext cx="4387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Prior works use </a:t>
            </a:r>
            <a:r>
              <a:rPr lang="en-US" sz="18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cutoff-based</a:t>
            </a:r>
            <a:r>
              <a:rPr lang="en-US" sz="18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 method on </a:t>
            </a:r>
            <a:r>
              <a:rPr lang="en-US" sz="18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uniform-sized</a:t>
            </a:r>
            <a:r>
              <a:rPr lang="en-US" sz="18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 I/</a:t>
            </a:r>
            <a:r>
              <a:rPr lang="en-US" sz="1800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Os</a:t>
            </a:r>
            <a:r>
              <a:rPr lang="en-US" sz="18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.</a:t>
            </a:r>
            <a:endParaRPr lang="en-US" sz="1800" dirty="0">
              <a:solidFill>
                <a:schemeClr val="bg2">
                  <a:lumMod val="25000"/>
                  <a:lumOff val="75000"/>
                </a:schemeClr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19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5" grpId="0" animBg="1"/>
      <p:bldP spid="65" grpId="0" animBg="1"/>
      <p:bldP spid="66" grpId="0"/>
      <p:bldP spid="67" grpId="0" animBg="1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4686-9827-6A48-A276-EF3BF3B3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4E5CB9-F7B6-72DE-3BD5-4A13EF2E0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288061" y="1930085"/>
            <a:ext cx="1703499" cy="1914678"/>
          </a:xfrm>
          <a:prstGeom prst="rect">
            <a:avLst/>
          </a:prstGeom>
        </p:spPr>
      </p:pic>
      <p:sp>
        <p:nvSpPr>
          <p:cNvPr id="19" name="Cloud 18">
            <a:extLst>
              <a:ext uri="{FF2B5EF4-FFF2-40B4-BE49-F238E27FC236}">
                <a16:creationId xmlns:a16="http://schemas.microsoft.com/office/drawing/2014/main" id="{5982EB61-4FBF-CCF5-6903-7C2CFE92982F}"/>
              </a:ext>
            </a:extLst>
          </p:cNvPr>
          <p:cNvSpPr/>
          <p:nvPr/>
        </p:nvSpPr>
        <p:spPr>
          <a:xfrm rot="265515">
            <a:off x="630274" y="1846296"/>
            <a:ext cx="3227514" cy="2210195"/>
          </a:xfrm>
          <a:prstGeom prst="cloud">
            <a:avLst/>
          </a:prstGeom>
          <a:noFill/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328C76A8-962F-7E7C-C026-B38432D3935E}"/>
              </a:ext>
            </a:extLst>
          </p:cNvPr>
          <p:cNvSpPr/>
          <p:nvPr/>
        </p:nvSpPr>
        <p:spPr>
          <a:xfrm>
            <a:off x="2720603" y="2055151"/>
            <a:ext cx="941711" cy="369333"/>
          </a:xfrm>
          <a:prstGeom prst="wedgeRoundRectCallout">
            <a:avLst>
              <a:gd name="adj1" fmla="val -73734"/>
              <a:gd name="adj2" fmla="val 16186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Raleway" pitchFamily="2" charset="77"/>
              </a:rPr>
              <a:t>Stable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C43CDF-B794-4492-EB41-86A9AA068BAD}"/>
              </a:ext>
            </a:extLst>
          </p:cNvPr>
          <p:cNvSpPr txBox="1"/>
          <p:nvPr/>
        </p:nvSpPr>
        <p:spPr>
          <a:xfrm>
            <a:off x="1532320" y="1360122"/>
            <a:ext cx="1555410" cy="338554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Raleway" pitchFamily="2" charset="77"/>
              </a:rPr>
              <a:t>Expectation…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DBE2ED-EA72-E37D-EED4-8C9297F8DD82}"/>
              </a:ext>
            </a:extLst>
          </p:cNvPr>
          <p:cNvSpPr txBox="1"/>
          <p:nvPr/>
        </p:nvSpPr>
        <p:spPr>
          <a:xfrm>
            <a:off x="152633" y="389435"/>
            <a:ext cx="4392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Accurate Labeling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04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0D39-F891-3F56-6169-37BD795C5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E27D1-3184-E20D-5927-C04C34C4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D18604-BC97-241B-2220-C8E9F6004D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1288061" y="1930085"/>
            <a:ext cx="1703499" cy="1914678"/>
          </a:xfrm>
          <a:prstGeom prst="rect">
            <a:avLst/>
          </a:prstGeom>
        </p:spPr>
      </p:pic>
      <p:sp>
        <p:nvSpPr>
          <p:cNvPr id="19" name="Cloud 18">
            <a:extLst>
              <a:ext uri="{FF2B5EF4-FFF2-40B4-BE49-F238E27FC236}">
                <a16:creationId xmlns:a16="http://schemas.microsoft.com/office/drawing/2014/main" id="{787A823D-A2ED-B26B-988E-99A7B74A123F}"/>
              </a:ext>
            </a:extLst>
          </p:cNvPr>
          <p:cNvSpPr/>
          <p:nvPr/>
        </p:nvSpPr>
        <p:spPr>
          <a:xfrm rot="265515">
            <a:off x="630274" y="1846296"/>
            <a:ext cx="3227514" cy="2210195"/>
          </a:xfrm>
          <a:prstGeom prst="cloud">
            <a:avLst/>
          </a:prstGeom>
          <a:noFill/>
          <a:ln w="28575"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E2DD52B8-6689-4508-D342-D322F6E746C6}"/>
              </a:ext>
            </a:extLst>
          </p:cNvPr>
          <p:cNvSpPr/>
          <p:nvPr/>
        </p:nvSpPr>
        <p:spPr>
          <a:xfrm>
            <a:off x="2720603" y="2055151"/>
            <a:ext cx="941711" cy="369333"/>
          </a:xfrm>
          <a:prstGeom prst="wedgeRoundRectCallout">
            <a:avLst>
              <a:gd name="adj1" fmla="val -73734"/>
              <a:gd name="adj2" fmla="val 16186"/>
              <a:gd name="adj3" fmla="val 16667"/>
            </a:avLst>
          </a:prstGeom>
          <a:solidFill>
            <a:schemeClr val="tx1"/>
          </a:solidFill>
          <a:ln w="28575">
            <a:solidFill>
              <a:schemeClr val="bg2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</a:rPr>
              <a:t>Stable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B6945E-F5F7-6E20-11A8-AE2866E714D7}"/>
              </a:ext>
            </a:extLst>
          </p:cNvPr>
          <p:cNvCxnSpPr>
            <a:cxnSpLocks/>
          </p:cNvCxnSpPr>
          <p:nvPr/>
        </p:nvCxnSpPr>
        <p:spPr>
          <a:xfrm>
            <a:off x="4441122" y="1446405"/>
            <a:ext cx="0" cy="255248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6F36DE6-8875-D5E8-3E6C-9EF99DD2757D}"/>
              </a:ext>
            </a:extLst>
          </p:cNvPr>
          <p:cNvSpPr txBox="1"/>
          <p:nvPr/>
        </p:nvSpPr>
        <p:spPr>
          <a:xfrm>
            <a:off x="1532320" y="1360122"/>
            <a:ext cx="1555410" cy="338554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Raleway" pitchFamily="2" charset="77"/>
              </a:rPr>
              <a:t>Expectation…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678DDF2-9E3C-DD76-B107-2112B57F9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503" y="3286613"/>
            <a:ext cx="532497" cy="532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D97A6B7-3537-1C25-930B-26FD0065951E}"/>
              </a:ext>
            </a:extLst>
          </p:cNvPr>
          <p:cNvGrpSpPr/>
          <p:nvPr/>
        </p:nvGrpSpPr>
        <p:grpSpPr>
          <a:xfrm>
            <a:off x="222755" y="4158354"/>
            <a:ext cx="8600279" cy="1290161"/>
            <a:chOff x="222755" y="4158354"/>
            <a:chExt cx="8600279" cy="129016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31AFD0-94BD-D520-AEFF-DA4FBD13BDA7}"/>
                </a:ext>
              </a:extLst>
            </p:cNvPr>
            <p:cNvSpPr txBox="1"/>
            <p:nvPr/>
          </p:nvSpPr>
          <p:spPr>
            <a:xfrm>
              <a:off x="222755" y="4682908"/>
              <a:ext cx="2590784" cy="369332"/>
            </a:xfrm>
            <a:prstGeom prst="rect">
              <a:avLst/>
            </a:prstGeom>
            <a:noFill/>
            <a:ln w="28575">
              <a:solidFill>
                <a:srgbClr val="0299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Period-based </a:t>
              </a: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method</a:t>
              </a:r>
              <a:endParaRPr lang="en-US" sz="1800" b="1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868B5AD-E3F2-415B-31D4-3291EDCC3EC1}"/>
                </a:ext>
              </a:extLst>
            </p:cNvPr>
            <p:cNvSpPr txBox="1"/>
            <p:nvPr/>
          </p:nvSpPr>
          <p:spPr>
            <a:xfrm>
              <a:off x="2783840" y="4682908"/>
              <a:ext cx="2058311" cy="4001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marL="9525" algn="r"/>
              <a:r>
                <a:rPr lang="en-US" sz="20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+</a:t>
              </a: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</a:t>
              </a:r>
              <a:r>
                <a:rPr lang="en-US" sz="18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Noise filtering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2CD7A39-1C82-3A77-ECA3-8CA823033E75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V="1">
              <a:off x="4842151" y="4494480"/>
              <a:ext cx="302487" cy="388483"/>
            </a:xfrm>
            <a:prstGeom prst="straightConnector1">
              <a:avLst/>
            </a:prstGeom>
            <a:ln w="28575" cmpd="sng">
              <a:solidFill>
                <a:schemeClr val="bg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D43C5E3-003C-E026-FDF6-B0CB33FBD46E}"/>
                </a:ext>
              </a:extLst>
            </p:cNvPr>
            <p:cNvSpPr txBox="1"/>
            <p:nvPr/>
          </p:nvSpPr>
          <p:spPr>
            <a:xfrm>
              <a:off x="5144638" y="4158354"/>
              <a:ext cx="3678396" cy="129016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marL="233363" indent="-223838">
                <a:lnSpc>
                  <a:spcPct val="150000"/>
                </a:lnSpc>
                <a:buAutoNum type="arabicPeriod"/>
              </a:pP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Outliers within the </a:t>
              </a:r>
              <a:r>
                <a:rPr lang="en-US" sz="1800" dirty="0">
                  <a:solidFill>
                    <a:srgbClr val="FF0000"/>
                  </a:solidFill>
                  <a:latin typeface="Raleway" pitchFamily="2" charset="77"/>
                  <a:ea typeface="Gill Sans" charset="0"/>
                  <a:cs typeface="Gill Sans" charset="0"/>
                </a:rPr>
                <a:t>slow</a:t>
              </a: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period </a:t>
              </a:r>
              <a:endParaRPr lang="en-US" sz="1800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  <a:p>
              <a:pPr marL="233363" indent="-223838">
                <a:lnSpc>
                  <a:spcPct val="150000"/>
                </a:lnSpc>
                <a:buAutoNum type="arabicPeriod"/>
              </a:pP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Outliers within the </a:t>
              </a:r>
              <a:r>
                <a:rPr lang="en-US" sz="1800" dirty="0">
                  <a:solidFill>
                    <a:srgbClr val="00B050"/>
                  </a:solidFill>
                  <a:latin typeface="Raleway" pitchFamily="2" charset="77"/>
                  <a:ea typeface="Gill Sans" charset="0"/>
                  <a:cs typeface="Gill Sans" charset="0"/>
                </a:rPr>
                <a:t>fast</a:t>
              </a: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period </a:t>
              </a:r>
            </a:p>
            <a:p>
              <a:pPr marL="233363" indent="-223838">
                <a:lnSpc>
                  <a:spcPct val="150000"/>
                </a:lnSpc>
                <a:buAutoNum type="arabicPeriod"/>
              </a:pPr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Short noises</a:t>
              </a: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B98D20F-5589-5537-07FA-52D6758101B1}"/>
                </a:ext>
              </a:extLst>
            </p:cNvPr>
            <p:cNvCxnSpPr>
              <a:cxnSpLocks/>
            </p:cNvCxnSpPr>
            <p:nvPr/>
          </p:nvCxnSpPr>
          <p:spPr>
            <a:xfrm>
              <a:off x="4842151" y="4867574"/>
              <a:ext cx="302487" cy="373094"/>
            </a:xfrm>
            <a:prstGeom prst="straightConnector1">
              <a:avLst/>
            </a:prstGeom>
            <a:ln w="28575" cmpd="sng">
              <a:solidFill>
                <a:schemeClr val="bg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28B60F3A-1D88-078C-F4B4-A81A4F314C9F}"/>
                </a:ext>
              </a:extLst>
            </p:cNvPr>
            <p:cNvCxnSpPr>
              <a:cxnSpLocks/>
            </p:cNvCxnSpPr>
            <p:nvPr/>
          </p:nvCxnSpPr>
          <p:spPr>
            <a:xfrm>
              <a:off x="4842151" y="4867574"/>
              <a:ext cx="301752" cy="0"/>
            </a:xfrm>
            <a:prstGeom prst="straightConnector1">
              <a:avLst/>
            </a:prstGeom>
            <a:ln w="28575" cmpd="sng">
              <a:solidFill>
                <a:schemeClr val="bg1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F2B8B54-8E05-A89A-C128-61B90685FFD8}"/>
              </a:ext>
            </a:extLst>
          </p:cNvPr>
          <p:cNvSpPr txBox="1"/>
          <p:nvPr/>
        </p:nvSpPr>
        <p:spPr>
          <a:xfrm>
            <a:off x="152633" y="389435"/>
            <a:ext cx="4392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Accurate Labeling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4DA535-9BAE-FF76-782E-3B75B220CA99}"/>
              </a:ext>
            </a:extLst>
          </p:cNvPr>
          <p:cNvGrpSpPr/>
          <p:nvPr/>
        </p:nvGrpSpPr>
        <p:grpSpPr>
          <a:xfrm>
            <a:off x="4743610" y="1360122"/>
            <a:ext cx="2733185" cy="1888806"/>
            <a:chOff x="4743610" y="1360122"/>
            <a:chExt cx="2733185" cy="188880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BF863A7-BBB0-BAD1-90AE-45D32EE39FA5}"/>
                </a:ext>
              </a:extLst>
            </p:cNvPr>
            <p:cNvGrpSpPr/>
            <p:nvPr/>
          </p:nvGrpSpPr>
          <p:grpSpPr>
            <a:xfrm>
              <a:off x="4743610" y="1360122"/>
              <a:ext cx="2727542" cy="1497378"/>
              <a:chOff x="4743610" y="1360122"/>
              <a:chExt cx="2727542" cy="149737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92EACAF-BFEF-8E91-2A0A-CF6F19A0E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56688"/>
              <a:stretch/>
            </p:blipFill>
            <p:spPr>
              <a:xfrm>
                <a:off x="4743610" y="1751957"/>
                <a:ext cx="2727542" cy="1105543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F96A9E9-0BA2-3718-987F-54AA5A9B0428}"/>
                  </a:ext>
                </a:extLst>
              </p:cNvPr>
              <p:cNvSpPr txBox="1"/>
              <p:nvPr/>
            </p:nvSpPr>
            <p:spPr>
              <a:xfrm>
                <a:off x="6008977" y="1360122"/>
                <a:ext cx="1351275" cy="33855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latin typeface="Raleway" pitchFamily="2" charset="77"/>
                  </a:rPr>
                  <a:t>In reality…</a:t>
                </a: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A2C4A6B-E994-6E28-E75B-4E927D766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4780"/>
            <a:stretch/>
          </p:blipFill>
          <p:spPr>
            <a:xfrm>
              <a:off x="4749253" y="2860445"/>
              <a:ext cx="2727542" cy="388483"/>
            </a:xfrm>
            <a:prstGeom prst="rect">
              <a:avLst/>
            </a:prstGeom>
          </p:spPr>
        </p:pic>
      </p:grpSp>
      <p:sp>
        <p:nvSpPr>
          <p:cNvPr id="18" name="Rounded Rectangular Callout 17">
            <a:extLst>
              <a:ext uri="{FF2B5EF4-FFF2-40B4-BE49-F238E27FC236}">
                <a16:creationId xmlns:a16="http://schemas.microsoft.com/office/drawing/2014/main" id="{93DDFE43-20F9-ACA6-40EF-64A57F77C2EC}"/>
              </a:ext>
            </a:extLst>
          </p:cNvPr>
          <p:cNvSpPr/>
          <p:nvPr/>
        </p:nvSpPr>
        <p:spPr>
          <a:xfrm>
            <a:off x="7378999" y="3356907"/>
            <a:ext cx="1116557" cy="369333"/>
          </a:xfrm>
          <a:prstGeom prst="wedgeRoundRectCallout">
            <a:avLst>
              <a:gd name="adj1" fmla="val -63402"/>
              <a:gd name="adj2" fmla="val -403795"/>
              <a:gd name="adj3" fmla="val 16667"/>
            </a:avLst>
          </a:prstGeom>
          <a:solidFill>
            <a:schemeClr val="tx1">
              <a:lumMod val="95000"/>
            </a:schemeClr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9900FF"/>
                </a:solidFill>
                <a:latin typeface="Raleway" pitchFamily="2" charset="77"/>
              </a:rPr>
              <a:t>Outliers!</a:t>
            </a:r>
            <a:endParaRPr lang="en-US" sz="1600" b="1" dirty="0">
              <a:solidFill>
                <a:srgbClr val="FF0000"/>
              </a:solidFill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7780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DE8084A-3696-CA54-9A02-8BD94E6FA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10" y="962857"/>
            <a:ext cx="5266257" cy="19287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4686-9827-6A48-A276-EF3BF3B3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FEA69-7D09-7E43-AD4D-13B29FE1CCFC}"/>
              </a:ext>
            </a:extLst>
          </p:cNvPr>
          <p:cNvSpPr txBox="1"/>
          <p:nvPr/>
        </p:nvSpPr>
        <p:spPr>
          <a:xfrm>
            <a:off x="152633" y="389435"/>
            <a:ext cx="5833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Holistic Pipeline Exploration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9865C9-46AF-B696-763C-1061CA996551}"/>
              </a:ext>
            </a:extLst>
          </p:cNvPr>
          <p:cNvGrpSpPr/>
          <p:nvPr/>
        </p:nvGrpSpPr>
        <p:grpSpPr>
          <a:xfrm>
            <a:off x="2754349" y="2862815"/>
            <a:ext cx="3435199" cy="941830"/>
            <a:chOff x="2754349" y="3514767"/>
            <a:chExt cx="3435199" cy="94183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BF44678-B30B-3AEA-0F55-6E3A28F835F8}"/>
                </a:ext>
              </a:extLst>
            </p:cNvPr>
            <p:cNvSpPr txBox="1"/>
            <p:nvPr/>
          </p:nvSpPr>
          <p:spPr>
            <a:xfrm>
              <a:off x="3130659" y="3562007"/>
              <a:ext cx="23279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Arial" charset="0"/>
                </a:rPr>
                <a:t>Four main </a:t>
              </a:r>
              <a:r>
                <a:rPr lang="en-US" sz="16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Arial" charset="0"/>
                </a:rPr>
                <a:t>features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Arial" charset="0"/>
                </a:rPr>
                <a:t> </a:t>
              </a:r>
              <a:r>
                <a:rPr lang="en-US" sz="16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Arial" charset="0"/>
                </a:rPr>
                <a:t>: </a:t>
              </a:r>
              <a:r>
                <a:rPr lang="en-US" sz="16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83218AD-258C-1ADD-6D88-C1E3C10948A2}"/>
                </a:ext>
              </a:extLst>
            </p:cNvPr>
            <p:cNvSpPr txBox="1"/>
            <p:nvPr/>
          </p:nvSpPr>
          <p:spPr>
            <a:xfrm>
              <a:off x="3005918" y="3871822"/>
              <a:ext cx="31836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● Queue length </a:t>
              </a:r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● I/O size</a:t>
              </a:r>
            </a:p>
            <a:p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● Latency             ● Throughput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7A5E3961-3EAC-0CF1-979E-9C78BD6C2145}"/>
                </a:ext>
              </a:extLst>
            </p:cNvPr>
            <p:cNvGrpSpPr/>
            <p:nvPr/>
          </p:nvGrpSpPr>
          <p:grpSpPr>
            <a:xfrm>
              <a:off x="2754349" y="3514767"/>
              <a:ext cx="369016" cy="369333"/>
              <a:chOff x="7691057" y="2512766"/>
              <a:chExt cx="553000" cy="553475"/>
            </a:xfrm>
            <a:solidFill>
              <a:srgbClr val="0096FF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AC6DDCE-5A8D-8CFA-1C94-B0B167B4AFBC}"/>
                  </a:ext>
                </a:extLst>
              </p:cNvPr>
              <p:cNvSpPr/>
              <p:nvPr/>
            </p:nvSpPr>
            <p:spPr>
              <a:xfrm>
                <a:off x="7954733" y="2512766"/>
                <a:ext cx="25974" cy="92457"/>
              </a:xfrm>
              <a:custGeom>
                <a:avLst/>
                <a:gdLst>
                  <a:gd name="connsiteX0" fmla="*/ 10020 w 20040"/>
                  <a:gd name="connsiteY0" fmla="*/ 0 h 71335"/>
                  <a:gd name="connsiteX1" fmla="*/ 20040 w 20040"/>
                  <a:gd name="connsiteY1" fmla="*/ 10020 h 71335"/>
                  <a:gd name="connsiteX2" fmla="*/ 20040 w 20040"/>
                  <a:gd name="connsiteY2" fmla="*/ 61315 h 71335"/>
                  <a:gd name="connsiteX3" fmla="*/ 10020 w 20040"/>
                  <a:gd name="connsiteY3" fmla="*/ 71335 h 71335"/>
                  <a:gd name="connsiteX4" fmla="*/ 0 w 20040"/>
                  <a:gd name="connsiteY4" fmla="*/ 61315 h 71335"/>
                  <a:gd name="connsiteX5" fmla="*/ 0 w 20040"/>
                  <a:gd name="connsiteY5" fmla="*/ 10020 h 71335"/>
                  <a:gd name="connsiteX6" fmla="*/ 10020 w 20040"/>
                  <a:gd name="connsiteY6" fmla="*/ 0 h 7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40" h="71335">
                    <a:moveTo>
                      <a:pt x="10020" y="0"/>
                    </a:moveTo>
                    <a:cubicBezTo>
                      <a:pt x="15554" y="0"/>
                      <a:pt x="20040" y="4486"/>
                      <a:pt x="20040" y="10020"/>
                    </a:cubicBezTo>
                    <a:cubicBezTo>
                      <a:pt x="20040" y="27119"/>
                      <a:pt x="20040" y="44217"/>
                      <a:pt x="20040" y="61315"/>
                    </a:cubicBezTo>
                    <a:cubicBezTo>
                      <a:pt x="19226" y="66620"/>
                      <a:pt x="16167" y="70802"/>
                      <a:pt x="10020" y="71335"/>
                    </a:cubicBezTo>
                    <a:cubicBezTo>
                      <a:pt x="7169" y="70996"/>
                      <a:pt x="1670" y="71535"/>
                      <a:pt x="0" y="61315"/>
                    </a:cubicBezTo>
                    <a:lnTo>
                      <a:pt x="0" y="10020"/>
                    </a:lnTo>
                    <a:cubicBezTo>
                      <a:pt x="0" y="4486"/>
                      <a:pt x="4486" y="0"/>
                      <a:pt x="100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53F7177-240A-2287-2160-21456CF9CDB8}"/>
                  </a:ext>
                </a:extLst>
              </p:cNvPr>
              <p:cNvSpPr/>
              <p:nvPr/>
            </p:nvSpPr>
            <p:spPr>
              <a:xfrm>
                <a:off x="7807901" y="2555822"/>
                <a:ext cx="60943" cy="83019"/>
              </a:xfrm>
              <a:custGeom>
                <a:avLst/>
                <a:gdLst>
                  <a:gd name="connsiteX0" fmla="*/ 11085 w 47021"/>
                  <a:gd name="connsiteY0" fmla="*/ 32 h 64053"/>
                  <a:gd name="connsiteX1" fmla="*/ 19135 w 47021"/>
                  <a:gd name="connsiteY1" fmla="*/ 5030 h 64053"/>
                  <a:gd name="connsiteX2" fmla="*/ 45532 w 47021"/>
                  <a:gd name="connsiteY2" fmla="*/ 48493 h 64053"/>
                  <a:gd name="connsiteX3" fmla="*/ 42094 w 47021"/>
                  <a:gd name="connsiteY3" fmla="*/ 62564 h 64053"/>
                  <a:gd name="connsiteX4" fmla="*/ 28023 w 47021"/>
                  <a:gd name="connsiteY4" fmla="*/ 59126 h 64053"/>
                  <a:gd name="connsiteX5" fmla="*/ 1626 w 47021"/>
                  <a:gd name="connsiteY5" fmla="*/ 15664 h 64053"/>
                  <a:gd name="connsiteX6" fmla="*/ 5064 w 47021"/>
                  <a:gd name="connsiteY6" fmla="*/ 1593 h 64053"/>
                  <a:gd name="connsiteX7" fmla="*/ 11085 w 47021"/>
                  <a:gd name="connsiteY7" fmla="*/ 32 h 64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21" h="64053">
                    <a:moveTo>
                      <a:pt x="11085" y="32"/>
                    </a:moveTo>
                    <a:cubicBezTo>
                      <a:pt x="13536" y="241"/>
                      <a:pt x="16324" y="1543"/>
                      <a:pt x="19135" y="5030"/>
                    </a:cubicBezTo>
                    <a:lnTo>
                      <a:pt x="45532" y="48493"/>
                    </a:lnTo>
                    <a:cubicBezTo>
                      <a:pt x="48468" y="53327"/>
                      <a:pt x="46929" y="59627"/>
                      <a:pt x="42094" y="62564"/>
                    </a:cubicBezTo>
                    <a:cubicBezTo>
                      <a:pt x="37260" y="65500"/>
                      <a:pt x="30960" y="63961"/>
                      <a:pt x="28023" y="59126"/>
                    </a:cubicBezTo>
                    <a:lnTo>
                      <a:pt x="1626" y="15664"/>
                    </a:lnTo>
                    <a:cubicBezTo>
                      <a:pt x="-2481" y="9162"/>
                      <a:pt x="2146" y="3365"/>
                      <a:pt x="5064" y="1593"/>
                    </a:cubicBezTo>
                    <a:cubicBezTo>
                      <a:pt x="6523" y="707"/>
                      <a:pt x="8635" y="-177"/>
                      <a:pt x="11085" y="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53A7D5D5-28FB-B512-88F9-7B3187B36855}"/>
                  </a:ext>
                </a:extLst>
              </p:cNvPr>
              <p:cNvSpPr/>
              <p:nvPr/>
            </p:nvSpPr>
            <p:spPr>
              <a:xfrm>
                <a:off x="8064823" y="2555817"/>
                <a:ext cx="60959" cy="82943"/>
              </a:xfrm>
              <a:custGeom>
                <a:avLst/>
                <a:gdLst>
                  <a:gd name="connsiteX0" fmla="*/ 34168 w 47033"/>
                  <a:gd name="connsiteY0" fmla="*/ 299 h 63995"/>
                  <a:gd name="connsiteX1" fmla="*/ 42032 w 47033"/>
                  <a:gd name="connsiteY1" fmla="*/ 1513 h 63995"/>
                  <a:gd name="connsiteX2" fmla="*/ 45521 w 47033"/>
                  <a:gd name="connsiteY2" fmla="*/ 15795 h 63995"/>
                  <a:gd name="connsiteX3" fmla="*/ 19284 w 47033"/>
                  <a:gd name="connsiteY3" fmla="*/ 58994 h 63995"/>
                  <a:gd name="connsiteX4" fmla="*/ 5002 w 47033"/>
                  <a:gd name="connsiteY4" fmla="*/ 62483 h 63995"/>
                  <a:gd name="connsiteX5" fmla="*/ 1513 w 47033"/>
                  <a:gd name="connsiteY5" fmla="*/ 48201 h 63995"/>
                  <a:gd name="connsiteX6" fmla="*/ 27750 w 47033"/>
                  <a:gd name="connsiteY6" fmla="*/ 5001 h 63995"/>
                  <a:gd name="connsiteX7" fmla="*/ 34168 w 47033"/>
                  <a:gd name="connsiteY7" fmla="*/ 299 h 63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33" h="63995">
                    <a:moveTo>
                      <a:pt x="34168" y="299"/>
                    </a:moveTo>
                    <a:cubicBezTo>
                      <a:pt x="36753" y="-332"/>
                      <a:pt x="39578" y="22"/>
                      <a:pt x="42032" y="1513"/>
                    </a:cubicBezTo>
                    <a:cubicBezTo>
                      <a:pt x="46939" y="4493"/>
                      <a:pt x="48502" y="10887"/>
                      <a:pt x="45521" y="15795"/>
                    </a:cubicBezTo>
                    <a:lnTo>
                      <a:pt x="19284" y="58994"/>
                    </a:lnTo>
                    <a:cubicBezTo>
                      <a:pt x="16304" y="63902"/>
                      <a:pt x="9909" y="65464"/>
                      <a:pt x="5002" y="62483"/>
                    </a:cubicBezTo>
                    <a:cubicBezTo>
                      <a:pt x="94" y="59503"/>
                      <a:pt x="-1468" y="53108"/>
                      <a:pt x="1513" y="48201"/>
                    </a:cubicBezTo>
                    <a:lnTo>
                      <a:pt x="27750" y="5001"/>
                    </a:lnTo>
                    <a:cubicBezTo>
                      <a:pt x="29240" y="2548"/>
                      <a:pt x="31584" y="930"/>
                      <a:pt x="34168" y="2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CD5F54F8-4C2F-926F-8736-464A455D4650}"/>
                  </a:ext>
                </a:extLst>
              </p:cNvPr>
              <p:cNvSpPr/>
              <p:nvPr/>
            </p:nvSpPr>
            <p:spPr>
              <a:xfrm>
                <a:off x="7823319" y="2656561"/>
                <a:ext cx="285897" cy="302403"/>
              </a:xfrm>
              <a:custGeom>
                <a:avLst/>
                <a:gdLst>
                  <a:gd name="connsiteX0" fmla="*/ 148196 w 221978"/>
                  <a:gd name="connsiteY0" fmla="*/ 100727 h 233319"/>
                  <a:gd name="connsiteX1" fmla="*/ 139456 w 221978"/>
                  <a:gd name="connsiteY1" fmla="*/ 102643 h 233319"/>
                  <a:gd name="connsiteX2" fmla="*/ 111846 w 221978"/>
                  <a:gd name="connsiteY2" fmla="*/ 112165 h 233319"/>
                  <a:gd name="connsiteX3" fmla="*/ 83905 w 221978"/>
                  <a:gd name="connsiteY3" fmla="*/ 102910 h 233319"/>
                  <a:gd name="connsiteX4" fmla="*/ 78955 w 221978"/>
                  <a:gd name="connsiteY4" fmla="*/ 110817 h 233319"/>
                  <a:gd name="connsiteX5" fmla="*/ 106989 w 221978"/>
                  <a:gd name="connsiteY5" fmla="*/ 185136 h 233319"/>
                  <a:gd name="connsiteX6" fmla="*/ 113999 w 221978"/>
                  <a:gd name="connsiteY6" fmla="*/ 186579 h 233319"/>
                  <a:gd name="connsiteX7" fmla="*/ 145642 w 221978"/>
                  <a:gd name="connsiteY7" fmla="*/ 108951 h 233319"/>
                  <a:gd name="connsiteX8" fmla="*/ 148196 w 221978"/>
                  <a:gd name="connsiteY8" fmla="*/ 100727 h 233319"/>
                  <a:gd name="connsiteX9" fmla="*/ 113768 w 221978"/>
                  <a:gd name="connsiteY9" fmla="*/ 0 h 233319"/>
                  <a:gd name="connsiteX10" fmla="*/ 195210 w 221978"/>
                  <a:gd name="connsiteY10" fmla="*/ 176513 h 233319"/>
                  <a:gd name="connsiteX11" fmla="*/ 164616 w 221978"/>
                  <a:gd name="connsiteY11" fmla="*/ 233319 h 233319"/>
                  <a:gd name="connsiteX12" fmla="*/ 56912 w 221978"/>
                  <a:gd name="connsiteY12" fmla="*/ 233319 h 233319"/>
                  <a:gd name="connsiteX13" fmla="*/ 21456 w 221978"/>
                  <a:gd name="connsiteY13" fmla="*/ 167623 h 233319"/>
                  <a:gd name="connsiteX14" fmla="*/ 113768 w 221978"/>
                  <a:gd name="connsiteY14" fmla="*/ 0 h 233319"/>
                  <a:gd name="connsiteX0" fmla="*/ 148196 w 220584"/>
                  <a:gd name="connsiteY0" fmla="*/ 100727 h 233319"/>
                  <a:gd name="connsiteX1" fmla="*/ 139456 w 220584"/>
                  <a:gd name="connsiteY1" fmla="*/ 102643 h 233319"/>
                  <a:gd name="connsiteX2" fmla="*/ 111846 w 220584"/>
                  <a:gd name="connsiteY2" fmla="*/ 112165 h 233319"/>
                  <a:gd name="connsiteX3" fmla="*/ 83905 w 220584"/>
                  <a:gd name="connsiteY3" fmla="*/ 102910 h 233319"/>
                  <a:gd name="connsiteX4" fmla="*/ 78955 w 220584"/>
                  <a:gd name="connsiteY4" fmla="*/ 110817 h 233319"/>
                  <a:gd name="connsiteX5" fmla="*/ 106989 w 220584"/>
                  <a:gd name="connsiteY5" fmla="*/ 185136 h 233319"/>
                  <a:gd name="connsiteX6" fmla="*/ 113999 w 220584"/>
                  <a:gd name="connsiteY6" fmla="*/ 186579 h 233319"/>
                  <a:gd name="connsiteX7" fmla="*/ 145642 w 220584"/>
                  <a:gd name="connsiteY7" fmla="*/ 108951 h 233319"/>
                  <a:gd name="connsiteX8" fmla="*/ 148196 w 220584"/>
                  <a:gd name="connsiteY8" fmla="*/ 100727 h 233319"/>
                  <a:gd name="connsiteX9" fmla="*/ 113768 w 220584"/>
                  <a:gd name="connsiteY9" fmla="*/ 0 h 233319"/>
                  <a:gd name="connsiteX10" fmla="*/ 195210 w 220584"/>
                  <a:gd name="connsiteY10" fmla="*/ 176513 h 233319"/>
                  <a:gd name="connsiteX11" fmla="*/ 164616 w 220584"/>
                  <a:gd name="connsiteY11" fmla="*/ 233319 h 233319"/>
                  <a:gd name="connsiteX12" fmla="*/ 56912 w 220584"/>
                  <a:gd name="connsiteY12" fmla="*/ 233319 h 233319"/>
                  <a:gd name="connsiteX13" fmla="*/ 21456 w 220584"/>
                  <a:gd name="connsiteY13" fmla="*/ 167623 h 233319"/>
                  <a:gd name="connsiteX14" fmla="*/ 113768 w 220584"/>
                  <a:gd name="connsiteY14" fmla="*/ 0 h 233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0584" h="233319">
                    <a:moveTo>
                      <a:pt x="148196" y="100727"/>
                    </a:moveTo>
                    <a:cubicBezTo>
                      <a:pt x="146528" y="99132"/>
                      <a:pt x="142979" y="99227"/>
                      <a:pt x="139456" y="102643"/>
                    </a:cubicBezTo>
                    <a:cubicBezTo>
                      <a:pt x="130654" y="109347"/>
                      <a:pt x="121031" y="112275"/>
                      <a:pt x="111846" y="112165"/>
                    </a:cubicBezTo>
                    <a:cubicBezTo>
                      <a:pt x="105846" y="112808"/>
                      <a:pt x="93976" y="110134"/>
                      <a:pt x="83905" y="102910"/>
                    </a:cubicBezTo>
                    <a:cubicBezTo>
                      <a:pt x="71294" y="95750"/>
                      <a:pt x="71132" y="105075"/>
                      <a:pt x="78955" y="110817"/>
                    </a:cubicBezTo>
                    <a:cubicBezTo>
                      <a:pt x="97987" y="129977"/>
                      <a:pt x="107848" y="156107"/>
                      <a:pt x="106989" y="185136"/>
                    </a:cubicBezTo>
                    <a:cubicBezTo>
                      <a:pt x="107344" y="193481"/>
                      <a:pt x="113769" y="191379"/>
                      <a:pt x="113999" y="186579"/>
                    </a:cubicBezTo>
                    <a:cubicBezTo>
                      <a:pt x="117445" y="161891"/>
                      <a:pt x="124658" y="130909"/>
                      <a:pt x="145642" y="108951"/>
                    </a:cubicBezTo>
                    <a:cubicBezTo>
                      <a:pt x="149649" y="105607"/>
                      <a:pt x="149863" y="102322"/>
                      <a:pt x="148196" y="100727"/>
                    </a:cubicBezTo>
                    <a:close/>
                    <a:moveTo>
                      <a:pt x="113768" y="0"/>
                    </a:moveTo>
                    <a:cubicBezTo>
                      <a:pt x="214371" y="182"/>
                      <a:pt x="249363" y="112029"/>
                      <a:pt x="195210" y="176513"/>
                    </a:cubicBezTo>
                    <a:cubicBezTo>
                      <a:pt x="182059" y="195448"/>
                      <a:pt x="172353" y="207985"/>
                      <a:pt x="164616" y="233319"/>
                    </a:cubicBezTo>
                    <a:lnTo>
                      <a:pt x="56912" y="233319"/>
                    </a:lnTo>
                    <a:cubicBezTo>
                      <a:pt x="52968" y="210928"/>
                      <a:pt x="40165" y="192967"/>
                      <a:pt x="21456" y="167623"/>
                    </a:cubicBezTo>
                    <a:cubicBezTo>
                      <a:pt x="-27843" y="108939"/>
                      <a:pt x="9832" y="344"/>
                      <a:pt x="1137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19865FC4-FE3A-B3D0-88FB-12ACFB78031A}"/>
                  </a:ext>
                </a:extLst>
              </p:cNvPr>
              <p:cNvSpPr/>
              <p:nvPr/>
            </p:nvSpPr>
            <p:spPr>
              <a:xfrm>
                <a:off x="8138445" y="2667325"/>
                <a:ext cx="82100" cy="59579"/>
              </a:xfrm>
              <a:custGeom>
                <a:avLst/>
                <a:gdLst>
                  <a:gd name="connsiteX0" fmla="*/ 56475 w 63344"/>
                  <a:gd name="connsiteY0" fmla="*/ 240 h 45968"/>
                  <a:gd name="connsiteX1" fmla="*/ 62011 w 63344"/>
                  <a:gd name="connsiteY1" fmla="*/ 4229 h 45968"/>
                  <a:gd name="connsiteX2" fmla="*/ 59116 w 63344"/>
                  <a:gd name="connsiteY2" fmla="*/ 16500 h 45968"/>
                  <a:gd name="connsiteX3" fmla="*/ 13606 w 63344"/>
                  <a:gd name="connsiteY3" fmla="*/ 44635 h 45968"/>
                  <a:gd name="connsiteX4" fmla="*/ 1334 w 63344"/>
                  <a:gd name="connsiteY4" fmla="*/ 41740 h 45968"/>
                  <a:gd name="connsiteX5" fmla="*/ 4230 w 63344"/>
                  <a:gd name="connsiteY5" fmla="*/ 29468 h 45968"/>
                  <a:gd name="connsiteX6" fmla="*/ 49740 w 63344"/>
                  <a:gd name="connsiteY6" fmla="*/ 1334 h 45968"/>
                  <a:gd name="connsiteX7" fmla="*/ 56475 w 63344"/>
                  <a:gd name="connsiteY7" fmla="*/ 240 h 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44" h="45968">
                    <a:moveTo>
                      <a:pt x="56475" y="240"/>
                    </a:moveTo>
                    <a:cubicBezTo>
                      <a:pt x="58696" y="764"/>
                      <a:pt x="60717" y="2135"/>
                      <a:pt x="62011" y="4229"/>
                    </a:cubicBezTo>
                    <a:cubicBezTo>
                      <a:pt x="64600" y="8417"/>
                      <a:pt x="63304" y="13911"/>
                      <a:pt x="59116" y="16500"/>
                    </a:cubicBezTo>
                    <a:lnTo>
                      <a:pt x="13606" y="44635"/>
                    </a:lnTo>
                    <a:cubicBezTo>
                      <a:pt x="9418" y="47224"/>
                      <a:pt x="3924" y="45928"/>
                      <a:pt x="1334" y="41740"/>
                    </a:cubicBezTo>
                    <a:cubicBezTo>
                      <a:pt x="-1255" y="37552"/>
                      <a:pt x="42" y="32058"/>
                      <a:pt x="4230" y="29468"/>
                    </a:cubicBezTo>
                    <a:lnTo>
                      <a:pt x="49740" y="1334"/>
                    </a:lnTo>
                    <a:cubicBezTo>
                      <a:pt x="51834" y="39"/>
                      <a:pt x="54254" y="-284"/>
                      <a:pt x="56475" y="24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0BBE6CA7-2836-3821-F1F4-39789C42FBB8}"/>
                  </a:ext>
                </a:extLst>
              </p:cNvPr>
              <p:cNvSpPr/>
              <p:nvPr/>
            </p:nvSpPr>
            <p:spPr>
              <a:xfrm>
                <a:off x="7711625" y="2671122"/>
                <a:ext cx="81980" cy="59205"/>
              </a:xfrm>
              <a:custGeom>
                <a:avLst/>
                <a:gdLst>
                  <a:gd name="connsiteX0" fmla="*/ 6636 w 63252"/>
                  <a:gd name="connsiteY0" fmla="*/ 232 h 45680"/>
                  <a:gd name="connsiteX1" fmla="*/ 13142 w 63252"/>
                  <a:gd name="connsiteY1" fmla="*/ 1288 h 45680"/>
                  <a:gd name="connsiteX2" fmla="*/ 59168 w 63252"/>
                  <a:gd name="connsiteY2" fmla="*/ 29742 h 45680"/>
                  <a:gd name="connsiteX3" fmla="*/ 61965 w 63252"/>
                  <a:gd name="connsiteY3" fmla="*/ 41596 h 45680"/>
                  <a:gd name="connsiteX4" fmla="*/ 50111 w 63252"/>
                  <a:gd name="connsiteY4" fmla="*/ 44392 h 45680"/>
                  <a:gd name="connsiteX5" fmla="*/ 4085 w 63252"/>
                  <a:gd name="connsiteY5" fmla="*/ 15939 h 45680"/>
                  <a:gd name="connsiteX6" fmla="*/ 1288 w 63252"/>
                  <a:gd name="connsiteY6" fmla="*/ 4085 h 45680"/>
                  <a:gd name="connsiteX7" fmla="*/ 6636 w 63252"/>
                  <a:gd name="connsiteY7" fmla="*/ 232 h 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252" h="45680">
                    <a:moveTo>
                      <a:pt x="6636" y="232"/>
                    </a:moveTo>
                    <a:cubicBezTo>
                      <a:pt x="8781" y="-274"/>
                      <a:pt x="11119" y="38"/>
                      <a:pt x="13142" y="1288"/>
                    </a:cubicBezTo>
                    <a:lnTo>
                      <a:pt x="59168" y="29742"/>
                    </a:lnTo>
                    <a:cubicBezTo>
                      <a:pt x="63214" y="32243"/>
                      <a:pt x="64466" y="37550"/>
                      <a:pt x="61965" y="41596"/>
                    </a:cubicBezTo>
                    <a:cubicBezTo>
                      <a:pt x="59463" y="45641"/>
                      <a:pt x="54156" y="46894"/>
                      <a:pt x="50111" y="44392"/>
                    </a:cubicBezTo>
                    <a:lnTo>
                      <a:pt x="4085" y="15939"/>
                    </a:lnTo>
                    <a:cubicBezTo>
                      <a:pt x="39" y="13438"/>
                      <a:pt x="-1213" y="8131"/>
                      <a:pt x="1288" y="4085"/>
                    </a:cubicBezTo>
                    <a:cubicBezTo>
                      <a:pt x="2539" y="2062"/>
                      <a:pt x="4491" y="738"/>
                      <a:pt x="6636" y="2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B2867E64-773D-3895-EA20-0A10C7370CFE}"/>
                  </a:ext>
                </a:extLst>
              </p:cNvPr>
              <p:cNvSpPr/>
              <p:nvPr/>
            </p:nvSpPr>
            <p:spPr>
              <a:xfrm>
                <a:off x="7691057" y="2801906"/>
                <a:ext cx="92511" cy="26429"/>
              </a:xfrm>
              <a:custGeom>
                <a:avLst/>
                <a:gdLst>
                  <a:gd name="connsiteX0" fmla="*/ 10237 w 71377"/>
                  <a:gd name="connsiteY0" fmla="*/ 0 h 20391"/>
                  <a:gd name="connsiteX1" fmla="*/ 61181 w 71377"/>
                  <a:gd name="connsiteY1" fmla="*/ 0 h 20391"/>
                  <a:gd name="connsiteX2" fmla="*/ 71377 w 71377"/>
                  <a:gd name="connsiteY2" fmla="*/ 10196 h 20391"/>
                  <a:gd name="connsiteX3" fmla="*/ 61181 w 71377"/>
                  <a:gd name="connsiteY3" fmla="*/ 20391 h 20391"/>
                  <a:gd name="connsiteX4" fmla="*/ 10237 w 71377"/>
                  <a:gd name="connsiteY4" fmla="*/ 20391 h 20391"/>
                  <a:gd name="connsiteX5" fmla="*/ 843 w 71377"/>
                  <a:gd name="connsiteY5" fmla="*/ 14164 h 20391"/>
                  <a:gd name="connsiteX6" fmla="*/ 843 w 71377"/>
                  <a:gd name="connsiteY6" fmla="*/ 6227 h 20391"/>
                  <a:gd name="connsiteX7" fmla="*/ 10237 w 71377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377" h="20391">
                    <a:moveTo>
                      <a:pt x="10237" y="0"/>
                    </a:moveTo>
                    <a:lnTo>
                      <a:pt x="61181" y="0"/>
                    </a:lnTo>
                    <a:cubicBezTo>
                      <a:pt x="66812" y="0"/>
                      <a:pt x="71377" y="4565"/>
                      <a:pt x="71377" y="10196"/>
                    </a:cubicBezTo>
                    <a:cubicBezTo>
                      <a:pt x="71377" y="15827"/>
                      <a:pt x="66812" y="20391"/>
                      <a:pt x="61181" y="20391"/>
                    </a:cubicBezTo>
                    <a:lnTo>
                      <a:pt x="10237" y="20391"/>
                    </a:lnTo>
                    <a:cubicBezTo>
                      <a:pt x="6014" y="20391"/>
                      <a:pt x="2391" y="17824"/>
                      <a:pt x="843" y="14164"/>
                    </a:cubicBezTo>
                    <a:cubicBezTo>
                      <a:pt x="-280" y="12080"/>
                      <a:pt x="-280" y="8312"/>
                      <a:pt x="843" y="6227"/>
                    </a:cubicBezTo>
                    <a:cubicBezTo>
                      <a:pt x="2391" y="2568"/>
                      <a:pt x="6014" y="0"/>
                      <a:pt x="102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8732646-7F72-4BBE-20D3-9F9F19D0C5D3}"/>
                  </a:ext>
                </a:extLst>
              </p:cNvPr>
              <p:cNvSpPr/>
              <p:nvPr/>
            </p:nvSpPr>
            <p:spPr>
              <a:xfrm>
                <a:off x="8151949" y="2801906"/>
                <a:ext cx="92108" cy="26429"/>
              </a:xfrm>
              <a:custGeom>
                <a:avLst/>
                <a:gdLst>
                  <a:gd name="connsiteX0" fmla="*/ 9927 w 71066"/>
                  <a:gd name="connsiteY0" fmla="*/ 0 h 20391"/>
                  <a:gd name="connsiteX1" fmla="*/ 60870 w 71066"/>
                  <a:gd name="connsiteY1" fmla="*/ 0 h 20391"/>
                  <a:gd name="connsiteX2" fmla="*/ 71066 w 71066"/>
                  <a:gd name="connsiteY2" fmla="*/ 10196 h 20391"/>
                  <a:gd name="connsiteX3" fmla="*/ 60870 w 71066"/>
                  <a:gd name="connsiteY3" fmla="*/ 20391 h 20391"/>
                  <a:gd name="connsiteX4" fmla="*/ 9927 w 71066"/>
                  <a:gd name="connsiteY4" fmla="*/ 20391 h 20391"/>
                  <a:gd name="connsiteX5" fmla="*/ 532 w 71066"/>
                  <a:gd name="connsiteY5" fmla="*/ 14164 h 20391"/>
                  <a:gd name="connsiteX6" fmla="*/ 532 w 71066"/>
                  <a:gd name="connsiteY6" fmla="*/ 6227 h 20391"/>
                  <a:gd name="connsiteX7" fmla="*/ 9927 w 71066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066" h="20391">
                    <a:moveTo>
                      <a:pt x="9927" y="0"/>
                    </a:moveTo>
                    <a:lnTo>
                      <a:pt x="60870" y="0"/>
                    </a:lnTo>
                    <a:cubicBezTo>
                      <a:pt x="66501" y="0"/>
                      <a:pt x="71066" y="4565"/>
                      <a:pt x="71066" y="10196"/>
                    </a:cubicBezTo>
                    <a:cubicBezTo>
                      <a:pt x="71066" y="15827"/>
                      <a:pt x="66501" y="20391"/>
                      <a:pt x="60870" y="20391"/>
                    </a:cubicBezTo>
                    <a:lnTo>
                      <a:pt x="9927" y="20391"/>
                    </a:lnTo>
                    <a:cubicBezTo>
                      <a:pt x="5703" y="20391"/>
                      <a:pt x="2080" y="17824"/>
                      <a:pt x="532" y="14164"/>
                    </a:cubicBezTo>
                    <a:cubicBezTo>
                      <a:pt x="-29" y="10676"/>
                      <a:pt x="-310" y="9434"/>
                      <a:pt x="532" y="6227"/>
                    </a:cubicBezTo>
                    <a:cubicBezTo>
                      <a:pt x="2080" y="2568"/>
                      <a:pt x="5703" y="0"/>
                      <a:pt x="99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EA48FD00-E684-6565-923F-E1B001E1751A}"/>
                  </a:ext>
                </a:extLst>
              </p:cNvPr>
              <p:cNvSpPr/>
              <p:nvPr/>
            </p:nvSpPr>
            <p:spPr>
              <a:xfrm>
                <a:off x="8136251" y="2912185"/>
                <a:ext cx="83896" cy="55394"/>
              </a:xfrm>
              <a:custGeom>
                <a:avLst/>
                <a:gdLst>
                  <a:gd name="connsiteX0" fmla="*/ 4775 w 64730"/>
                  <a:gd name="connsiteY0" fmla="*/ 752 h 42739"/>
                  <a:gd name="connsiteX1" fmla="*/ 12566 w 64730"/>
                  <a:gd name="connsiteY1" fmla="*/ 789 h 42739"/>
                  <a:gd name="connsiteX2" fmla="*/ 60305 w 64730"/>
                  <a:gd name="connsiteY2" fmla="*/ 26805 h 42739"/>
                  <a:gd name="connsiteX3" fmla="*/ 63694 w 64730"/>
                  <a:gd name="connsiteY3" fmla="*/ 38314 h 42739"/>
                  <a:gd name="connsiteX4" fmla="*/ 52185 w 64730"/>
                  <a:gd name="connsiteY4" fmla="*/ 41703 h 42739"/>
                  <a:gd name="connsiteX5" fmla="*/ 4446 w 64730"/>
                  <a:gd name="connsiteY5" fmla="*/ 15687 h 42739"/>
                  <a:gd name="connsiteX6" fmla="*/ 1057 w 64730"/>
                  <a:gd name="connsiteY6" fmla="*/ 4178 h 42739"/>
                  <a:gd name="connsiteX7" fmla="*/ 4775 w 64730"/>
                  <a:gd name="connsiteY7" fmla="*/ 752 h 4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730" h="42739">
                    <a:moveTo>
                      <a:pt x="4775" y="752"/>
                    </a:moveTo>
                    <a:cubicBezTo>
                      <a:pt x="6845" y="-110"/>
                      <a:pt x="9593" y="-395"/>
                      <a:pt x="12566" y="789"/>
                    </a:cubicBezTo>
                    <a:lnTo>
                      <a:pt x="60305" y="26805"/>
                    </a:lnTo>
                    <a:cubicBezTo>
                      <a:pt x="64419" y="29047"/>
                      <a:pt x="65936" y="34199"/>
                      <a:pt x="63694" y="38314"/>
                    </a:cubicBezTo>
                    <a:cubicBezTo>
                      <a:pt x="61452" y="42428"/>
                      <a:pt x="56300" y="43945"/>
                      <a:pt x="52185" y="41703"/>
                    </a:cubicBezTo>
                    <a:lnTo>
                      <a:pt x="4446" y="15687"/>
                    </a:lnTo>
                    <a:cubicBezTo>
                      <a:pt x="135" y="13362"/>
                      <a:pt x="-1139" y="6942"/>
                      <a:pt x="1057" y="4178"/>
                    </a:cubicBezTo>
                    <a:cubicBezTo>
                      <a:pt x="1315" y="3054"/>
                      <a:pt x="2705" y="1615"/>
                      <a:pt x="4775" y="75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37E8A659-E256-DAF8-3087-8851B78EB511}"/>
                  </a:ext>
                </a:extLst>
              </p:cNvPr>
              <p:cNvSpPr/>
              <p:nvPr/>
            </p:nvSpPr>
            <p:spPr>
              <a:xfrm>
                <a:off x="7714896" y="2913795"/>
                <a:ext cx="84338" cy="57715"/>
              </a:xfrm>
              <a:custGeom>
                <a:avLst/>
                <a:gdLst>
                  <a:gd name="connsiteX0" fmla="*/ 57922 w 65071"/>
                  <a:gd name="connsiteY0" fmla="*/ 409 h 44530"/>
                  <a:gd name="connsiteX1" fmla="*/ 63855 w 65071"/>
                  <a:gd name="connsiteY1" fmla="*/ 5198 h 44530"/>
                  <a:gd name="connsiteX2" fmla="*/ 59874 w 65071"/>
                  <a:gd name="connsiteY2" fmla="*/ 18713 h 44530"/>
                  <a:gd name="connsiteX3" fmla="*/ 14732 w 65071"/>
                  <a:gd name="connsiteY3" fmla="*/ 43314 h 44530"/>
                  <a:gd name="connsiteX4" fmla="*/ 1217 w 65071"/>
                  <a:gd name="connsiteY4" fmla="*/ 39333 h 44530"/>
                  <a:gd name="connsiteX5" fmla="*/ 5198 w 65071"/>
                  <a:gd name="connsiteY5" fmla="*/ 25818 h 44530"/>
                  <a:gd name="connsiteX6" fmla="*/ 50340 w 65071"/>
                  <a:gd name="connsiteY6" fmla="*/ 1217 h 44530"/>
                  <a:gd name="connsiteX7" fmla="*/ 57922 w 65071"/>
                  <a:gd name="connsiteY7" fmla="*/ 409 h 4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71" h="44530">
                    <a:moveTo>
                      <a:pt x="57922" y="409"/>
                    </a:moveTo>
                    <a:cubicBezTo>
                      <a:pt x="60367" y="1129"/>
                      <a:pt x="62538" y="2782"/>
                      <a:pt x="63855" y="5198"/>
                    </a:cubicBezTo>
                    <a:cubicBezTo>
                      <a:pt x="66488" y="10029"/>
                      <a:pt x="64705" y="16080"/>
                      <a:pt x="59874" y="18713"/>
                    </a:cubicBezTo>
                    <a:lnTo>
                      <a:pt x="14732" y="43314"/>
                    </a:lnTo>
                    <a:cubicBezTo>
                      <a:pt x="9901" y="45947"/>
                      <a:pt x="3850" y="44164"/>
                      <a:pt x="1217" y="39333"/>
                    </a:cubicBezTo>
                    <a:cubicBezTo>
                      <a:pt x="-1416" y="34502"/>
                      <a:pt x="366" y="28451"/>
                      <a:pt x="5198" y="25818"/>
                    </a:cubicBezTo>
                    <a:lnTo>
                      <a:pt x="50340" y="1217"/>
                    </a:lnTo>
                    <a:cubicBezTo>
                      <a:pt x="52756" y="-99"/>
                      <a:pt x="55476" y="-312"/>
                      <a:pt x="57922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4D37C807-8A0F-A02F-01C6-54BFD93AB2E7}"/>
                  </a:ext>
                </a:extLst>
              </p:cNvPr>
              <p:cNvSpPr/>
              <p:nvPr/>
            </p:nvSpPr>
            <p:spPr>
              <a:xfrm>
                <a:off x="7888095" y="2978586"/>
                <a:ext cx="160562" cy="26960"/>
              </a:xfrm>
              <a:custGeom>
                <a:avLst/>
                <a:gdLst>
                  <a:gd name="connsiteX0" fmla="*/ 10401 w 123882"/>
                  <a:gd name="connsiteY0" fmla="*/ 0 h 20801"/>
                  <a:gd name="connsiteX1" fmla="*/ 113482 w 123882"/>
                  <a:gd name="connsiteY1" fmla="*/ 0 h 20801"/>
                  <a:gd name="connsiteX2" fmla="*/ 123882 w 123882"/>
                  <a:gd name="connsiteY2" fmla="*/ 10400 h 20801"/>
                  <a:gd name="connsiteX3" fmla="*/ 113482 w 123882"/>
                  <a:gd name="connsiteY3" fmla="*/ 20801 h 20801"/>
                  <a:gd name="connsiteX4" fmla="*/ 10401 w 123882"/>
                  <a:gd name="connsiteY4" fmla="*/ 20801 h 20801"/>
                  <a:gd name="connsiteX5" fmla="*/ 0 w 123882"/>
                  <a:gd name="connsiteY5" fmla="*/ 10400 h 20801"/>
                  <a:gd name="connsiteX6" fmla="*/ 10401 w 123882"/>
                  <a:gd name="connsiteY6" fmla="*/ 0 h 20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82" h="20801">
                    <a:moveTo>
                      <a:pt x="10401" y="0"/>
                    </a:moveTo>
                    <a:lnTo>
                      <a:pt x="113482" y="0"/>
                    </a:lnTo>
                    <a:cubicBezTo>
                      <a:pt x="119226" y="0"/>
                      <a:pt x="123882" y="4656"/>
                      <a:pt x="123882" y="10400"/>
                    </a:cubicBezTo>
                    <a:cubicBezTo>
                      <a:pt x="123882" y="16144"/>
                      <a:pt x="119226" y="20801"/>
                      <a:pt x="113482" y="20801"/>
                    </a:cubicBezTo>
                    <a:lnTo>
                      <a:pt x="10401" y="20801"/>
                    </a:lnTo>
                    <a:cubicBezTo>
                      <a:pt x="4657" y="20801"/>
                      <a:pt x="0" y="16144"/>
                      <a:pt x="0" y="10400"/>
                    </a:cubicBezTo>
                    <a:cubicBezTo>
                      <a:pt x="0" y="4656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424CA628-5D76-4209-2025-E99E4616B6B3}"/>
                  </a:ext>
                </a:extLst>
              </p:cNvPr>
              <p:cNvSpPr/>
              <p:nvPr/>
            </p:nvSpPr>
            <p:spPr>
              <a:xfrm>
                <a:off x="7897777" y="3026998"/>
                <a:ext cx="139594" cy="39243"/>
              </a:xfrm>
              <a:custGeom>
                <a:avLst/>
                <a:gdLst>
                  <a:gd name="connsiteX0" fmla="*/ 10401 w 107704"/>
                  <a:gd name="connsiteY0" fmla="*/ 0 h 30278"/>
                  <a:gd name="connsiteX1" fmla="*/ 97303 w 107704"/>
                  <a:gd name="connsiteY1" fmla="*/ 0 h 30278"/>
                  <a:gd name="connsiteX2" fmla="*/ 107704 w 107704"/>
                  <a:gd name="connsiteY2" fmla="*/ 10401 h 30278"/>
                  <a:gd name="connsiteX3" fmla="*/ 101351 w 107704"/>
                  <a:gd name="connsiteY3" fmla="*/ 19984 h 30278"/>
                  <a:gd name="connsiteX4" fmla="*/ 99383 w 107704"/>
                  <a:gd name="connsiteY4" fmla="*/ 20381 h 30278"/>
                  <a:gd name="connsiteX5" fmla="*/ 99383 w 107704"/>
                  <a:gd name="connsiteY5" fmla="*/ 22650 h 30278"/>
                  <a:gd name="connsiteX6" fmla="*/ 91756 w 107704"/>
                  <a:gd name="connsiteY6" fmla="*/ 30278 h 30278"/>
                  <a:gd name="connsiteX7" fmla="*/ 16410 w 107704"/>
                  <a:gd name="connsiteY7" fmla="*/ 30278 h 30278"/>
                  <a:gd name="connsiteX8" fmla="*/ 8783 w 107704"/>
                  <a:gd name="connsiteY8" fmla="*/ 22650 h 30278"/>
                  <a:gd name="connsiteX9" fmla="*/ 8783 w 107704"/>
                  <a:gd name="connsiteY9" fmla="*/ 20475 h 30278"/>
                  <a:gd name="connsiteX10" fmla="*/ 6352 w 107704"/>
                  <a:gd name="connsiteY10" fmla="*/ 19984 h 30278"/>
                  <a:gd name="connsiteX11" fmla="*/ 0 w 107704"/>
                  <a:gd name="connsiteY11" fmla="*/ 10401 h 30278"/>
                  <a:gd name="connsiteX12" fmla="*/ 10401 w 107704"/>
                  <a:gd name="connsiteY12" fmla="*/ 0 h 3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704" h="30278">
                    <a:moveTo>
                      <a:pt x="10401" y="0"/>
                    </a:moveTo>
                    <a:lnTo>
                      <a:pt x="97303" y="0"/>
                    </a:lnTo>
                    <a:cubicBezTo>
                      <a:pt x="103047" y="0"/>
                      <a:pt x="107704" y="4657"/>
                      <a:pt x="107704" y="10401"/>
                    </a:cubicBezTo>
                    <a:cubicBezTo>
                      <a:pt x="107704" y="14709"/>
                      <a:pt x="105084" y="18405"/>
                      <a:pt x="101351" y="19984"/>
                    </a:cubicBezTo>
                    <a:lnTo>
                      <a:pt x="99383" y="20381"/>
                    </a:lnTo>
                    <a:lnTo>
                      <a:pt x="99383" y="22650"/>
                    </a:lnTo>
                    <a:cubicBezTo>
                      <a:pt x="99383" y="26863"/>
                      <a:pt x="95968" y="30278"/>
                      <a:pt x="91756" y="30278"/>
                    </a:cubicBezTo>
                    <a:lnTo>
                      <a:pt x="16410" y="30278"/>
                    </a:lnTo>
                    <a:cubicBezTo>
                      <a:pt x="12198" y="30278"/>
                      <a:pt x="8783" y="26863"/>
                      <a:pt x="8783" y="22650"/>
                    </a:cubicBezTo>
                    <a:lnTo>
                      <a:pt x="8783" y="20475"/>
                    </a:lnTo>
                    <a:lnTo>
                      <a:pt x="6352" y="19984"/>
                    </a:lnTo>
                    <a:cubicBezTo>
                      <a:pt x="2619" y="18405"/>
                      <a:pt x="0" y="14709"/>
                      <a:pt x="0" y="10401"/>
                    </a:cubicBezTo>
                    <a:cubicBezTo>
                      <a:pt x="0" y="4657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162671F-4342-6DFA-E397-D78E9769521F}"/>
              </a:ext>
            </a:extLst>
          </p:cNvPr>
          <p:cNvGrpSpPr/>
          <p:nvPr/>
        </p:nvGrpSpPr>
        <p:grpSpPr>
          <a:xfrm>
            <a:off x="5953933" y="2845914"/>
            <a:ext cx="2962575" cy="399255"/>
            <a:chOff x="240597" y="3963995"/>
            <a:chExt cx="2962575" cy="399255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B03504-C0DB-5189-BE8A-4774089A4783}"/>
                </a:ext>
              </a:extLst>
            </p:cNvPr>
            <p:cNvSpPr txBox="1"/>
            <p:nvPr/>
          </p:nvSpPr>
          <p:spPr>
            <a:xfrm>
              <a:off x="617183" y="4024696"/>
              <a:ext cx="25859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Arial" charset="0"/>
                </a:rPr>
                <a:t>Historical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Arial" charset="0"/>
                </a:rPr>
                <a:t> data is needed</a:t>
              </a:r>
              <a:endPara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2AA0EBC-7CDE-8A4F-F92D-567434D293D3}"/>
                </a:ext>
              </a:extLst>
            </p:cNvPr>
            <p:cNvGrpSpPr/>
            <p:nvPr/>
          </p:nvGrpSpPr>
          <p:grpSpPr>
            <a:xfrm>
              <a:off x="240597" y="3963995"/>
              <a:ext cx="369016" cy="369333"/>
              <a:chOff x="7691057" y="2512766"/>
              <a:chExt cx="553000" cy="553475"/>
            </a:xfrm>
            <a:solidFill>
              <a:srgbClr val="0096FF"/>
            </a:solidFill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8B11C6BA-4462-3FB4-0E82-6B4AC1B42BE5}"/>
                  </a:ext>
                </a:extLst>
              </p:cNvPr>
              <p:cNvSpPr/>
              <p:nvPr/>
            </p:nvSpPr>
            <p:spPr>
              <a:xfrm>
                <a:off x="7954733" y="2512766"/>
                <a:ext cx="25974" cy="92457"/>
              </a:xfrm>
              <a:custGeom>
                <a:avLst/>
                <a:gdLst>
                  <a:gd name="connsiteX0" fmla="*/ 10020 w 20040"/>
                  <a:gd name="connsiteY0" fmla="*/ 0 h 71335"/>
                  <a:gd name="connsiteX1" fmla="*/ 20040 w 20040"/>
                  <a:gd name="connsiteY1" fmla="*/ 10020 h 71335"/>
                  <a:gd name="connsiteX2" fmla="*/ 20040 w 20040"/>
                  <a:gd name="connsiteY2" fmla="*/ 61315 h 71335"/>
                  <a:gd name="connsiteX3" fmla="*/ 10020 w 20040"/>
                  <a:gd name="connsiteY3" fmla="*/ 71335 h 71335"/>
                  <a:gd name="connsiteX4" fmla="*/ 0 w 20040"/>
                  <a:gd name="connsiteY4" fmla="*/ 61315 h 71335"/>
                  <a:gd name="connsiteX5" fmla="*/ 0 w 20040"/>
                  <a:gd name="connsiteY5" fmla="*/ 10020 h 71335"/>
                  <a:gd name="connsiteX6" fmla="*/ 10020 w 20040"/>
                  <a:gd name="connsiteY6" fmla="*/ 0 h 7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40" h="71335">
                    <a:moveTo>
                      <a:pt x="10020" y="0"/>
                    </a:moveTo>
                    <a:cubicBezTo>
                      <a:pt x="15554" y="0"/>
                      <a:pt x="20040" y="4486"/>
                      <a:pt x="20040" y="10020"/>
                    </a:cubicBezTo>
                    <a:cubicBezTo>
                      <a:pt x="20040" y="27119"/>
                      <a:pt x="20040" y="44217"/>
                      <a:pt x="20040" y="61315"/>
                    </a:cubicBezTo>
                    <a:cubicBezTo>
                      <a:pt x="19226" y="66620"/>
                      <a:pt x="16167" y="70802"/>
                      <a:pt x="10020" y="71335"/>
                    </a:cubicBezTo>
                    <a:cubicBezTo>
                      <a:pt x="7169" y="70996"/>
                      <a:pt x="1670" y="71535"/>
                      <a:pt x="0" y="61315"/>
                    </a:cubicBezTo>
                    <a:lnTo>
                      <a:pt x="0" y="10020"/>
                    </a:lnTo>
                    <a:cubicBezTo>
                      <a:pt x="0" y="4486"/>
                      <a:pt x="4486" y="0"/>
                      <a:pt x="100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7DC81652-6F22-C67E-465A-A24E70CF64DF}"/>
                  </a:ext>
                </a:extLst>
              </p:cNvPr>
              <p:cNvSpPr/>
              <p:nvPr/>
            </p:nvSpPr>
            <p:spPr>
              <a:xfrm>
                <a:off x="7807901" y="2555822"/>
                <a:ext cx="60943" cy="83019"/>
              </a:xfrm>
              <a:custGeom>
                <a:avLst/>
                <a:gdLst>
                  <a:gd name="connsiteX0" fmla="*/ 11085 w 47021"/>
                  <a:gd name="connsiteY0" fmla="*/ 32 h 64053"/>
                  <a:gd name="connsiteX1" fmla="*/ 19135 w 47021"/>
                  <a:gd name="connsiteY1" fmla="*/ 5030 h 64053"/>
                  <a:gd name="connsiteX2" fmla="*/ 45532 w 47021"/>
                  <a:gd name="connsiteY2" fmla="*/ 48493 h 64053"/>
                  <a:gd name="connsiteX3" fmla="*/ 42094 w 47021"/>
                  <a:gd name="connsiteY3" fmla="*/ 62564 h 64053"/>
                  <a:gd name="connsiteX4" fmla="*/ 28023 w 47021"/>
                  <a:gd name="connsiteY4" fmla="*/ 59126 h 64053"/>
                  <a:gd name="connsiteX5" fmla="*/ 1626 w 47021"/>
                  <a:gd name="connsiteY5" fmla="*/ 15664 h 64053"/>
                  <a:gd name="connsiteX6" fmla="*/ 5064 w 47021"/>
                  <a:gd name="connsiteY6" fmla="*/ 1593 h 64053"/>
                  <a:gd name="connsiteX7" fmla="*/ 11085 w 47021"/>
                  <a:gd name="connsiteY7" fmla="*/ 32 h 64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21" h="64053">
                    <a:moveTo>
                      <a:pt x="11085" y="32"/>
                    </a:moveTo>
                    <a:cubicBezTo>
                      <a:pt x="13536" y="241"/>
                      <a:pt x="16324" y="1543"/>
                      <a:pt x="19135" y="5030"/>
                    </a:cubicBezTo>
                    <a:lnTo>
                      <a:pt x="45532" y="48493"/>
                    </a:lnTo>
                    <a:cubicBezTo>
                      <a:pt x="48468" y="53327"/>
                      <a:pt x="46929" y="59627"/>
                      <a:pt x="42094" y="62564"/>
                    </a:cubicBezTo>
                    <a:cubicBezTo>
                      <a:pt x="37260" y="65500"/>
                      <a:pt x="30960" y="63961"/>
                      <a:pt x="28023" y="59126"/>
                    </a:cubicBezTo>
                    <a:lnTo>
                      <a:pt x="1626" y="15664"/>
                    </a:lnTo>
                    <a:cubicBezTo>
                      <a:pt x="-2481" y="9162"/>
                      <a:pt x="2146" y="3365"/>
                      <a:pt x="5064" y="1593"/>
                    </a:cubicBezTo>
                    <a:cubicBezTo>
                      <a:pt x="6523" y="707"/>
                      <a:pt x="8635" y="-177"/>
                      <a:pt x="11085" y="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3B1FF49-91DD-C662-47D4-F934800D2220}"/>
                  </a:ext>
                </a:extLst>
              </p:cNvPr>
              <p:cNvSpPr/>
              <p:nvPr/>
            </p:nvSpPr>
            <p:spPr>
              <a:xfrm>
                <a:off x="8064823" y="2555817"/>
                <a:ext cx="60959" cy="82943"/>
              </a:xfrm>
              <a:custGeom>
                <a:avLst/>
                <a:gdLst>
                  <a:gd name="connsiteX0" fmla="*/ 34168 w 47033"/>
                  <a:gd name="connsiteY0" fmla="*/ 299 h 63995"/>
                  <a:gd name="connsiteX1" fmla="*/ 42032 w 47033"/>
                  <a:gd name="connsiteY1" fmla="*/ 1513 h 63995"/>
                  <a:gd name="connsiteX2" fmla="*/ 45521 w 47033"/>
                  <a:gd name="connsiteY2" fmla="*/ 15795 h 63995"/>
                  <a:gd name="connsiteX3" fmla="*/ 19284 w 47033"/>
                  <a:gd name="connsiteY3" fmla="*/ 58994 h 63995"/>
                  <a:gd name="connsiteX4" fmla="*/ 5002 w 47033"/>
                  <a:gd name="connsiteY4" fmla="*/ 62483 h 63995"/>
                  <a:gd name="connsiteX5" fmla="*/ 1513 w 47033"/>
                  <a:gd name="connsiteY5" fmla="*/ 48201 h 63995"/>
                  <a:gd name="connsiteX6" fmla="*/ 27750 w 47033"/>
                  <a:gd name="connsiteY6" fmla="*/ 5001 h 63995"/>
                  <a:gd name="connsiteX7" fmla="*/ 34168 w 47033"/>
                  <a:gd name="connsiteY7" fmla="*/ 299 h 63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33" h="63995">
                    <a:moveTo>
                      <a:pt x="34168" y="299"/>
                    </a:moveTo>
                    <a:cubicBezTo>
                      <a:pt x="36753" y="-332"/>
                      <a:pt x="39578" y="22"/>
                      <a:pt x="42032" y="1513"/>
                    </a:cubicBezTo>
                    <a:cubicBezTo>
                      <a:pt x="46939" y="4493"/>
                      <a:pt x="48502" y="10887"/>
                      <a:pt x="45521" y="15795"/>
                    </a:cubicBezTo>
                    <a:lnTo>
                      <a:pt x="19284" y="58994"/>
                    </a:lnTo>
                    <a:cubicBezTo>
                      <a:pt x="16304" y="63902"/>
                      <a:pt x="9909" y="65464"/>
                      <a:pt x="5002" y="62483"/>
                    </a:cubicBezTo>
                    <a:cubicBezTo>
                      <a:pt x="94" y="59503"/>
                      <a:pt x="-1468" y="53108"/>
                      <a:pt x="1513" y="48201"/>
                    </a:cubicBezTo>
                    <a:lnTo>
                      <a:pt x="27750" y="5001"/>
                    </a:lnTo>
                    <a:cubicBezTo>
                      <a:pt x="29240" y="2548"/>
                      <a:pt x="31584" y="930"/>
                      <a:pt x="34168" y="2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F9BCA2F2-9F2E-A810-C772-C9FE9F1DB554}"/>
                  </a:ext>
                </a:extLst>
              </p:cNvPr>
              <p:cNvSpPr/>
              <p:nvPr/>
            </p:nvSpPr>
            <p:spPr>
              <a:xfrm>
                <a:off x="7823319" y="2656561"/>
                <a:ext cx="285897" cy="302403"/>
              </a:xfrm>
              <a:custGeom>
                <a:avLst/>
                <a:gdLst>
                  <a:gd name="connsiteX0" fmla="*/ 148196 w 221978"/>
                  <a:gd name="connsiteY0" fmla="*/ 100727 h 233319"/>
                  <a:gd name="connsiteX1" fmla="*/ 139456 w 221978"/>
                  <a:gd name="connsiteY1" fmla="*/ 102643 h 233319"/>
                  <a:gd name="connsiteX2" fmla="*/ 111846 w 221978"/>
                  <a:gd name="connsiteY2" fmla="*/ 112165 h 233319"/>
                  <a:gd name="connsiteX3" fmla="*/ 83905 w 221978"/>
                  <a:gd name="connsiteY3" fmla="*/ 102910 h 233319"/>
                  <a:gd name="connsiteX4" fmla="*/ 78955 w 221978"/>
                  <a:gd name="connsiteY4" fmla="*/ 110817 h 233319"/>
                  <a:gd name="connsiteX5" fmla="*/ 106989 w 221978"/>
                  <a:gd name="connsiteY5" fmla="*/ 185136 h 233319"/>
                  <a:gd name="connsiteX6" fmla="*/ 113999 w 221978"/>
                  <a:gd name="connsiteY6" fmla="*/ 186579 h 233319"/>
                  <a:gd name="connsiteX7" fmla="*/ 145642 w 221978"/>
                  <a:gd name="connsiteY7" fmla="*/ 108951 h 233319"/>
                  <a:gd name="connsiteX8" fmla="*/ 148196 w 221978"/>
                  <a:gd name="connsiteY8" fmla="*/ 100727 h 233319"/>
                  <a:gd name="connsiteX9" fmla="*/ 113768 w 221978"/>
                  <a:gd name="connsiteY9" fmla="*/ 0 h 233319"/>
                  <a:gd name="connsiteX10" fmla="*/ 195210 w 221978"/>
                  <a:gd name="connsiteY10" fmla="*/ 176513 h 233319"/>
                  <a:gd name="connsiteX11" fmla="*/ 164616 w 221978"/>
                  <a:gd name="connsiteY11" fmla="*/ 233319 h 233319"/>
                  <a:gd name="connsiteX12" fmla="*/ 56912 w 221978"/>
                  <a:gd name="connsiteY12" fmla="*/ 233319 h 233319"/>
                  <a:gd name="connsiteX13" fmla="*/ 21456 w 221978"/>
                  <a:gd name="connsiteY13" fmla="*/ 167623 h 233319"/>
                  <a:gd name="connsiteX14" fmla="*/ 113768 w 221978"/>
                  <a:gd name="connsiteY14" fmla="*/ 0 h 233319"/>
                  <a:gd name="connsiteX0" fmla="*/ 148196 w 220584"/>
                  <a:gd name="connsiteY0" fmla="*/ 100727 h 233319"/>
                  <a:gd name="connsiteX1" fmla="*/ 139456 w 220584"/>
                  <a:gd name="connsiteY1" fmla="*/ 102643 h 233319"/>
                  <a:gd name="connsiteX2" fmla="*/ 111846 w 220584"/>
                  <a:gd name="connsiteY2" fmla="*/ 112165 h 233319"/>
                  <a:gd name="connsiteX3" fmla="*/ 83905 w 220584"/>
                  <a:gd name="connsiteY3" fmla="*/ 102910 h 233319"/>
                  <a:gd name="connsiteX4" fmla="*/ 78955 w 220584"/>
                  <a:gd name="connsiteY4" fmla="*/ 110817 h 233319"/>
                  <a:gd name="connsiteX5" fmla="*/ 106989 w 220584"/>
                  <a:gd name="connsiteY5" fmla="*/ 185136 h 233319"/>
                  <a:gd name="connsiteX6" fmla="*/ 113999 w 220584"/>
                  <a:gd name="connsiteY6" fmla="*/ 186579 h 233319"/>
                  <a:gd name="connsiteX7" fmla="*/ 145642 w 220584"/>
                  <a:gd name="connsiteY7" fmla="*/ 108951 h 233319"/>
                  <a:gd name="connsiteX8" fmla="*/ 148196 w 220584"/>
                  <a:gd name="connsiteY8" fmla="*/ 100727 h 233319"/>
                  <a:gd name="connsiteX9" fmla="*/ 113768 w 220584"/>
                  <a:gd name="connsiteY9" fmla="*/ 0 h 233319"/>
                  <a:gd name="connsiteX10" fmla="*/ 195210 w 220584"/>
                  <a:gd name="connsiteY10" fmla="*/ 176513 h 233319"/>
                  <a:gd name="connsiteX11" fmla="*/ 164616 w 220584"/>
                  <a:gd name="connsiteY11" fmla="*/ 233319 h 233319"/>
                  <a:gd name="connsiteX12" fmla="*/ 56912 w 220584"/>
                  <a:gd name="connsiteY12" fmla="*/ 233319 h 233319"/>
                  <a:gd name="connsiteX13" fmla="*/ 21456 w 220584"/>
                  <a:gd name="connsiteY13" fmla="*/ 167623 h 233319"/>
                  <a:gd name="connsiteX14" fmla="*/ 113768 w 220584"/>
                  <a:gd name="connsiteY14" fmla="*/ 0 h 233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0584" h="233319">
                    <a:moveTo>
                      <a:pt x="148196" y="100727"/>
                    </a:moveTo>
                    <a:cubicBezTo>
                      <a:pt x="146528" y="99132"/>
                      <a:pt x="142979" y="99227"/>
                      <a:pt x="139456" y="102643"/>
                    </a:cubicBezTo>
                    <a:cubicBezTo>
                      <a:pt x="130654" y="109347"/>
                      <a:pt x="121031" y="112275"/>
                      <a:pt x="111846" y="112165"/>
                    </a:cubicBezTo>
                    <a:cubicBezTo>
                      <a:pt x="105846" y="112808"/>
                      <a:pt x="93976" y="110134"/>
                      <a:pt x="83905" y="102910"/>
                    </a:cubicBezTo>
                    <a:cubicBezTo>
                      <a:pt x="71294" y="95750"/>
                      <a:pt x="71132" y="105075"/>
                      <a:pt x="78955" y="110817"/>
                    </a:cubicBezTo>
                    <a:cubicBezTo>
                      <a:pt x="97987" y="129977"/>
                      <a:pt x="107848" y="156107"/>
                      <a:pt x="106989" y="185136"/>
                    </a:cubicBezTo>
                    <a:cubicBezTo>
                      <a:pt x="107344" y="193481"/>
                      <a:pt x="113769" y="191379"/>
                      <a:pt x="113999" y="186579"/>
                    </a:cubicBezTo>
                    <a:cubicBezTo>
                      <a:pt x="117445" y="161891"/>
                      <a:pt x="124658" y="130909"/>
                      <a:pt x="145642" y="108951"/>
                    </a:cubicBezTo>
                    <a:cubicBezTo>
                      <a:pt x="149649" y="105607"/>
                      <a:pt x="149863" y="102322"/>
                      <a:pt x="148196" y="100727"/>
                    </a:cubicBezTo>
                    <a:close/>
                    <a:moveTo>
                      <a:pt x="113768" y="0"/>
                    </a:moveTo>
                    <a:cubicBezTo>
                      <a:pt x="214371" y="182"/>
                      <a:pt x="249363" y="112029"/>
                      <a:pt x="195210" y="176513"/>
                    </a:cubicBezTo>
                    <a:cubicBezTo>
                      <a:pt x="182059" y="195448"/>
                      <a:pt x="172353" y="207985"/>
                      <a:pt x="164616" y="233319"/>
                    </a:cubicBezTo>
                    <a:lnTo>
                      <a:pt x="56912" y="233319"/>
                    </a:lnTo>
                    <a:cubicBezTo>
                      <a:pt x="52968" y="210928"/>
                      <a:pt x="40165" y="192967"/>
                      <a:pt x="21456" y="167623"/>
                    </a:cubicBezTo>
                    <a:cubicBezTo>
                      <a:pt x="-27843" y="108939"/>
                      <a:pt x="9832" y="344"/>
                      <a:pt x="1137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7F1279C-5130-AA59-5AA4-AA3249713BB3}"/>
                  </a:ext>
                </a:extLst>
              </p:cNvPr>
              <p:cNvSpPr/>
              <p:nvPr/>
            </p:nvSpPr>
            <p:spPr>
              <a:xfrm>
                <a:off x="8138445" y="2667325"/>
                <a:ext cx="82100" cy="59579"/>
              </a:xfrm>
              <a:custGeom>
                <a:avLst/>
                <a:gdLst>
                  <a:gd name="connsiteX0" fmla="*/ 56475 w 63344"/>
                  <a:gd name="connsiteY0" fmla="*/ 240 h 45968"/>
                  <a:gd name="connsiteX1" fmla="*/ 62011 w 63344"/>
                  <a:gd name="connsiteY1" fmla="*/ 4229 h 45968"/>
                  <a:gd name="connsiteX2" fmla="*/ 59116 w 63344"/>
                  <a:gd name="connsiteY2" fmla="*/ 16500 h 45968"/>
                  <a:gd name="connsiteX3" fmla="*/ 13606 w 63344"/>
                  <a:gd name="connsiteY3" fmla="*/ 44635 h 45968"/>
                  <a:gd name="connsiteX4" fmla="*/ 1334 w 63344"/>
                  <a:gd name="connsiteY4" fmla="*/ 41740 h 45968"/>
                  <a:gd name="connsiteX5" fmla="*/ 4230 w 63344"/>
                  <a:gd name="connsiteY5" fmla="*/ 29468 h 45968"/>
                  <a:gd name="connsiteX6" fmla="*/ 49740 w 63344"/>
                  <a:gd name="connsiteY6" fmla="*/ 1334 h 45968"/>
                  <a:gd name="connsiteX7" fmla="*/ 56475 w 63344"/>
                  <a:gd name="connsiteY7" fmla="*/ 240 h 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44" h="45968">
                    <a:moveTo>
                      <a:pt x="56475" y="240"/>
                    </a:moveTo>
                    <a:cubicBezTo>
                      <a:pt x="58696" y="764"/>
                      <a:pt x="60717" y="2135"/>
                      <a:pt x="62011" y="4229"/>
                    </a:cubicBezTo>
                    <a:cubicBezTo>
                      <a:pt x="64600" y="8417"/>
                      <a:pt x="63304" y="13911"/>
                      <a:pt x="59116" y="16500"/>
                    </a:cubicBezTo>
                    <a:lnTo>
                      <a:pt x="13606" y="44635"/>
                    </a:lnTo>
                    <a:cubicBezTo>
                      <a:pt x="9418" y="47224"/>
                      <a:pt x="3924" y="45928"/>
                      <a:pt x="1334" y="41740"/>
                    </a:cubicBezTo>
                    <a:cubicBezTo>
                      <a:pt x="-1255" y="37552"/>
                      <a:pt x="42" y="32058"/>
                      <a:pt x="4230" y="29468"/>
                    </a:cubicBezTo>
                    <a:lnTo>
                      <a:pt x="49740" y="1334"/>
                    </a:lnTo>
                    <a:cubicBezTo>
                      <a:pt x="51834" y="39"/>
                      <a:pt x="54254" y="-284"/>
                      <a:pt x="56475" y="24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6573071B-73B4-2D3D-171E-1DF3158D40B8}"/>
                  </a:ext>
                </a:extLst>
              </p:cNvPr>
              <p:cNvSpPr/>
              <p:nvPr/>
            </p:nvSpPr>
            <p:spPr>
              <a:xfrm>
                <a:off x="7711625" y="2671122"/>
                <a:ext cx="81980" cy="59205"/>
              </a:xfrm>
              <a:custGeom>
                <a:avLst/>
                <a:gdLst>
                  <a:gd name="connsiteX0" fmla="*/ 6636 w 63252"/>
                  <a:gd name="connsiteY0" fmla="*/ 232 h 45680"/>
                  <a:gd name="connsiteX1" fmla="*/ 13142 w 63252"/>
                  <a:gd name="connsiteY1" fmla="*/ 1288 h 45680"/>
                  <a:gd name="connsiteX2" fmla="*/ 59168 w 63252"/>
                  <a:gd name="connsiteY2" fmla="*/ 29742 h 45680"/>
                  <a:gd name="connsiteX3" fmla="*/ 61965 w 63252"/>
                  <a:gd name="connsiteY3" fmla="*/ 41596 h 45680"/>
                  <a:gd name="connsiteX4" fmla="*/ 50111 w 63252"/>
                  <a:gd name="connsiteY4" fmla="*/ 44392 h 45680"/>
                  <a:gd name="connsiteX5" fmla="*/ 4085 w 63252"/>
                  <a:gd name="connsiteY5" fmla="*/ 15939 h 45680"/>
                  <a:gd name="connsiteX6" fmla="*/ 1288 w 63252"/>
                  <a:gd name="connsiteY6" fmla="*/ 4085 h 45680"/>
                  <a:gd name="connsiteX7" fmla="*/ 6636 w 63252"/>
                  <a:gd name="connsiteY7" fmla="*/ 232 h 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252" h="45680">
                    <a:moveTo>
                      <a:pt x="6636" y="232"/>
                    </a:moveTo>
                    <a:cubicBezTo>
                      <a:pt x="8781" y="-274"/>
                      <a:pt x="11119" y="38"/>
                      <a:pt x="13142" y="1288"/>
                    </a:cubicBezTo>
                    <a:lnTo>
                      <a:pt x="59168" y="29742"/>
                    </a:lnTo>
                    <a:cubicBezTo>
                      <a:pt x="63214" y="32243"/>
                      <a:pt x="64466" y="37550"/>
                      <a:pt x="61965" y="41596"/>
                    </a:cubicBezTo>
                    <a:cubicBezTo>
                      <a:pt x="59463" y="45641"/>
                      <a:pt x="54156" y="46894"/>
                      <a:pt x="50111" y="44392"/>
                    </a:cubicBezTo>
                    <a:lnTo>
                      <a:pt x="4085" y="15939"/>
                    </a:lnTo>
                    <a:cubicBezTo>
                      <a:pt x="39" y="13438"/>
                      <a:pt x="-1213" y="8131"/>
                      <a:pt x="1288" y="4085"/>
                    </a:cubicBezTo>
                    <a:cubicBezTo>
                      <a:pt x="2539" y="2062"/>
                      <a:pt x="4491" y="738"/>
                      <a:pt x="6636" y="2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73BA78C-377C-0999-3335-48A0922C42BA}"/>
                  </a:ext>
                </a:extLst>
              </p:cNvPr>
              <p:cNvSpPr/>
              <p:nvPr/>
            </p:nvSpPr>
            <p:spPr>
              <a:xfrm>
                <a:off x="7691057" y="2801906"/>
                <a:ext cx="92511" cy="26429"/>
              </a:xfrm>
              <a:custGeom>
                <a:avLst/>
                <a:gdLst>
                  <a:gd name="connsiteX0" fmla="*/ 10237 w 71377"/>
                  <a:gd name="connsiteY0" fmla="*/ 0 h 20391"/>
                  <a:gd name="connsiteX1" fmla="*/ 61181 w 71377"/>
                  <a:gd name="connsiteY1" fmla="*/ 0 h 20391"/>
                  <a:gd name="connsiteX2" fmla="*/ 71377 w 71377"/>
                  <a:gd name="connsiteY2" fmla="*/ 10196 h 20391"/>
                  <a:gd name="connsiteX3" fmla="*/ 61181 w 71377"/>
                  <a:gd name="connsiteY3" fmla="*/ 20391 h 20391"/>
                  <a:gd name="connsiteX4" fmla="*/ 10237 w 71377"/>
                  <a:gd name="connsiteY4" fmla="*/ 20391 h 20391"/>
                  <a:gd name="connsiteX5" fmla="*/ 843 w 71377"/>
                  <a:gd name="connsiteY5" fmla="*/ 14164 h 20391"/>
                  <a:gd name="connsiteX6" fmla="*/ 843 w 71377"/>
                  <a:gd name="connsiteY6" fmla="*/ 6227 h 20391"/>
                  <a:gd name="connsiteX7" fmla="*/ 10237 w 71377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377" h="20391">
                    <a:moveTo>
                      <a:pt x="10237" y="0"/>
                    </a:moveTo>
                    <a:lnTo>
                      <a:pt x="61181" y="0"/>
                    </a:lnTo>
                    <a:cubicBezTo>
                      <a:pt x="66812" y="0"/>
                      <a:pt x="71377" y="4565"/>
                      <a:pt x="71377" y="10196"/>
                    </a:cubicBezTo>
                    <a:cubicBezTo>
                      <a:pt x="71377" y="15827"/>
                      <a:pt x="66812" y="20391"/>
                      <a:pt x="61181" y="20391"/>
                    </a:cubicBezTo>
                    <a:lnTo>
                      <a:pt x="10237" y="20391"/>
                    </a:lnTo>
                    <a:cubicBezTo>
                      <a:pt x="6014" y="20391"/>
                      <a:pt x="2391" y="17824"/>
                      <a:pt x="843" y="14164"/>
                    </a:cubicBezTo>
                    <a:cubicBezTo>
                      <a:pt x="-280" y="12080"/>
                      <a:pt x="-280" y="8312"/>
                      <a:pt x="843" y="6227"/>
                    </a:cubicBezTo>
                    <a:cubicBezTo>
                      <a:pt x="2391" y="2568"/>
                      <a:pt x="6014" y="0"/>
                      <a:pt x="102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8F87F6B5-7B65-3FBC-49EC-0B0C841E959B}"/>
                  </a:ext>
                </a:extLst>
              </p:cNvPr>
              <p:cNvSpPr/>
              <p:nvPr/>
            </p:nvSpPr>
            <p:spPr>
              <a:xfrm>
                <a:off x="8151949" y="2801906"/>
                <a:ext cx="92108" cy="26429"/>
              </a:xfrm>
              <a:custGeom>
                <a:avLst/>
                <a:gdLst>
                  <a:gd name="connsiteX0" fmla="*/ 9927 w 71066"/>
                  <a:gd name="connsiteY0" fmla="*/ 0 h 20391"/>
                  <a:gd name="connsiteX1" fmla="*/ 60870 w 71066"/>
                  <a:gd name="connsiteY1" fmla="*/ 0 h 20391"/>
                  <a:gd name="connsiteX2" fmla="*/ 71066 w 71066"/>
                  <a:gd name="connsiteY2" fmla="*/ 10196 h 20391"/>
                  <a:gd name="connsiteX3" fmla="*/ 60870 w 71066"/>
                  <a:gd name="connsiteY3" fmla="*/ 20391 h 20391"/>
                  <a:gd name="connsiteX4" fmla="*/ 9927 w 71066"/>
                  <a:gd name="connsiteY4" fmla="*/ 20391 h 20391"/>
                  <a:gd name="connsiteX5" fmla="*/ 532 w 71066"/>
                  <a:gd name="connsiteY5" fmla="*/ 14164 h 20391"/>
                  <a:gd name="connsiteX6" fmla="*/ 532 w 71066"/>
                  <a:gd name="connsiteY6" fmla="*/ 6227 h 20391"/>
                  <a:gd name="connsiteX7" fmla="*/ 9927 w 71066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066" h="20391">
                    <a:moveTo>
                      <a:pt x="9927" y="0"/>
                    </a:moveTo>
                    <a:lnTo>
                      <a:pt x="60870" y="0"/>
                    </a:lnTo>
                    <a:cubicBezTo>
                      <a:pt x="66501" y="0"/>
                      <a:pt x="71066" y="4565"/>
                      <a:pt x="71066" y="10196"/>
                    </a:cubicBezTo>
                    <a:cubicBezTo>
                      <a:pt x="71066" y="15827"/>
                      <a:pt x="66501" y="20391"/>
                      <a:pt x="60870" y="20391"/>
                    </a:cubicBezTo>
                    <a:lnTo>
                      <a:pt x="9927" y="20391"/>
                    </a:lnTo>
                    <a:cubicBezTo>
                      <a:pt x="5703" y="20391"/>
                      <a:pt x="2080" y="17824"/>
                      <a:pt x="532" y="14164"/>
                    </a:cubicBezTo>
                    <a:cubicBezTo>
                      <a:pt x="-29" y="10676"/>
                      <a:pt x="-310" y="9434"/>
                      <a:pt x="532" y="6227"/>
                    </a:cubicBezTo>
                    <a:cubicBezTo>
                      <a:pt x="2080" y="2568"/>
                      <a:pt x="5703" y="0"/>
                      <a:pt x="99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AB92A11E-7D78-24DE-218F-D303FDBA432F}"/>
                  </a:ext>
                </a:extLst>
              </p:cNvPr>
              <p:cNvSpPr/>
              <p:nvPr/>
            </p:nvSpPr>
            <p:spPr>
              <a:xfrm>
                <a:off x="8136251" y="2912185"/>
                <a:ext cx="83896" cy="55394"/>
              </a:xfrm>
              <a:custGeom>
                <a:avLst/>
                <a:gdLst>
                  <a:gd name="connsiteX0" fmla="*/ 4775 w 64730"/>
                  <a:gd name="connsiteY0" fmla="*/ 752 h 42739"/>
                  <a:gd name="connsiteX1" fmla="*/ 12566 w 64730"/>
                  <a:gd name="connsiteY1" fmla="*/ 789 h 42739"/>
                  <a:gd name="connsiteX2" fmla="*/ 60305 w 64730"/>
                  <a:gd name="connsiteY2" fmla="*/ 26805 h 42739"/>
                  <a:gd name="connsiteX3" fmla="*/ 63694 w 64730"/>
                  <a:gd name="connsiteY3" fmla="*/ 38314 h 42739"/>
                  <a:gd name="connsiteX4" fmla="*/ 52185 w 64730"/>
                  <a:gd name="connsiteY4" fmla="*/ 41703 h 42739"/>
                  <a:gd name="connsiteX5" fmla="*/ 4446 w 64730"/>
                  <a:gd name="connsiteY5" fmla="*/ 15687 h 42739"/>
                  <a:gd name="connsiteX6" fmla="*/ 1057 w 64730"/>
                  <a:gd name="connsiteY6" fmla="*/ 4178 h 42739"/>
                  <a:gd name="connsiteX7" fmla="*/ 4775 w 64730"/>
                  <a:gd name="connsiteY7" fmla="*/ 752 h 4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730" h="42739">
                    <a:moveTo>
                      <a:pt x="4775" y="752"/>
                    </a:moveTo>
                    <a:cubicBezTo>
                      <a:pt x="6845" y="-110"/>
                      <a:pt x="9593" y="-395"/>
                      <a:pt x="12566" y="789"/>
                    </a:cubicBezTo>
                    <a:lnTo>
                      <a:pt x="60305" y="26805"/>
                    </a:lnTo>
                    <a:cubicBezTo>
                      <a:pt x="64419" y="29047"/>
                      <a:pt x="65936" y="34199"/>
                      <a:pt x="63694" y="38314"/>
                    </a:cubicBezTo>
                    <a:cubicBezTo>
                      <a:pt x="61452" y="42428"/>
                      <a:pt x="56300" y="43945"/>
                      <a:pt x="52185" y="41703"/>
                    </a:cubicBezTo>
                    <a:lnTo>
                      <a:pt x="4446" y="15687"/>
                    </a:lnTo>
                    <a:cubicBezTo>
                      <a:pt x="135" y="13362"/>
                      <a:pt x="-1139" y="6942"/>
                      <a:pt x="1057" y="4178"/>
                    </a:cubicBezTo>
                    <a:cubicBezTo>
                      <a:pt x="1315" y="3054"/>
                      <a:pt x="2705" y="1615"/>
                      <a:pt x="4775" y="75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F53F94BC-65BD-AFDF-1625-C31E6AC963A8}"/>
                  </a:ext>
                </a:extLst>
              </p:cNvPr>
              <p:cNvSpPr/>
              <p:nvPr/>
            </p:nvSpPr>
            <p:spPr>
              <a:xfrm>
                <a:off x="7714896" y="2913795"/>
                <a:ext cx="84338" cy="57715"/>
              </a:xfrm>
              <a:custGeom>
                <a:avLst/>
                <a:gdLst>
                  <a:gd name="connsiteX0" fmla="*/ 57922 w 65071"/>
                  <a:gd name="connsiteY0" fmla="*/ 409 h 44530"/>
                  <a:gd name="connsiteX1" fmla="*/ 63855 w 65071"/>
                  <a:gd name="connsiteY1" fmla="*/ 5198 h 44530"/>
                  <a:gd name="connsiteX2" fmla="*/ 59874 w 65071"/>
                  <a:gd name="connsiteY2" fmla="*/ 18713 h 44530"/>
                  <a:gd name="connsiteX3" fmla="*/ 14732 w 65071"/>
                  <a:gd name="connsiteY3" fmla="*/ 43314 h 44530"/>
                  <a:gd name="connsiteX4" fmla="*/ 1217 w 65071"/>
                  <a:gd name="connsiteY4" fmla="*/ 39333 h 44530"/>
                  <a:gd name="connsiteX5" fmla="*/ 5198 w 65071"/>
                  <a:gd name="connsiteY5" fmla="*/ 25818 h 44530"/>
                  <a:gd name="connsiteX6" fmla="*/ 50340 w 65071"/>
                  <a:gd name="connsiteY6" fmla="*/ 1217 h 44530"/>
                  <a:gd name="connsiteX7" fmla="*/ 57922 w 65071"/>
                  <a:gd name="connsiteY7" fmla="*/ 409 h 4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71" h="44530">
                    <a:moveTo>
                      <a:pt x="57922" y="409"/>
                    </a:moveTo>
                    <a:cubicBezTo>
                      <a:pt x="60367" y="1129"/>
                      <a:pt x="62538" y="2782"/>
                      <a:pt x="63855" y="5198"/>
                    </a:cubicBezTo>
                    <a:cubicBezTo>
                      <a:pt x="66488" y="10029"/>
                      <a:pt x="64705" y="16080"/>
                      <a:pt x="59874" y="18713"/>
                    </a:cubicBezTo>
                    <a:lnTo>
                      <a:pt x="14732" y="43314"/>
                    </a:lnTo>
                    <a:cubicBezTo>
                      <a:pt x="9901" y="45947"/>
                      <a:pt x="3850" y="44164"/>
                      <a:pt x="1217" y="39333"/>
                    </a:cubicBezTo>
                    <a:cubicBezTo>
                      <a:pt x="-1416" y="34502"/>
                      <a:pt x="366" y="28451"/>
                      <a:pt x="5198" y="25818"/>
                    </a:cubicBezTo>
                    <a:lnTo>
                      <a:pt x="50340" y="1217"/>
                    </a:lnTo>
                    <a:cubicBezTo>
                      <a:pt x="52756" y="-99"/>
                      <a:pt x="55476" y="-312"/>
                      <a:pt x="57922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945AF58F-FFC3-41B8-EC79-E51B37077079}"/>
                  </a:ext>
                </a:extLst>
              </p:cNvPr>
              <p:cNvSpPr/>
              <p:nvPr/>
            </p:nvSpPr>
            <p:spPr>
              <a:xfrm>
                <a:off x="7888095" y="2978586"/>
                <a:ext cx="160562" cy="26960"/>
              </a:xfrm>
              <a:custGeom>
                <a:avLst/>
                <a:gdLst>
                  <a:gd name="connsiteX0" fmla="*/ 10401 w 123882"/>
                  <a:gd name="connsiteY0" fmla="*/ 0 h 20801"/>
                  <a:gd name="connsiteX1" fmla="*/ 113482 w 123882"/>
                  <a:gd name="connsiteY1" fmla="*/ 0 h 20801"/>
                  <a:gd name="connsiteX2" fmla="*/ 123882 w 123882"/>
                  <a:gd name="connsiteY2" fmla="*/ 10400 h 20801"/>
                  <a:gd name="connsiteX3" fmla="*/ 113482 w 123882"/>
                  <a:gd name="connsiteY3" fmla="*/ 20801 h 20801"/>
                  <a:gd name="connsiteX4" fmla="*/ 10401 w 123882"/>
                  <a:gd name="connsiteY4" fmla="*/ 20801 h 20801"/>
                  <a:gd name="connsiteX5" fmla="*/ 0 w 123882"/>
                  <a:gd name="connsiteY5" fmla="*/ 10400 h 20801"/>
                  <a:gd name="connsiteX6" fmla="*/ 10401 w 123882"/>
                  <a:gd name="connsiteY6" fmla="*/ 0 h 20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82" h="20801">
                    <a:moveTo>
                      <a:pt x="10401" y="0"/>
                    </a:moveTo>
                    <a:lnTo>
                      <a:pt x="113482" y="0"/>
                    </a:lnTo>
                    <a:cubicBezTo>
                      <a:pt x="119226" y="0"/>
                      <a:pt x="123882" y="4656"/>
                      <a:pt x="123882" y="10400"/>
                    </a:cubicBezTo>
                    <a:cubicBezTo>
                      <a:pt x="123882" y="16144"/>
                      <a:pt x="119226" y="20801"/>
                      <a:pt x="113482" y="20801"/>
                    </a:cubicBezTo>
                    <a:lnTo>
                      <a:pt x="10401" y="20801"/>
                    </a:lnTo>
                    <a:cubicBezTo>
                      <a:pt x="4657" y="20801"/>
                      <a:pt x="0" y="16144"/>
                      <a:pt x="0" y="10400"/>
                    </a:cubicBezTo>
                    <a:cubicBezTo>
                      <a:pt x="0" y="4656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C397EFE2-E13E-07E7-7BA9-8BFEF7B8765C}"/>
                  </a:ext>
                </a:extLst>
              </p:cNvPr>
              <p:cNvSpPr/>
              <p:nvPr/>
            </p:nvSpPr>
            <p:spPr>
              <a:xfrm>
                <a:off x="7897777" y="3026998"/>
                <a:ext cx="139594" cy="39243"/>
              </a:xfrm>
              <a:custGeom>
                <a:avLst/>
                <a:gdLst>
                  <a:gd name="connsiteX0" fmla="*/ 10401 w 107704"/>
                  <a:gd name="connsiteY0" fmla="*/ 0 h 30278"/>
                  <a:gd name="connsiteX1" fmla="*/ 97303 w 107704"/>
                  <a:gd name="connsiteY1" fmla="*/ 0 h 30278"/>
                  <a:gd name="connsiteX2" fmla="*/ 107704 w 107704"/>
                  <a:gd name="connsiteY2" fmla="*/ 10401 h 30278"/>
                  <a:gd name="connsiteX3" fmla="*/ 101351 w 107704"/>
                  <a:gd name="connsiteY3" fmla="*/ 19984 h 30278"/>
                  <a:gd name="connsiteX4" fmla="*/ 99383 w 107704"/>
                  <a:gd name="connsiteY4" fmla="*/ 20381 h 30278"/>
                  <a:gd name="connsiteX5" fmla="*/ 99383 w 107704"/>
                  <a:gd name="connsiteY5" fmla="*/ 22650 h 30278"/>
                  <a:gd name="connsiteX6" fmla="*/ 91756 w 107704"/>
                  <a:gd name="connsiteY6" fmla="*/ 30278 h 30278"/>
                  <a:gd name="connsiteX7" fmla="*/ 16410 w 107704"/>
                  <a:gd name="connsiteY7" fmla="*/ 30278 h 30278"/>
                  <a:gd name="connsiteX8" fmla="*/ 8783 w 107704"/>
                  <a:gd name="connsiteY8" fmla="*/ 22650 h 30278"/>
                  <a:gd name="connsiteX9" fmla="*/ 8783 w 107704"/>
                  <a:gd name="connsiteY9" fmla="*/ 20475 h 30278"/>
                  <a:gd name="connsiteX10" fmla="*/ 6352 w 107704"/>
                  <a:gd name="connsiteY10" fmla="*/ 19984 h 30278"/>
                  <a:gd name="connsiteX11" fmla="*/ 0 w 107704"/>
                  <a:gd name="connsiteY11" fmla="*/ 10401 h 30278"/>
                  <a:gd name="connsiteX12" fmla="*/ 10401 w 107704"/>
                  <a:gd name="connsiteY12" fmla="*/ 0 h 3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704" h="30278">
                    <a:moveTo>
                      <a:pt x="10401" y="0"/>
                    </a:moveTo>
                    <a:lnTo>
                      <a:pt x="97303" y="0"/>
                    </a:lnTo>
                    <a:cubicBezTo>
                      <a:pt x="103047" y="0"/>
                      <a:pt x="107704" y="4657"/>
                      <a:pt x="107704" y="10401"/>
                    </a:cubicBezTo>
                    <a:cubicBezTo>
                      <a:pt x="107704" y="14709"/>
                      <a:pt x="105084" y="18405"/>
                      <a:pt x="101351" y="19984"/>
                    </a:cubicBezTo>
                    <a:lnTo>
                      <a:pt x="99383" y="20381"/>
                    </a:lnTo>
                    <a:lnTo>
                      <a:pt x="99383" y="22650"/>
                    </a:lnTo>
                    <a:cubicBezTo>
                      <a:pt x="99383" y="26863"/>
                      <a:pt x="95968" y="30278"/>
                      <a:pt x="91756" y="30278"/>
                    </a:cubicBezTo>
                    <a:lnTo>
                      <a:pt x="16410" y="30278"/>
                    </a:lnTo>
                    <a:cubicBezTo>
                      <a:pt x="12198" y="30278"/>
                      <a:pt x="8783" y="26863"/>
                      <a:pt x="8783" y="22650"/>
                    </a:cubicBezTo>
                    <a:lnTo>
                      <a:pt x="8783" y="20475"/>
                    </a:lnTo>
                    <a:lnTo>
                      <a:pt x="6352" y="19984"/>
                    </a:lnTo>
                    <a:cubicBezTo>
                      <a:pt x="2619" y="18405"/>
                      <a:pt x="0" y="14709"/>
                      <a:pt x="0" y="10401"/>
                    </a:cubicBezTo>
                    <a:cubicBezTo>
                      <a:pt x="0" y="4657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0" name="Rounded Rectangular Callout 99">
            <a:extLst>
              <a:ext uri="{FF2B5EF4-FFF2-40B4-BE49-F238E27FC236}">
                <a16:creationId xmlns:a16="http://schemas.microsoft.com/office/drawing/2014/main" id="{812780B9-2930-141B-98F8-8A2DB913C79F}"/>
              </a:ext>
            </a:extLst>
          </p:cNvPr>
          <p:cNvSpPr/>
          <p:nvPr/>
        </p:nvSpPr>
        <p:spPr>
          <a:xfrm>
            <a:off x="7873408" y="1711615"/>
            <a:ext cx="922889" cy="563340"/>
          </a:xfrm>
          <a:prstGeom prst="wedgeRoundRectCallout">
            <a:avLst>
              <a:gd name="adj1" fmla="val -65946"/>
              <a:gd name="adj2" fmla="val -10173"/>
              <a:gd name="adj3" fmla="val 16667"/>
            </a:avLst>
          </a:prstGeom>
          <a:solidFill>
            <a:schemeClr val="tx1"/>
          </a:solidFill>
          <a:ln w="28575">
            <a:solidFill>
              <a:srgbClr val="02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rPr>
              <a:t>Three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 is good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19769B7C-72F7-7BB9-8DEF-4841AE6AAABF}"/>
              </a:ext>
            </a:extLst>
          </p:cNvPr>
          <p:cNvCxnSpPr>
            <a:cxnSpLocks/>
          </p:cNvCxnSpPr>
          <p:nvPr/>
        </p:nvCxnSpPr>
        <p:spPr>
          <a:xfrm>
            <a:off x="2583508" y="962857"/>
            <a:ext cx="0" cy="191064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FC43BD4-02F1-576F-0665-F4F8DB534553}"/>
              </a:ext>
            </a:extLst>
          </p:cNvPr>
          <p:cNvGrpSpPr/>
          <p:nvPr/>
        </p:nvGrpSpPr>
        <p:grpSpPr>
          <a:xfrm>
            <a:off x="290718" y="2864249"/>
            <a:ext cx="2115614" cy="632015"/>
            <a:chOff x="290718" y="3516199"/>
            <a:chExt cx="2115614" cy="632015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531929C-D15B-AC3A-0635-8DAADD513E85}"/>
                </a:ext>
              </a:extLst>
            </p:cNvPr>
            <p:cNvSpPr txBox="1"/>
            <p:nvPr/>
          </p:nvSpPr>
          <p:spPr>
            <a:xfrm>
              <a:off x="667028" y="3563439"/>
              <a:ext cx="17393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Arial" charset="0"/>
                </a:rPr>
                <a:t>Neural Network 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Arial" charset="0"/>
                </a:rPr>
                <a:t>(NN) is better</a:t>
              </a:r>
              <a:endPara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E773B6F-1179-F380-A6C2-4ADC472CDF2E}"/>
                </a:ext>
              </a:extLst>
            </p:cNvPr>
            <p:cNvGrpSpPr/>
            <p:nvPr/>
          </p:nvGrpSpPr>
          <p:grpSpPr>
            <a:xfrm>
              <a:off x="290718" y="3516199"/>
              <a:ext cx="369016" cy="369333"/>
              <a:chOff x="7691057" y="2512766"/>
              <a:chExt cx="553000" cy="553475"/>
            </a:xfrm>
            <a:solidFill>
              <a:srgbClr val="0096FF"/>
            </a:solidFill>
          </p:grpSpPr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AC1D82D9-CB73-7606-C01A-C0DCD852ACD3}"/>
                  </a:ext>
                </a:extLst>
              </p:cNvPr>
              <p:cNvSpPr/>
              <p:nvPr/>
            </p:nvSpPr>
            <p:spPr>
              <a:xfrm>
                <a:off x="7954733" y="2512766"/>
                <a:ext cx="25974" cy="92457"/>
              </a:xfrm>
              <a:custGeom>
                <a:avLst/>
                <a:gdLst>
                  <a:gd name="connsiteX0" fmla="*/ 10020 w 20040"/>
                  <a:gd name="connsiteY0" fmla="*/ 0 h 71335"/>
                  <a:gd name="connsiteX1" fmla="*/ 20040 w 20040"/>
                  <a:gd name="connsiteY1" fmla="*/ 10020 h 71335"/>
                  <a:gd name="connsiteX2" fmla="*/ 20040 w 20040"/>
                  <a:gd name="connsiteY2" fmla="*/ 61315 h 71335"/>
                  <a:gd name="connsiteX3" fmla="*/ 10020 w 20040"/>
                  <a:gd name="connsiteY3" fmla="*/ 71335 h 71335"/>
                  <a:gd name="connsiteX4" fmla="*/ 0 w 20040"/>
                  <a:gd name="connsiteY4" fmla="*/ 61315 h 71335"/>
                  <a:gd name="connsiteX5" fmla="*/ 0 w 20040"/>
                  <a:gd name="connsiteY5" fmla="*/ 10020 h 71335"/>
                  <a:gd name="connsiteX6" fmla="*/ 10020 w 20040"/>
                  <a:gd name="connsiteY6" fmla="*/ 0 h 7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40" h="71335">
                    <a:moveTo>
                      <a:pt x="10020" y="0"/>
                    </a:moveTo>
                    <a:cubicBezTo>
                      <a:pt x="15554" y="0"/>
                      <a:pt x="20040" y="4486"/>
                      <a:pt x="20040" y="10020"/>
                    </a:cubicBezTo>
                    <a:cubicBezTo>
                      <a:pt x="20040" y="27119"/>
                      <a:pt x="20040" y="44217"/>
                      <a:pt x="20040" y="61315"/>
                    </a:cubicBezTo>
                    <a:cubicBezTo>
                      <a:pt x="19226" y="66620"/>
                      <a:pt x="16167" y="70802"/>
                      <a:pt x="10020" y="71335"/>
                    </a:cubicBezTo>
                    <a:cubicBezTo>
                      <a:pt x="7169" y="70996"/>
                      <a:pt x="1670" y="71535"/>
                      <a:pt x="0" y="61315"/>
                    </a:cubicBezTo>
                    <a:lnTo>
                      <a:pt x="0" y="10020"/>
                    </a:lnTo>
                    <a:cubicBezTo>
                      <a:pt x="0" y="4486"/>
                      <a:pt x="4486" y="0"/>
                      <a:pt x="100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3BEAEAB6-F45E-CD2C-4C96-BEF4487A5A33}"/>
                  </a:ext>
                </a:extLst>
              </p:cNvPr>
              <p:cNvSpPr/>
              <p:nvPr/>
            </p:nvSpPr>
            <p:spPr>
              <a:xfrm>
                <a:off x="7807901" y="2555822"/>
                <a:ext cx="60943" cy="83019"/>
              </a:xfrm>
              <a:custGeom>
                <a:avLst/>
                <a:gdLst>
                  <a:gd name="connsiteX0" fmla="*/ 11085 w 47021"/>
                  <a:gd name="connsiteY0" fmla="*/ 32 h 64053"/>
                  <a:gd name="connsiteX1" fmla="*/ 19135 w 47021"/>
                  <a:gd name="connsiteY1" fmla="*/ 5030 h 64053"/>
                  <a:gd name="connsiteX2" fmla="*/ 45532 w 47021"/>
                  <a:gd name="connsiteY2" fmla="*/ 48493 h 64053"/>
                  <a:gd name="connsiteX3" fmla="*/ 42094 w 47021"/>
                  <a:gd name="connsiteY3" fmla="*/ 62564 h 64053"/>
                  <a:gd name="connsiteX4" fmla="*/ 28023 w 47021"/>
                  <a:gd name="connsiteY4" fmla="*/ 59126 h 64053"/>
                  <a:gd name="connsiteX5" fmla="*/ 1626 w 47021"/>
                  <a:gd name="connsiteY5" fmla="*/ 15664 h 64053"/>
                  <a:gd name="connsiteX6" fmla="*/ 5064 w 47021"/>
                  <a:gd name="connsiteY6" fmla="*/ 1593 h 64053"/>
                  <a:gd name="connsiteX7" fmla="*/ 11085 w 47021"/>
                  <a:gd name="connsiteY7" fmla="*/ 32 h 64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21" h="64053">
                    <a:moveTo>
                      <a:pt x="11085" y="32"/>
                    </a:moveTo>
                    <a:cubicBezTo>
                      <a:pt x="13536" y="241"/>
                      <a:pt x="16324" y="1543"/>
                      <a:pt x="19135" y="5030"/>
                    </a:cubicBezTo>
                    <a:lnTo>
                      <a:pt x="45532" y="48493"/>
                    </a:lnTo>
                    <a:cubicBezTo>
                      <a:pt x="48468" y="53327"/>
                      <a:pt x="46929" y="59627"/>
                      <a:pt x="42094" y="62564"/>
                    </a:cubicBezTo>
                    <a:cubicBezTo>
                      <a:pt x="37260" y="65500"/>
                      <a:pt x="30960" y="63961"/>
                      <a:pt x="28023" y="59126"/>
                    </a:cubicBezTo>
                    <a:lnTo>
                      <a:pt x="1626" y="15664"/>
                    </a:lnTo>
                    <a:cubicBezTo>
                      <a:pt x="-2481" y="9162"/>
                      <a:pt x="2146" y="3365"/>
                      <a:pt x="5064" y="1593"/>
                    </a:cubicBezTo>
                    <a:cubicBezTo>
                      <a:pt x="6523" y="707"/>
                      <a:pt x="8635" y="-177"/>
                      <a:pt x="11085" y="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569F688A-4F4E-0B6D-387F-86C7E60A8AB4}"/>
                  </a:ext>
                </a:extLst>
              </p:cNvPr>
              <p:cNvSpPr/>
              <p:nvPr/>
            </p:nvSpPr>
            <p:spPr>
              <a:xfrm>
                <a:off x="8064823" y="2555817"/>
                <a:ext cx="60959" cy="82943"/>
              </a:xfrm>
              <a:custGeom>
                <a:avLst/>
                <a:gdLst>
                  <a:gd name="connsiteX0" fmla="*/ 34168 w 47033"/>
                  <a:gd name="connsiteY0" fmla="*/ 299 h 63995"/>
                  <a:gd name="connsiteX1" fmla="*/ 42032 w 47033"/>
                  <a:gd name="connsiteY1" fmla="*/ 1513 h 63995"/>
                  <a:gd name="connsiteX2" fmla="*/ 45521 w 47033"/>
                  <a:gd name="connsiteY2" fmla="*/ 15795 h 63995"/>
                  <a:gd name="connsiteX3" fmla="*/ 19284 w 47033"/>
                  <a:gd name="connsiteY3" fmla="*/ 58994 h 63995"/>
                  <a:gd name="connsiteX4" fmla="*/ 5002 w 47033"/>
                  <a:gd name="connsiteY4" fmla="*/ 62483 h 63995"/>
                  <a:gd name="connsiteX5" fmla="*/ 1513 w 47033"/>
                  <a:gd name="connsiteY5" fmla="*/ 48201 h 63995"/>
                  <a:gd name="connsiteX6" fmla="*/ 27750 w 47033"/>
                  <a:gd name="connsiteY6" fmla="*/ 5001 h 63995"/>
                  <a:gd name="connsiteX7" fmla="*/ 34168 w 47033"/>
                  <a:gd name="connsiteY7" fmla="*/ 299 h 63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33" h="63995">
                    <a:moveTo>
                      <a:pt x="34168" y="299"/>
                    </a:moveTo>
                    <a:cubicBezTo>
                      <a:pt x="36753" y="-332"/>
                      <a:pt x="39578" y="22"/>
                      <a:pt x="42032" y="1513"/>
                    </a:cubicBezTo>
                    <a:cubicBezTo>
                      <a:pt x="46939" y="4493"/>
                      <a:pt x="48502" y="10887"/>
                      <a:pt x="45521" y="15795"/>
                    </a:cubicBezTo>
                    <a:lnTo>
                      <a:pt x="19284" y="58994"/>
                    </a:lnTo>
                    <a:cubicBezTo>
                      <a:pt x="16304" y="63902"/>
                      <a:pt x="9909" y="65464"/>
                      <a:pt x="5002" y="62483"/>
                    </a:cubicBezTo>
                    <a:cubicBezTo>
                      <a:pt x="94" y="59503"/>
                      <a:pt x="-1468" y="53108"/>
                      <a:pt x="1513" y="48201"/>
                    </a:cubicBezTo>
                    <a:lnTo>
                      <a:pt x="27750" y="5001"/>
                    </a:lnTo>
                    <a:cubicBezTo>
                      <a:pt x="29240" y="2548"/>
                      <a:pt x="31584" y="930"/>
                      <a:pt x="34168" y="2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02029BCD-A0DB-1752-332C-0EB89296FAF9}"/>
                  </a:ext>
                </a:extLst>
              </p:cNvPr>
              <p:cNvSpPr/>
              <p:nvPr/>
            </p:nvSpPr>
            <p:spPr>
              <a:xfrm>
                <a:off x="7823319" y="2656561"/>
                <a:ext cx="285897" cy="302403"/>
              </a:xfrm>
              <a:custGeom>
                <a:avLst/>
                <a:gdLst>
                  <a:gd name="connsiteX0" fmla="*/ 148196 w 221978"/>
                  <a:gd name="connsiteY0" fmla="*/ 100727 h 233319"/>
                  <a:gd name="connsiteX1" fmla="*/ 139456 w 221978"/>
                  <a:gd name="connsiteY1" fmla="*/ 102643 h 233319"/>
                  <a:gd name="connsiteX2" fmla="*/ 111846 w 221978"/>
                  <a:gd name="connsiteY2" fmla="*/ 112165 h 233319"/>
                  <a:gd name="connsiteX3" fmla="*/ 83905 w 221978"/>
                  <a:gd name="connsiteY3" fmla="*/ 102910 h 233319"/>
                  <a:gd name="connsiteX4" fmla="*/ 78955 w 221978"/>
                  <a:gd name="connsiteY4" fmla="*/ 110817 h 233319"/>
                  <a:gd name="connsiteX5" fmla="*/ 106989 w 221978"/>
                  <a:gd name="connsiteY5" fmla="*/ 185136 h 233319"/>
                  <a:gd name="connsiteX6" fmla="*/ 113999 w 221978"/>
                  <a:gd name="connsiteY6" fmla="*/ 186579 h 233319"/>
                  <a:gd name="connsiteX7" fmla="*/ 145642 w 221978"/>
                  <a:gd name="connsiteY7" fmla="*/ 108951 h 233319"/>
                  <a:gd name="connsiteX8" fmla="*/ 148196 w 221978"/>
                  <a:gd name="connsiteY8" fmla="*/ 100727 h 233319"/>
                  <a:gd name="connsiteX9" fmla="*/ 113768 w 221978"/>
                  <a:gd name="connsiteY9" fmla="*/ 0 h 233319"/>
                  <a:gd name="connsiteX10" fmla="*/ 195210 w 221978"/>
                  <a:gd name="connsiteY10" fmla="*/ 176513 h 233319"/>
                  <a:gd name="connsiteX11" fmla="*/ 164616 w 221978"/>
                  <a:gd name="connsiteY11" fmla="*/ 233319 h 233319"/>
                  <a:gd name="connsiteX12" fmla="*/ 56912 w 221978"/>
                  <a:gd name="connsiteY12" fmla="*/ 233319 h 233319"/>
                  <a:gd name="connsiteX13" fmla="*/ 21456 w 221978"/>
                  <a:gd name="connsiteY13" fmla="*/ 167623 h 233319"/>
                  <a:gd name="connsiteX14" fmla="*/ 113768 w 221978"/>
                  <a:gd name="connsiteY14" fmla="*/ 0 h 233319"/>
                  <a:gd name="connsiteX0" fmla="*/ 148196 w 220584"/>
                  <a:gd name="connsiteY0" fmla="*/ 100727 h 233319"/>
                  <a:gd name="connsiteX1" fmla="*/ 139456 w 220584"/>
                  <a:gd name="connsiteY1" fmla="*/ 102643 h 233319"/>
                  <a:gd name="connsiteX2" fmla="*/ 111846 w 220584"/>
                  <a:gd name="connsiteY2" fmla="*/ 112165 h 233319"/>
                  <a:gd name="connsiteX3" fmla="*/ 83905 w 220584"/>
                  <a:gd name="connsiteY3" fmla="*/ 102910 h 233319"/>
                  <a:gd name="connsiteX4" fmla="*/ 78955 w 220584"/>
                  <a:gd name="connsiteY4" fmla="*/ 110817 h 233319"/>
                  <a:gd name="connsiteX5" fmla="*/ 106989 w 220584"/>
                  <a:gd name="connsiteY5" fmla="*/ 185136 h 233319"/>
                  <a:gd name="connsiteX6" fmla="*/ 113999 w 220584"/>
                  <a:gd name="connsiteY6" fmla="*/ 186579 h 233319"/>
                  <a:gd name="connsiteX7" fmla="*/ 145642 w 220584"/>
                  <a:gd name="connsiteY7" fmla="*/ 108951 h 233319"/>
                  <a:gd name="connsiteX8" fmla="*/ 148196 w 220584"/>
                  <a:gd name="connsiteY8" fmla="*/ 100727 h 233319"/>
                  <a:gd name="connsiteX9" fmla="*/ 113768 w 220584"/>
                  <a:gd name="connsiteY9" fmla="*/ 0 h 233319"/>
                  <a:gd name="connsiteX10" fmla="*/ 195210 w 220584"/>
                  <a:gd name="connsiteY10" fmla="*/ 176513 h 233319"/>
                  <a:gd name="connsiteX11" fmla="*/ 164616 w 220584"/>
                  <a:gd name="connsiteY11" fmla="*/ 233319 h 233319"/>
                  <a:gd name="connsiteX12" fmla="*/ 56912 w 220584"/>
                  <a:gd name="connsiteY12" fmla="*/ 233319 h 233319"/>
                  <a:gd name="connsiteX13" fmla="*/ 21456 w 220584"/>
                  <a:gd name="connsiteY13" fmla="*/ 167623 h 233319"/>
                  <a:gd name="connsiteX14" fmla="*/ 113768 w 220584"/>
                  <a:gd name="connsiteY14" fmla="*/ 0 h 233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0584" h="233319">
                    <a:moveTo>
                      <a:pt x="148196" y="100727"/>
                    </a:moveTo>
                    <a:cubicBezTo>
                      <a:pt x="146528" y="99132"/>
                      <a:pt x="142979" y="99227"/>
                      <a:pt x="139456" y="102643"/>
                    </a:cubicBezTo>
                    <a:cubicBezTo>
                      <a:pt x="130654" y="109347"/>
                      <a:pt x="121031" y="112275"/>
                      <a:pt x="111846" y="112165"/>
                    </a:cubicBezTo>
                    <a:cubicBezTo>
                      <a:pt x="105846" y="112808"/>
                      <a:pt x="93976" y="110134"/>
                      <a:pt x="83905" y="102910"/>
                    </a:cubicBezTo>
                    <a:cubicBezTo>
                      <a:pt x="71294" y="95750"/>
                      <a:pt x="71132" y="105075"/>
                      <a:pt x="78955" y="110817"/>
                    </a:cubicBezTo>
                    <a:cubicBezTo>
                      <a:pt x="97987" y="129977"/>
                      <a:pt x="107848" y="156107"/>
                      <a:pt x="106989" y="185136"/>
                    </a:cubicBezTo>
                    <a:cubicBezTo>
                      <a:pt x="107344" y="193481"/>
                      <a:pt x="113769" y="191379"/>
                      <a:pt x="113999" y="186579"/>
                    </a:cubicBezTo>
                    <a:cubicBezTo>
                      <a:pt x="117445" y="161891"/>
                      <a:pt x="124658" y="130909"/>
                      <a:pt x="145642" y="108951"/>
                    </a:cubicBezTo>
                    <a:cubicBezTo>
                      <a:pt x="149649" y="105607"/>
                      <a:pt x="149863" y="102322"/>
                      <a:pt x="148196" y="100727"/>
                    </a:cubicBezTo>
                    <a:close/>
                    <a:moveTo>
                      <a:pt x="113768" y="0"/>
                    </a:moveTo>
                    <a:cubicBezTo>
                      <a:pt x="214371" y="182"/>
                      <a:pt x="249363" y="112029"/>
                      <a:pt x="195210" y="176513"/>
                    </a:cubicBezTo>
                    <a:cubicBezTo>
                      <a:pt x="182059" y="195448"/>
                      <a:pt x="172353" y="207985"/>
                      <a:pt x="164616" y="233319"/>
                    </a:cubicBezTo>
                    <a:lnTo>
                      <a:pt x="56912" y="233319"/>
                    </a:lnTo>
                    <a:cubicBezTo>
                      <a:pt x="52968" y="210928"/>
                      <a:pt x="40165" y="192967"/>
                      <a:pt x="21456" y="167623"/>
                    </a:cubicBezTo>
                    <a:cubicBezTo>
                      <a:pt x="-27843" y="108939"/>
                      <a:pt x="9832" y="344"/>
                      <a:pt x="1137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3EF0892F-2F9C-D834-0E48-93CC7767EDD2}"/>
                  </a:ext>
                </a:extLst>
              </p:cNvPr>
              <p:cNvSpPr/>
              <p:nvPr/>
            </p:nvSpPr>
            <p:spPr>
              <a:xfrm>
                <a:off x="8138445" y="2667325"/>
                <a:ext cx="82100" cy="59579"/>
              </a:xfrm>
              <a:custGeom>
                <a:avLst/>
                <a:gdLst>
                  <a:gd name="connsiteX0" fmla="*/ 56475 w 63344"/>
                  <a:gd name="connsiteY0" fmla="*/ 240 h 45968"/>
                  <a:gd name="connsiteX1" fmla="*/ 62011 w 63344"/>
                  <a:gd name="connsiteY1" fmla="*/ 4229 h 45968"/>
                  <a:gd name="connsiteX2" fmla="*/ 59116 w 63344"/>
                  <a:gd name="connsiteY2" fmla="*/ 16500 h 45968"/>
                  <a:gd name="connsiteX3" fmla="*/ 13606 w 63344"/>
                  <a:gd name="connsiteY3" fmla="*/ 44635 h 45968"/>
                  <a:gd name="connsiteX4" fmla="*/ 1334 w 63344"/>
                  <a:gd name="connsiteY4" fmla="*/ 41740 h 45968"/>
                  <a:gd name="connsiteX5" fmla="*/ 4230 w 63344"/>
                  <a:gd name="connsiteY5" fmla="*/ 29468 h 45968"/>
                  <a:gd name="connsiteX6" fmla="*/ 49740 w 63344"/>
                  <a:gd name="connsiteY6" fmla="*/ 1334 h 45968"/>
                  <a:gd name="connsiteX7" fmla="*/ 56475 w 63344"/>
                  <a:gd name="connsiteY7" fmla="*/ 240 h 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44" h="45968">
                    <a:moveTo>
                      <a:pt x="56475" y="240"/>
                    </a:moveTo>
                    <a:cubicBezTo>
                      <a:pt x="58696" y="764"/>
                      <a:pt x="60717" y="2135"/>
                      <a:pt x="62011" y="4229"/>
                    </a:cubicBezTo>
                    <a:cubicBezTo>
                      <a:pt x="64600" y="8417"/>
                      <a:pt x="63304" y="13911"/>
                      <a:pt x="59116" y="16500"/>
                    </a:cubicBezTo>
                    <a:lnTo>
                      <a:pt x="13606" y="44635"/>
                    </a:lnTo>
                    <a:cubicBezTo>
                      <a:pt x="9418" y="47224"/>
                      <a:pt x="3924" y="45928"/>
                      <a:pt x="1334" y="41740"/>
                    </a:cubicBezTo>
                    <a:cubicBezTo>
                      <a:pt x="-1255" y="37552"/>
                      <a:pt x="42" y="32058"/>
                      <a:pt x="4230" y="29468"/>
                    </a:cubicBezTo>
                    <a:lnTo>
                      <a:pt x="49740" y="1334"/>
                    </a:lnTo>
                    <a:cubicBezTo>
                      <a:pt x="51834" y="39"/>
                      <a:pt x="54254" y="-284"/>
                      <a:pt x="56475" y="24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8267A775-4EB4-66B6-7095-9C93CE042C50}"/>
                  </a:ext>
                </a:extLst>
              </p:cNvPr>
              <p:cNvSpPr/>
              <p:nvPr/>
            </p:nvSpPr>
            <p:spPr>
              <a:xfrm>
                <a:off x="7711625" y="2671122"/>
                <a:ext cx="81980" cy="59205"/>
              </a:xfrm>
              <a:custGeom>
                <a:avLst/>
                <a:gdLst>
                  <a:gd name="connsiteX0" fmla="*/ 6636 w 63252"/>
                  <a:gd name="connsiteY0" fmla="*/ 232 h 45680"/>
                  <a:gd name="connsiteX1" fmla="*/ 13142 w 63252"/>
                  <a:gd name="connsiteY1" fmla="*/ 1288 h 45680"/>
                  <a:gd name="connsiteX2" fmla="*/ 59168 w 63252"/>
                  <a:gd name="connsiteY2" fmla="*/ 29742 h 45680"/>
                  <a:gd name="connsiteX3" fmla="*/ 61965 w 63252"/>
                  <a:gd name="connsiteY3" fmla="*/ 41596 h 45680"/>
                  <a:gd name="connsiteX4" fmla="*/ 50111 w 63252"/>
                  <a:gd name="connsiteY4" fmla="*/ 44392 h 45680"/>
                  <a:gd name="connsiteX5" fmla="*/ 4085 w 63252"/>
                  <a:gd name="connsiteY5" fmla="*/ 15939 h 45680"/>
                  <a:gd name="connsiteX6" fmla="*/ 1288 w 63252"/>
                  <a:gd name="connsiteY6" fmla="*/ 4085 h 45680"/>
                  <a:gd name="connsiteX7" fmla="*/ 6636 w 63252"/>
                  <a:gd name="connsiteY7" fmla="*/ 232 h 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252" h="45680">
                    <a:moveTo>
                      <a:pt x="6636" y="232"/>
                    </a:moveTo>
                    <a:cubicBezTo>
                      <a:pt x="8781" y="-274"/>
                      <a:pt x="11119" y="38"/>
                      <a:pt x="13142" y="1288"/>
                    </a:cubicBezTo>
                    <a:lnTo>
                      <a:pt x="59168" y="29742"/>
                    </a:lnTo>
                    <a:cubicBezTo>
                      <a:pt x="63214" y="32243"/>
                      <a:pt x="64466" y="37550"/>
                      <a:pt x="61965" y="41596"/>
                    </a:cubicBezTo>
                    <a:cubicBezTo>
                      <a:pt x="59463" y="45641"/>
                      <a:pt x="54156" y="46894"/>
                      <a:pt x="50111" y="44392"/>
                    </a:cubicBezTo>
                    <a:lnTo>
                      <a:pt x="4085" y="15939"/>
                    </a:lnTo>
                    <a:cubicBezTo>
                      <a:pt x="39" y="13438"/>
                      <a:pt x="-1213" y="8131"/>
                      <a:pt x="1288" y="4085"/>
                    </a:cubicBezTo>
                    <a:cubicBezTo>
                      <a:pt x="2539" y="2062"/>
                      <a:pt x="4491" y="738"/>
                      <a:pt x="6636" y="2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A70FCEE9-04D6-F23F-7826-DA56944DC466}"/>
                  </a:ext>
                </a:extLst>
              </p:cNvPr>
              <p:cNvSpPr/>
              <p:nvPr/>
            </p:nvSpPr>
            <p:spPr>
              <a:xfrm>
                <a:off x="7691057" y="2801906"/>
                <a:ext cx="92511" cy="26429"/>
              </a:xfrm>
              <a:custGeom>
                <a:avLst/>
                <a:gdLst>
                  <a:gd name="connsiteX0" fmla="*/ 10237 w 71377"/>
                  <a:gd name="connsiteY0" fmla="*/ 0 h 20391"/>
                  <a:gd name="connsiteX1" fmla="*/ 61181 w 71377"/>
                  <a:gd name="connsiteY1" fmla="*/ 0 h 20391"/>
                  <a:gd name="connsiteX2" fmla="*/ 71377 w 71377"/>
                  <a:gd name="connsiteY2" fmla="*/ 10196 h 20391"/>
                  <a:gd name="connsiteX3" fmla="*/ 61181 w 71377"/>
                  <a:gd name="connsiteY3" fmla="*/ 20391 h 20391"/>
                  <a:gd name="connsiteX4" fmla="*/ 10237 w 71377"/>
                  <a:gd name="connsiteY4" fmla="*/ 20391 h 20391"/>
                  <a:gd name="connsiteX5" fmla="*/ 843 w 71377"/>
                  <a:gd name="connsiteY5" fmla="*/ 14164 h 20391"/>
                  <a:gd name="connsiteX6" fmla="*/ 843 w 71377"/>
                  <a:gd name="connsiteY6" fmla="*/ 6227 h 20391"/>
                  <a:gd name="connsiteX7" fmla="*/ 10237 w 71377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377" h="20391">
                    <a:moveTo>
                      <a:pt x="10237" y="0"/>
                    </a:moveTo>
                    <a:lnTo>
                      <a:pt x="61181" y="0"/>
                    </a:lnTo>
                    <a:cubicBezTo>
                      <a:pt x="66812" y="0"/>
                      <a:pt x="71377" y="4565"/>
                      <a:pt x="71377" y="10196"/>
                    </a:cubicBezTo>
                    <a:cubicBezTo>
                      <a:pt x="71377" y="15827"/>
                      <a:pt x="66812" y="20391"/>
                      <a:pt x="61181" y="20391"/>
                    </a:cubicBezTo>
                    <a:lnTo>
                      <a:pt x="10237" y="20391"/>
                    </a:lnTo>
                    <a:cubicBezTo>
                      <a:pt x="6014" y="20391"/>
                      <a:pt x="2391" y="17824"/>
                      <a:pt x="843" y="14164"/>
                    </a:cubicBezTo>
                    <a:cubicBezTo>
                      <a:pt x="-280" y="12080"/>
                      <a:pt x="-280" y="8312"/>
                      <a:pt x="843" y="6227"/>
                    </a:cubicBezTo>
                    <a:cubicBezTo>
                      <a:pt x="2391" y="2568"/>
                      <a:pt x="6014" y="0"/>
                      <a:pt x="102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4EC06EE1-65E5-851B-96DD-F77E30A8B9B2}"/>
                  </a:ext>
                </a:extLst>
              </p:cNvPr>
              <p:cNvSpPr/>
              <p:nvPr/>
            </p:nvSpPr>
            <p:spPr>
              <a:xfrm>
                <a:off x="8151949" y="2801906"/>
                <a:ext cx="92108" cy="26429"/>
              </a:xfrm>
              <a:custGeom>
                <a:avLst/>
                <a:gdLst>
                  <a:gd name="connsiteX0" fmla="*/ 9927 w 71066"/>
                  <a:gd name="connsiteY0" fmla="*/ 0 h 20391"/>
                  <a:gd name="connsiteX1" fmla="*/ 60870 w 71066"/>
                  <a:gd name="connsiteY1" fmla="*/ 0 h 20391"/>
                  <a:gd name="connsiteX2" fmla="*/ 71066 w 71066"/>
                  <a:gd name="connsiteY2" fmla="*/ 10196 h 20391"/>
                  <a:gd name="connsiteX3" fmla="*/ 60870 w 71066"/>
                  <a:gd name="connsiteY3" fmla="*/ 20391 h 20391"/>
                  <a:gd name="connsiteX4" fmla="*/ 9927 w 71066"/>
                  <a:gd name="connsiteY4" fmla="*/ 20391 h 20391"/>
                  <a:gd name="connsiteX5" fmla="*/ 532 w 71066"/>
                  <a:gd name="connsiteY5" fmla="*/ 14164 h 20391"/>
                  <a:gd name="connsiteX6" fmla="*/ 532 w 71066"/>
                  <a:gd name="connsiteY6" fmla="*/ 6227 h 20391"/>
                  <a:gd name="connsiteX7" fmla="*/ 9927 w 71066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066" h="20391">
                    <a:moveTo>
                      <a:pt x="9927" y="0"/>
                    </a:moveTo>
                    <a:lnTo>
                      <a:pt x="60870" y="0"/>
                    </a:lnTo>
                    <a:cubicBezTo>
                      <a:pt x="66501" y="0"/>
                      <a:pt x="71066" y="4565"/>
                      <a:pt x="71066" y="10196"/>
                    </a:cubicBezTo>
                    <a:cubicBezTo>
                      <a:pt x="71066" y="15827"/>
                      <a:pt x="66501" y="20391"/>
                      <a:pt x="60870" y="20391"/>
                    </a:cubicBezTo>
                    <a:lnTo>
                      <a:pt x="9927" y="20391"/>
                    </a:lnTo>
                    <a:cubicBezTo>
                      <a:pt x="5703" y="20391"/>
                      <a:pt x="2080" y="17824"/>
                      <a:pt x="532" y="14164"/>
                    </a:cubicBezTo>
                    <a:cubicBezTo>
                      <a:pt x="-29" y="10676"/>
                      <a:pt x="-310" y="9434"/>
                      <a:pt x="532" y="6227"/>
                    </a:cubicBezTo>
                    <a:cubicBezTo>
                      <a:pt x="2080" y="2568"/>
                      <a:pt x="5703" y="0"/>
                      <a:pt x="99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4F48A259-2C4C-CF30-37A2-23B151BE779B}"/>
                  </a:ext>
                </a:extLst>
              </p:cNvPr>
              <p:cNvSpPr/>
              <p:nvPr/>
            </p:nvSpPr>
            <p:spPr>
              <a:xfrm>
                <a:off x="8136251" y="2912185"/>
                <a:ext cx="83896" cy="55394"/>
              </a:xfrm>
              <a:custGeom>
                <a:avLst/>
                <a:gdLst>
                  <a:gd name="connsiteX0" fmla="*/ 4775 w 64730"/>
                  <a:gd name="connsiteY0" fmla="*/ 752 h 42739"/>
                  <a:gd name="connsiteX1" fmla="*/ 12566 w 64730"/>
                  <a:gd name="connsiteY1" fmla="*/ 789 h 42739"/>
                  <a:gd name="connsiteX2" fmla="*/ 60305 w 64730"/>
                  <a:gd name="connsiteY2" fmla="*/ 26805 h 42739"/>
                  <a:gd name="connsiteX3" fmla="*/ 63694 w 64730"/>
                  <a:gd name="connsiteY3" fmla="*/ 38314 h 42739"/>
                  <a:gd name="connsiteX4" fmla="*/ 52185 w 64730"/>
                  <a:gd name="connsiteY4" fmla="*/ 41703 h 42739"/>
                  <a:gd name="connsiteX5" fmla="*/ 4446 w 64730"/>
                  <a:gd name="connsiteY5" fmla="*/ 15687 h 42739"/>
                  <a:gd name="connsiteX6" fmla="*/ 1057 w 64730"/>
                  <a:gd name="connsiteY6" fmla="*/ 4178 h 42739"/>
                  <a:gd name="connsiteX7" fmla="*/ 4775 w 64730"/>
                  <a:gd name="connsiteY7" fmla="*/ 752 h 4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730" h="42739">
                    <a:moveTo>
                      <a:pt x="4775" y="752"/>
                    </a:moveTo>
                    <a:cubicBezTo>
                      <a:pt x="6845" y="-110"/>
                      <a:pt x="9593" y="-395"/>
                      <a:pt x="12566" y="789"/>
                    </a:cubicBezTo>
                    <a:lnTo>
                      <a:pt x="60305" y="26805"/>
                    </a:lnTo>
                    <a:cubicBezTo>
                      <a:pt x="64419" y="29047"/>
                      <a:pt x="65936" y="34199"/>
                      <a:pt x="63694" y="38314"/>
                    </a:cubicBezTo>
                    <a:cubicBezTo>
                      <a:pt x="61452" y="42428"/>
                      <a:pt x="56300" y="43945"/>
                      <a:pt x="52185" y="41703"/>
                    </a:cubicBezTo>
                    <a:lnTo>
                      <a:pt x="4446" y="15687"/>
                    </a:lnTo>
                    <a:cubicBezTo>
                      <a:pt x="135" y="13362"/>
                      <a:pt x="-1139" y="6942"/>
                      <a:pt x="1057" y="4178"/>
                    </a:cubicBezTo>
                    <a:cubicBezTo>
                      <a:pt x="1315" y="3054"/>
                      <a:pt x="2705" y="1615"/>
                      <a:pt x="4775" y="75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9DCBE92D-9BCD-ACC8-6BA7-56CB958FE096}"/>
                  </a:ext>
                </a:extLst>
              </p:cNvPr>
              <p:cNvSpPr/>
              <p:nvPr/>
            </p:nvSpPr>
            <p:spPr>
              <a:xfrm>
                <a:off x="7714896" y="2913795"/>
                <a:ext cx="84338" cy="57715"/>
              </a:xfrm>
              <a:custGeom>
                <a:avLst/>
                <a:gdLst>
                  <a:gd name="connsiteX0" fmla="*/ 57922 w 65071"/>
                  <a:gd name="connsiteY0" fmla="*/ 409 h 44530"/>
                  <a:gd name="connsiteX1" fmla="*/ 63855 w 65071"/>
                  <a:gd name="connsiteY1" fmla="*/ 5198 h 44530"/>
                  <a:gd name="connsiteX2" fmla="*/ 59874 w 65071"/>
                  <a:gd name="connsiteY2" fmla="*/ 18713 h 44530"/>
                  <a:gd name="connsiteX3" fmla="*/ 14732 w 65071"/>
                  <a:gd name="connsiteY3" fmla="*/ 43314 h 44530"/>
                  <a:gd name="connsiteX4" fmla="*/ 1217 w 65071"/>
                  <a:gd name="connsiteY4" fmla="*/ 39333 h 44530"/>
                  <a:gd name="connsiteX5" fmla="*/ 5198 w 65071"/>
                  <a:gd name="connsiteY5" fmla="*/ 25818 h 44530"/>
                  <a:gd name="connsiteX6" fmla="*/ 50340 w 65071"/>
                  <a:gd name="connsiteY6" fmla="*/ 1217 h 44530"/>
                  <a:gd name="connsiteX7" fmla="*/ 57922 w 65071"/>
                  <a:gd name="connsiteY7" fmla="*/ 409 h 4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71" h="44530">
                    <a:moveTo>
                      <a:pt x="57922" y="409"/>
                    </a:moveTo>
                    <a:cubicBezTo>
                      <a:pt x="60367" y="1129"/>
                      <a:pt x="62538" y="2782"/>
                      <a:pt x="63855" y="5198"/>
                    </a:cubicBezTo>
                    <a:cubicBezTo>
                      <a:pt x="66488" y="10029"/>
                      <a:pt x="64705" y="16080"/>
                      <a:pt x="59874" y="18713"/>
                    </a:cubicBezTo>
                    <a:lnTo>
                      <a:pt x="14732" y="43314"/>
                    </a:lnTo>
                    <a:cubicBezTo>
                      <a:pt x="9901" y="45947"/>
                      <a:pt x="3850" y="44164"/>
                      <a:pt x="1217" y="39333"/>
                    </a:cubicBezTo>
                    <a:cubicBezTo>
                      <a:pt x="-1416" y="34502"/>
                      <a:pt x="366" y="28451"/>
                      <a:pt x="5198" y="25818"/>
                    </a:cubicBezTo>
                    <a:lnTo>
                      <a:pt x="50340" y="1217"/>
                    </a:lnTo>
                    <a:cubicBezTo>
                      <a:pt x="52756" y="-99"/>
                      <a:pt x="55476" y="-312"/>
                      <a:pt x="57922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1C5B56EC-CE11-663E-B6EB-DB3E28846C42}"/>
                  </a:ext>
                </a:extLst>
              </p:cNvPr>
              <p:cNvSpPr/>
              <p:nvPr/>
            </p:nvSpPr>
            <p:spPr>
              <a:xfrm>
                <a:off x="7888095" y="2978586"/>
                <a:ext cx="160562" cy="26960"/>
              </a:xfrm>
              <a:custGeom>
                <a:avLst/>
                <a:gdLst>
                  <a:gd name="connsiteX0" fmla="*/ 10401 w 123882"/>
                  <a:gd name="connsiteY0" fmla="*/ 0 h 20801"/>
                  <a:gd name="connsiteX1" fmla="*/ 113482 w 123882"/>
                  <a:gd name="connsiteY1" fmla="*/ 0 h 20801"/>
                  <a:gd name="connsiteX2" fmla="*/ 123882 w 123882"/>
                  <a:gd name="connsiteY2" fmla="*/ 10400 h 20801"/>
                  <a:gd name="connsiteX3" fmla="*/ 113482 w 123882"/>
                  <a:gd name="connsiteY3" fmla="*/ 20801 h 20801"/>
                  <a:gd name="connsiteX4" fmla="*/ 10401 w 123882"/>
                  <a:gd name="connsiteY4" fmla="*/ 20801 h 20801"/>
                  <a:gd name="connsiteX5" fmla="*/ 0 w 123882"/>
                  <a:gd name="connsiteY5" fmla="*/ 10400 h 20801"/>
                  <a:gd name="connsiteX6" fmla="*/ 10401 w 123882"/>
                  <a:gd name="connsiteY6" fmla="*/ 0 h 20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82" h="20801">
                    <a:moveTo>
                      <a:pt x="10401" y="0"/>
                    </a:moveTo>
                    <a:lnTo>
                      <a:pt x="113482" y="0"/>
                    </a:lnTo>
                    <a:cubicBezTo>
                      <a:pt x="119226" y="0"/>
                      <a:pt x="123882" y="4656"/>
                      <a:pt x="123882" y="10400"/>
                    </a:cubicBezTo>
                    <a:cubicBezTo>
                      <a:pt x="123882" y="16144"/>
                      <a:pt x="119226" y="20801"/>
                      <a:pt x="113482" y="20801"/>
                    </a:cubicBezTo>
                    <a:lnTo>
                      <a:pt x="10401" y="20801"/>
                    </a:lnTo>
                    <a:cubicBezTo>
                      <a:pt x="4657" y="20801"/>
                      <a:pt x="0" y="16144"/>
                      <a:pt x="0" y="10400"/>
                    </a:cubicBezTo>
                    <a:cubicBezTo>
                      <a:pt x="0" y="4656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68C872F-DD2D-36B8-A6D8-96B7E287C6BC}"/>
                  </a:ext>
                </a:extLst>
              </p:cNvPr>
              <p:cNvSpPr/>
              <p:nvPr/>
            </p:nvSpPr>
            <p:spPr>
              <a:xfrm>
                <a:off x="7897777" y="3026998"/>
                <a:ext cx="139594" cy="39243"/>
              </a:xfrm>
              <a:custGeom>
                <a:avLst/>
                <a:gdLst>
                  <a:gd name="connsiteX0" fmla="*/ 10401 w 107704"/>
                  <a:gd name="connsiteY0" fmla="*/ 0 h 30278"/>
                  <a:gd name="connsiteX1" fmla="*/ 97303 w 107704"/>
                  <a:gd name="connsiteY1" fmla="*/ 0 h 30278"/>
                  <a:gd name="connsiteX2" fmla="*/ 107704 w 107704"/>
                  <a:gd name="connsiteY2" fmla="*/ 10401 h 30278"/>
                  <a:gd name="connsiteX3" fmla="*/ 101351 w 107704"/>
                  <a:gd name="connsiteY3" fmla="*/ 19984 h 30278"/>
                  <a:gd name="connsiteX4" fmla="*/ 99383 w 107704"/>
                  <a:gd name="connsiteY4" fmla="*/ 20381 h 30278"/>
                  <a:gd name="connsiteX5" fmla="*/ 99383 w 107704"/>
                  <a:gd name="connsiteY5" fmla="*/ 22650 h 30278"/>
                  <a:gd name="connsiteX6" fmla="*/ 91756 w 107704"/>
                  <a:gd name="connsiteY6" fmla="*/ 30278 h 30278"/>
                  <a:gd name="connsiteX7" fmla="*/ 16410 w 107704"/>
                  <a:gd name="connsiteY7" fmla="*/ 30278 h 30278"/>
                  <a:gd name="connsiteX8" fmla="*/ 8783 w 107704"/>
                  <a:gd name="connsiteY8" fmla="*/ 22650 h 30278"/>
                  <a:gd name="connsiteX9" fmla="*/ 8783 w 107704"/>
                  <a:gd name="connsiteY9" fmla="*/ 20475 h 30278"/>
                  <a:gd name="connsiteX10" fmla="*/ 6352 w 107704"/>
                  <a:gd name="connsiteY10" fmla="*/ 19984 h 30278"/>
                  <a:gd name="connsiteX11" fmla="*/ 0 w 107704"/>
                  <a:gd name="connsiteY11" fmla="*/ 10401 h 30278"/>
                  <a:gd name="connsiteX12" fmla="*/ 10401 w 107704"/>
                  <a:gd name="connsiteY12" fmla="*/ 0 h 3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704" h="30278">
                    <a:moveTo>
                      <a:pt x="10401" y="0"/>
                    </a:moveTo>
                    <a:lnTo>
                      <a:pt x="97303" y="0"/>
                    </a:lnTo>
                    <a:cubicBezTo>
                      <a:pt x="103047" y="0"/>
                      <a:pt x="107704" y="4657"/>
                      <a:pt x="107704" y="10401"/>
                    </a:cubicBezTo>
                    <a:cubicBezTo>
                      <a:pt x="107704" y="14709"/>
                      <a:pt x="105084" y="18405"/>
                      <a:pt x="101351" y="19984"/>
                    </a:cubicBezTo>
                    <a:lnTo>
                      <a:pt x="99383" y="20381"/>
                    </a:lnTo>
                    <a:lnTo>
                      <a:pt x="99383" y="22650"/>
                    </a:lnTo>
                    <a:cubicBezTo>
                      <a:pt x="99383" y="26863"/>
                      <a:pt x="95968" y="30278"/>
                      <a:pt x="91756" y="30278"/>
                    </a:cubicBezTo>
                    <a:lnTo>
                      <a:pt x="16410" y="30278"/>
                    </a:lnTo>
                    <a:cubicBezTo>
                      <a:pt x="12198" y="30278"/>
                      <a:pt x="8783" y="26863"/>
                      <a:pt x="8783" y="22650"/>
                    </a:cubicBezTo>
                    <a:lnTo>
                      <a:pt x="8783" y="20475"/>
                    </a:lnTo>
                    <a:lnTo>
                      <a:pt x="6352" y="19984"/>
                    </a:lnTo>
                    <a:cubicBezTo>
                      <a:pt x="2619" y="18405"/>
                      <a:pt x="0" y="14709"/>
                      <a:pt x="0" y="10401"/>
                    </a:cubicBezTo>
                    <a:cubicBezTo>
                      <a:pt x="0" y="4657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940D2EF-CD0F-9E35-3D31-C0B6106DFA3D}"/>
              </a:ext>
            </a:extLst>
          </p:cNvPr>
          <p:cNvSpPr/>
          <p:nvPr/>
        </p:nvSpPr>
        <p:spPr>
          <a:xfrm rot="16200000">
            <a:off x="-52050" y="1586361"/>
            <a:ext cx="489387" cy="210863"/>
          </a:xfrm>
          <a:prstGeom prst="rightArrow">
            <a:avLst/>
          </a:prstGeom>
          <a:gradFill flip="none" rotWithShape="1">
            <a:gsLst>
              <a:gs pos="9000">
                <a:srgbClr val="FF0000"/>
              </a:gs>
              <a:gs pos="47000">
                <a:srgbClr val="FFC000"/>
              </a:gs>
              <a:gs pos="99000">
                <a:srgbClr val="02FE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5F1CBC-FBB5-B5FC-3CC4-B1B216FE2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21" y="1101191"/>
            <a:ext cx="2152768" cy="166626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B11BFB5-7CD4-858D-B00D-AD20574A24CC}"/>
              </a:ext>
            </a:extLst>
          </p:cNvPr>
          <p:cNvSpPr/>
          <p:nvPr/>
        </p:nvSpPr>
        <p:spPr>
          <a:xfrm>
            <a:off x="3535847" y="840284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889B3A-9A69-2407-FAB8-9839D3C7F897}"/>
              </a:ext>
            </a:extLst>
          </p:cNvPr>
          <p:cNvSpPr/>
          <p:nvPr/>
        </p:nvSpPr>
        <p:spPr>
          <a:xfrm>
            <a:off x="5458625" y="850945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FD8ED2-CAB9-3953-8FFF-E13C15D01D6C}"/>
              </a:ext>
            </a:extLst>
          </p:cNvPr>
          <p:cNvSpPr/>
          <p:nvPr/>
        </p:nvSpPr>
        <p:spPr>
          <a:xfrm>
            <a:off x="7138317" y="843919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909C4-8DB9-EADA-0C54-9265756D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02EEE33-5DCC-9CDA-262E-E1CBDE1696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58610" y="962857"/>
            <a:ext cx="5266257" cy="19287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EC6A1-7EBF-0276-387D-1D849071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D89216-45E7-E369-D76E-844A93364835}"/>
              </a:ext>
            </a:extLst>
          </p:cNvPr>
          <p:cNvSpPr txBox="1"/>
          <p:nvPr/>
        </p:nvSpPr>
        <p:spPr>
          <a:xfrm>
            <a:off x="152633" y="389435"/>
            <a:ext cx="5833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Holistic Pipeline Exploration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AD7CB7-C8B8-51FF-D9E1-D609091D6217}"/>
              </a:ext>
            </a:extLst>
          </p:cNvPr>
          <p:cNvSpPr txBox="1"/>
          <p:nvPr/>
        </p:nvSpPr>
        <p:spPr>
          <a:xfrm>
            <a:off x="3130659" y="2910055"/>
            <a:ext cx="2327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Four main </a:t>
            </a:r>
            <a:r>
              <a:rPr lang="en-US" sz="16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features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 </a:t>
            </a:r>
            <a:r>
              <a:rPr lang="en-US" sz="16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: </a:t>
            </a:r>
            <a:r>
              <a:rPr lang="en-US" sz="16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D0E4F-7505-55BD-6076-8EA19F2943F4}"/>
              </a:ext>
            </a:extLst>
          </p:cNvPr>
          <p:cNvSpPr txBox="1"/>
          <p:nvPr/>
        </p:nvSpPr>
        <p:spPr>
          <a:xfrm>
            <a:off x="3005918" y="3219870"/>
            <a:ext cx="31836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● Queue length 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  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● I/O size</a:t>
            </a:r>
          </a:p>
          <a:p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● Latency             ● Throughput 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6D8EC8A-862E-B72D-56A8-88948FB4D9DD}"/>
              </a:ext>
            </a:extLst>
          </p:cNvPr>
          <p:cNvGrpSpPr/>
          <p:nvPr/>
        </p:nvGrpSpPr>
        <p:grpSpPr>
          <a:xfrm>
            <a:off x="2754349" y="2862815"/>
            <a:ext cx="369016" cy="369333"/>
            <a:chOff x="7691057" y="2512766"/>
            <a:chExt cx="553000" cy="553475"/>
          </a:xfrm>
          <a:solidFill>
            <a:schemeClr val="bg2">
              <a:lumMod val="25000"/>
              <a:lumOff val="75000"/>
            </a:schemeClr>
          </a:solidFill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811D8632-5CDC-E111-D1DD-036A13EA3929}"/>
                </a:ext>
              </a:extLst>
            </p:cNvPr>
            <p:cNvSpPr/>
            <p:nvPr/>
          </p:nvSpPr>
          <p:spPr>
            <a:xfrm>
              <a:off x="7954733" y="2512766"/>
              <a:ext cx="25974" cy="92457"/>
            </a:xfrm>
            <a:custGeom>
              <a:avLst/>
              <a:gdLst>
                <a:gd name="connsiteX0" fmla="*/ 10020 w 20040"/>
                <a:gd name="connsiteY0" fmla="*/ 0 h 71335"/>
                <a:gd name="connsiteX1" fmla="*/ 20040 w 20040"/>
                <a:gd name="connsiteY1" fmla="*/ 10020 h 71335"/>
                <a:gd name="connsiteX2" fmla="*/ 20040 w 20040"/>
                <a:gd name="connsiteY2" fmla="*/ 61315 h 71335"/>
                <a:gd name="connsiteX3" fmla="*/ 10020 w 20040"/>
                <a:gd name="connsiteY3" fmla="*/ 71335 h 71335"/>
                <a:gd name="connsiteX4" fmla="*/ 0 w 20040"/>
                <a:gd name="connsiteY4" fmla="*/ 61315 h 71335"/>
                <a:gd name="connsiteX5" fmla="*/ 0 w 20040"/>
                <a:gd name="connsiteY5" fmla="*/ 10020 h 71335"/>
                <a:gd name="connsiteX6" fmla="*/ 10020 w 20040"/>
                <a:gd name="connsiteY6" fmla="*/ 0 h 7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0" h="71335">
                  <a:moveTo>
                    <a:pt x="10020" y="0"/>
                  </a:moveTo>
                  <a:cubicBezTo>
                    <a:pt x="15554" y="0"/>
                    <a:pt x="20040" y="4486"/>
                    <a:pt x="20040" y="10020"/>
                  </a:cubicBezTo>
                  <a:cubicBezTo>
                    <a:pt x="20040" y="27119"/>
                    <a:pt x="20040" y="44217"/>
                    <a:pt x="20040" y="61315"/>
                  </a:cubicBezTo>
                  <a:cubicBezTo>
                    <a:pt x="19226" y="66620"/>
                    <a:pt x="16167" y="70802"/>
                    <a:pt x="10020" y="71335"/>
                  </a:cubicBezTo>
                  <a:cubicBezTo>
                    <a:pt x="7169" y="70996"/>
                    <a:pt x="1670" y="71535"/>
                    <a:pt x="0" y="61315"/>
                  </a:cubicBezTo>
                  <a:lnTo>
                    <a:pt x="0" y="10020"/>
                  </a:lnTo>
                  <a:cubicBezTo>
                    <a:pt x="0" y="4486"/>
                    <a:pt x="4486" y="0"/>
                    <a:pt x="1002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4A6F089-6453-52E7-CD4E-820BFDC84779}"/>
                </a:ext>
              </a:extLst>
            </p:cNvPr>
            <p:cNvSpPr/>
            <p:nvPr/>
          </p:nvSpPr>
          <p:spPr>
            <a:xfrm>
              <a:off x="7807901" y="2555822"/>
              <a:ext cx="60943" cy="83019"/>
            </a:xfrm>
            <a:custGeom>
              <a:avLst/>
              <a:gdLst>
                <a:gd name="connsiteX0" fmla="*/ 11085 w 47021"/>
                <a:gd name="connsiteY0" fmla="*/ 32 h 64053"/>
                <a:gd name="connsiteX1" fmla="*/ 19135 w 47021"/>
                <a:gd name="connsiteY1" fmla="*/ 5030 h 64053"/>
                <a:gd name="connsiteX2" fmla="*/ 45532 w 47021"/>
                <a:gd name="connsiteY2" fmla="*/ 48493 h 64053"/>
                <a:gd name="connsiteX3" fmla="*/ 42094 w 47021"/>
                <a:gd name="connsiteY3" fmla="*/ 62564 h 64053"/>
                <a:gd name="connsiteX4" fmla="*/ 28023 w 47021"/>
                <a:gd name="connsiteY4" fmla="*/ 59126 h 64053"/>
                <a:gd name="connsiteX5" fmla="*/ 1626 w 47021"/>
                <a:gd name="connsiteY5" fmla="*/ 15664 h 64053"/>
                <a:gd name="connsiteX6" fmla="*/ 5064 w 47021"/>
                <a:gd name="connsiteY6" fmla="*/ 1593 h 64053"/>
                <a:gd name="connsiteX7" fmla="*/ 11085 w 47021"/>
                <a:gd name="connsiteY7" fmla="*/ 32 h 64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21" h="64053">
                  <a:moveTo>
                    <a:pt x="11085" y="32"/>
                  </a:moveTo>
                  <a:cubicBezTo>
                    <a:pt x="13536" y="241"/>
                    <a:pt x="16324" y="1543"/>
                    <a:pt x="19135" y="5030"/>
                  </a:cubicBezTo>
                  <a:lnTo>
                    <a:pt x="45532" y="48493"/>
                  </a:lnTo>
                  <a:cubicBezTo>
                    <a:pt x="48468" y="53327"/>
                    <a:pt x="46929" y="59627"/>
                    <a:pt x="42094" y="62564"/>
                  </a:cubicBezTo>
                  <a:cubicBezTo>
                    <a:pt x="37260" y="65500"/>
                    <a:pt x="30960" y="63961"/>
                    <a:pt x="28023" y="59126"/>
                  </a:cubicBezTo>
                  <a:lnTo>
                    <a:pt x="1626" y="15664"/>
                  </a:lnTo>
                  <a:cubicBezTo>
                    <a:pt x="-2481" y="9162"/>
                    <a:pt x="2146" y="3365"/>
                    <a:pt x="5064" y="1593"/>
                  </a:cubicBezTo>
                  <a:cubicBezTo>
                    <a:pt x="6523" y="707"/>
                    <a:pt x="8635" y="-177"/>
                    <a:pt x="11085" y="3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FCB3609E-5039-71B7-8F1E-94F97A467932}"/>
                </a:ext>
              </a:extLst>
            </p:cNvPr>
            <p:cNvSpPr/>
            <p:nvPr/>
          </p:nvSpPr>
          <p:spPr>
            <a:xfrm>
              <a:off x="8064823" y="2555817"/>
              <a:ext cx="60959" cy="82943"/>
            </a:xfrm>
            <a:custGeom>
              <a:avLst/>
              <a:gdLst>
                <a:gd name="connsiteX0" fmla="*/ 34168 w 47033"/>
                <a:gd name="connsiteY0" fmla="*/ 299 h 63995"/>
                <a:gd name="connsiteX1" fmla="*/ 42032 w 47033"/>
                <a:gd name="connsiteY1" fmla="*/ 1513 h 63995"/>
                <a:gd name="connsiteX2" fmla="*/ 45521 w 47033"/>
                <a:gd name="connsiteY2" fmla="*/ 15795 h 63995"/>
                <a:gd name="connsiteX3" fmla="*/ 19284 w 47033"/>
                <a:gd name="connsiteY3" fmla="*/ 58994 h 63995"/>
                <a:gd name="connsiteX4" fmla="*/ 5002 w 47033"/>
                <a:gd name="connsiteY4" fmla="*/ 62483 h 63995"/>
                <a:gd name="connsiteX5" fmla="*/ 1513 w 47033"/>
                <a:gd name="connsiteY5" fmla="*/ 48201 h 63995"/>
                <a:gd name="connsiteX6" fmla="*/ 27750 w 47033"/>
                <a:gd name="connsiteY6" fmla="*/ 5001 h 63995"/>
                <a:gd name="connsiteX7" fmla="*/ 34168 w 47033"/>
                <a:gd name="connsiteY7" fmla="*/ 299 h 6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33" h="63995">
                  <a:moveTo>
                    <a:pt x="34168" y="299"/>
                  </a:moveTo>
                  <a:cubicBezTo>
                    <a:pt x="36753" y="-332"/>
                    <a:pt x="39578" y="22"/>
                    <a:pt x="42032" y="1513"/>
                  </a:cubicBezTo>
                  <a:cubicBezTo>
                    <a:pt x="46939" y="4493"/>
                    <a:pt x="48502" y="10887"/>
                    <a:pt x="45521" y="15795"/>
                  </a:cubicBezTo>
                  <a:lnTo>
                    <a:pt x="19284" y="58994"/>
                  </a:lnTo>
                  <a:cubicBezTo>
                    <a:pt x="16304" y="63902"/>
                    <a:pt x="9909" y="65464"/>
                    <a:pt x="5002" y="62483"/>
                  </a:cubicBezTo>
                  <a:cubicBezTo>
                    <a:pt x="94" y="59503"/>
                    <a:pt x="-1468" y="53108"/>
                    <a:pt x="1513" y="48201"/>
                  </a:cubicBezTo>
                  <a:lnTo>
                    <a:pt x="27750" y="5001"/>
                  </a:lnTo>
                  <a:cubicBezTo>
                    <a:pt x="29240" y="2548"/>
                    <a:pt x="31584" y="930"/>
                    <a:pt x="34168" y="2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73F454D-9550-F0B5-F718-C8D31F24FBA2}"/>
                </a:ext>
              </a:extLst>
            </p:cNvPr>
            <p:cNvSpPr/>
            <p:nvPr/>
          </p:nvSpPr>
          <p:spPr>
            <a:xfrm>
              <a:off x="7823319" y="2656561"/>
              <a:ext cx="285897" cy="302403"/>
            </a:xfrm>
            <a:custGeom>
              <a:avLst/>
              <a:gdLst>
                <a:gd name="connsiteX0" fmla="*/ 148196 w 221978"/>
                <a:gd name="connsiteY0" fmla="*/ 100727 h 233319"/>
                <a:gd name="connsiteX1" fmla="*/ 139456 w 221978"/>
                <a:gd name="connsiteY1" fmla="*/ 102643 h 233319"/>
                <a:gd name="connsiteX2" fmla="*/ 111846 w 221978"/>
                <a:gd name="connsiteY2" fmla="*/ 112165 h 233319"/>
                <a:gd name="connsiteX3" fmla="*/ 83905 w 221978"/>
                <a:gd name="connsiteY3" fmla="*/ 102910 h 233319"/>
                <a:gd name="connsiteX4" fmla="*/ 78955 w 221978"/>
                <a:gd name="connsiteY4" fmla="*/ 110817 h 233319"/>
                <a:gd name="connsiteX5" fmla="*/ 106989 w 221978"/>
                <a:gd name="connsiteY5" fmla="*/ 185136 h 233319"/>
                <a:gd name="connsiteX6" fmla="*/ 113999 w 221978"/>
                <a:gd name="connsiteY6" fmla="*/ 186579 h 233319"/>
                <a:gd name="connsiteX7" fmla="*/ 145642 w 221978"/>
                <a:gd name="connsiteY7" fmla="*/ 108951 h 233319"/>
                <a:gd name="connsiteX8" fmla="*/ 148196 w 221978"/>
                <a:gd name="connsiteY8" fmla="*/ 100727 h 233319"/>
                <a:gd name="connsiteX9" fmla="*/ 113768 w 221978"/>
                <a:gd name="connsiteY9" fmla="*/ 0 h 233319"/>
                <a:gd name="connsiteX10" fmla="*/ 195210 w 221978"/>
                <a:gd name="connsiteY10" fmla="*/ 176513 h 233319"/>
                <a:gd name="connsiteX11" fmla="*/ 164616 w 221978"/>
                <a:gd name="connsiteY11" fmla="*/ 233319 h 233319"/>
                <a:gd name="connsiteX12" fmla="*/ 56912 w 221978"/>
                <a:gd name="connsiteY12" fmla="*/ 233319 h 233319"/>
                <a:gd name="connsiteX13" fmla="*/ 21456 w 221978"/>
                <a:gd name="connsiteY13" fmla="*/ 167623 h 233319"/>
                <a:gd name="connsiteX14" fmla="*/ 113768 w 221978"/>
                <a:gd name="connsiteY14" fmla="*/ 0 h 233319"/>
                <a:gd name="connsiteX0" fmla="*/ 148196 w 220584"/>
                <a:gd name="connsiteY0" fmla="*/ 100727 h 233319"/>
                <a:gd name="connsiteX1" fmla="*/ 139456 w 220584"/>
                <a:gd name="connsiteY1" fmla="*/ 102643 h 233319"/>
                <a:gd name="connsiteX2" fmla="*/ 111846 w 220584"/>
                <a:gd name="connsiteY2" fmla="*/ 112165 h 233319"/>
                <a:gd name="connsiteX3" fmla="*/ 83905 w 220584"/>
                <a:gd name="connsiteY3" fmla="*/ 102910 h 233319"/>
                <a:gd name="connsiteX4" fmla="*/ 78955 w 220584"/>
                <a:gd name="connsiteY4" fmla="*/ 110817 h 233319"/>
                <a:gd name="connsiteX5" fmla="*/ 106989 w 220584"/>
                <a:gd name="connsiteY5" fmla="*/ 185136 h 233319"/>
                <a:gd name="connsiteX6" fmla="*/ 113999 w 220584"/>
                <a:gd name="connsiteY6" fmla="*/ 186579 h 233319"/>
                <a:gd name="connsiteX7" fmla="*/ 145642 w 220584"/>
                <a:gd name="connsiteY7" fmla="*/ 108951 h 233319"/>
                <a:gd name="connsiteX8" fmla="*/ 148196 w 220584"/>
                <a:gd name="connsiteY8" fmla="*/ 100727 h 233319"/>
                <a:gd name="connsiteX9" fmla="*/ 113768 w 220584"/>
                <a:gd name="connsiteY9" fmla="*/ 0 h 233319"/>
                <a:gd name="connsiteX10" fmla="*/ 195210 w 220584"/>
                <a:gd name="connsiteY10" fmla="*/ 176513 h 233319"/>
                <a:gd name="connsiteX11" fmla="*/ 164616 w 220584"/>
                <a:gd name="connsiteY11" fmla="*/ 233319 h 233319"/>
                <a:gd name="connsiteX12" fmla="*/ 56912 w 220584"/>
                <a:gd name="connsiteY12" fmla="*/ 233319 h 233319"/>
                <a:gd name="connsiteX13" fmla="*/ 21456 w 220584"/>
                <a:gd name="connsiteY13" fmla="*/ 167623 h 233319"/>
                <a:gd name="connsiteX14" fmla="*/ 113768 w 220584"/>
                <a:gd name="connsiteY14" fmla="*/ 0 h 23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0584" h="233319">
                  <a:moveTo>
                    <a:pt x="148196" y="100727"/>
                  </a:moveTo>
                  <a:cubicBezTo>
                    <a:pt x="146528" y="99132"/>
                    <a:pt x="142979" y="99227"/>
                    <a:pt x="139456" y="102643"/>
                  </a:cubicBezTo>
                  <a:cubicBezTo>
                    <a:pt x="130654" y="109347"/>
                    <a:pt x="121031" y="112275"/>
                    <a:pt x="111846" y="112165"/>
                  </a:cubicBezTo>
                  <a:cubicBezTo>
                    <a:pt x="105846" y="112808"/>
                    <a:pt x="93976" y="110134"/>
                    <a:pt x="83905" y="102910"/>
                  </a:cubicBezTo>
                  <a:cubicBezTo>
                    <a:pt x="71294" y="95750"/>
                    <a:pt x="71132" y="105075"/>
                    <a:pt x="78955" y="110817"/>
                  </a:cubicBezTo>
                  <a:cubicBezTo>
                    <a:pt x="97987" y="129977"/>
                    <a:pt x="107848" y="156107"/>
                    <a:pt x="106989" y="185136"/>
                  </a:cubicBezTo>
                  <a:cubicBezTo>
                    <a:pt x="107344" y="193481"/>
                    <a:pt x="113769" y="191379"/>
                    <a:pt x="113999" y="186579"/>
                  </a:cubicBezTo>
                  <a:cubicBezTo>
                    <a:pt x="117445" y="161891"/>
                    <a:pt x="124658" y="130909"/>
                    <a:pt x="145642" y="108951"/>
                  </a:cubicBezTo>
                  <a:cubicBezTo>
                    <a:pt x="149649" y="105607"/>
                    <a:pt x="149863" y="102322"/>
                    <a:pt x="148196" y="100727"/>
                  </a:cubicBezTo>
                  <a:close/>
                  <a:moveTo>
                    <a:pt x="113768" y="0"/>
                  </a:moveTo>
                  <a:cubicBezTo>
                    <a:pt x="214371" y="182"/>
                    <a:pt x="249363" y="112029"/>
                    <a:pt x="195210" y="176513"/>
                  </a:cubicBezTo>
                  <a:cubicBezTo>
                    <a:pt x="182059" y="195448"/>
                    <a:pt x="172353" y="207985"/>
                    <a:pt x="164616" y="233319"/>
                  </a:cubicBezTo>
                  <a:lnTo>
                    <a:pt x="56912" y="233319"/>
                  </a:lnTo>
                  <a:cubicBezTo>
                    <a:pt x="52968" y="210928"/>
                    <a:pt x="40165" y="192967"/>
                    <a:pt x="21456" y="167623"/>
                  </a:cubicBezTo>
                  <a:cubicBezTo>
                    <a:pt x="-27843" y="108939"/>
                    <a:pt x="9832" y="344"/>
                    <a:pt x="113768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46482DED-7FB6-F178-2F2C-D80D47BB4D02}"/>
                </a:ext>
              </a:extLst>
            </p:cNvPr>
            <p:cNvSpPr/>
            <p:nvPr/>
          </p:nvSpPr>
          <p:spPr>
            <a:xfrm>
              <a:off x="8138445" y="2667325"/>
              <a:ext cx="82100" cy="59579"/>
            </a:xfrm>
            <a:custGeom>
              <a:avLst/>
              <a:gdLst>
                <a:gd name="connsiteX0" fmla="*/ 56475 w 63344"/>
                <a:gd name="connsiteY0" fmla="*/ 240 h 45968"/>
                <a:gd name="connsiteX1" fmla="*/ 62011 w 63344"/>
                <a:gd name="connsiteY1" fmla="*/ 4229 h 45968"/>
                <a:gd name="connsiteX2" fmla="*/ 59116 w 63344"/>
                <a:gd name="connsiteY2" fmla="*/ 16500 h 45968"/>
                <a:gd name="connsiteX3" fmla="*/ 13606 w 63344"/>
                <a:gd name="connsiteY3" fmla="*/ 44635 h 45968"/>
                <a:gd name="connsiteX4" fmla="*/ 1334 w 63344"/>
                <a:gd name="connsiteY4" fmla="*/ 41740 h 45968"/>
                <a:gd name="connsiteX5" fmla="*/ 4230 w 63344"/>
                <a:gd name="connsiteY5" fmla="*/ 29468 h 45968"/>
                <a:gd name="connsiteX6" fmla="*/ 49740 w 63344"/>
                <a:gd name="connsiteY6" fmla="*/ 1334 h 45968"/>
                <a:gd name="connsiteX7" fmla="*/ 56475 w 63344"/>
                <a:gd name="connsiteY7" fmla="*/ 240 h 4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44" h="45968">
                  <a:moveTo>
                    <a:pt x="56475" y="240"/>
                  </a:moveTo>
                  <a:cubicBezTo>
                    <a:pt x="58696" y="764"/>
                    <a:pt x="60717" y="2135"/>
                    <a:pt x="62011" y="4229"/>
                  </a:cubicBezTo>
                  <a:cubicBezTo>
                    <a:pt x="64600" y="8417"/>
                    <a:pt x="63304" y="13911"/>
                    <a:pt x="59116" y="16500"/>
                  </a:cubicBezTo>
                  <a:lnTo>
                    <a:pt x="13606" y="44635"/>
                  </a:lnTo>
                  <a:cubicBezTo>
                    <a:pt x="9418" y="47224"/>
                    <a:pt x="3924" y="45928"/>
                    <a:pt x="1334" y="41740"/>
                  </a:cubicBezTo>
                  <a:cubicBezTo>
                    <a:pt x="-1255" y="37552"/>
                    <a:pt x="42" y="32058"/>
                    <a:pt x="4230" y="29468"/>
                  </a:cubicBezTo>
                  <a:lnTo>
                    <a:pt x="49740" y="1334"/>
                  </a:lnTo>
                  <a:cubicBezTo>
                    <a:pt x="51834" y="39"/>
                    <a:pt x="54254" y="-284"/>
                    <a:pt x="56475" y="24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AF5F5DE-13BA-C791-5A63-446520F965C0}"/>
                </a:ext>
              </a:extLst>
            </p:cNvPr>
            <p:cNvSpPr/>
            <p:nvPr/>
          </p:nvSpPr>
          <p:spPr>
            <a:xfrm>
              <a:off x="7711625" y="2671122"/>
              <a:ext cx="81980" cy="59205"/>
            </a:xfrm>
            <a:custGeom>
              <a:avLst/>
              <a:gdLst>
                <a:gd name="connsiteX0" fmla="*/ 6636 w 63252"/>
                <a:gd name="connsiteY0" fmla="*/ 232 h 45680"/>
                <a:gd name="connsiteX1" fmla="*/ 13142 w 63252"/>
                <a:gd name="connsiteY1" fmla="*/ 1288 h 45680"/>
                <a:gd name="connsiteX2" fmla="*/ 59168 w 63252"/>
                <a:gd name="connsiteY2" fmla="*/ 29742 h 45680"/>
                <a:gd name="connsiteX3" fmla="*/ 61965 w 63252"/>
                <a:gd name="connsiteY3" fmla="*/ 41596 h 45680"/>
                <a:gd name="connsiteX4" fmla="*/ 50111 w 63252"/>
                <a:gd name="connsiteY4" fmla="*/ 44392 h 45680"/>
                <a:gd name="connsiteX5" fmla="*/ 4085 w 63252"/>
                <a:gd name="connsiteY5" fmla="*/ 15939 h 45680"/>
                <a:gd name="connsiteX6" fmla="*/ 1288 w 63252"/>
                <a:gd name="connsiteY6" fmla="*/ 4085 h 45680"/>
                <a:gd name="connsiteX7" fmla="*/ 6636 w 63252"/>
                <a:gd name="connsiteY7" fmla="*/ 232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252" h="45680">
                  <a:moveTo>
                    <a:pt x="6636" y="232"/>
                  </a:moveTo>
                  <a:cubicBezTo>
                    <a:pt x="8781" y="-274"/>
                    <a:pt x="11119" y="38"/>
                    <a:pt x="13142" y="1288"/>
                  </a:cubicBezTo>
                  <a:lnTo>
                    <a:pt x="59168" y="29742"/>
                  </a:lnTo>
                  <a:cubicBezTo>
                    <a:pt x="63214" y="32243"/>
                    <a:pt x="64466" y="37550"/>
                    <a:pt x="61965" y="41596"/>
                  </a:cubicBezTo>
                  <a:cubicBezTo>
                    <a:pt x="59463" y="45641"/>
                    <a:pt x="54156" y="46894"/>
                    <a:pt x="50111" y="44392"/>
                  </a:cubicBezTo>
                  <a:lnTo>
                    <a:pt x="4085" y="15939"/>
                  </a:lnTo>
                  <a:cubicBezTo>
                    <a:pt x="39" y="13438"/>
                    <a:pt x="-1213" y="8131"/>
                    <a:pt x="1288" y="4085"/>
                  </a:cubicBezTo>
                  <a:cubicBezTo>
                    <a:pt x="2539" y="2062"/>
                    <a:pt x="4491" y="738"/>
                    <a:pt x="6636" y="23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1524CAA8-9714-8123-0B6C-C2A29D680600}"/>
                </a:ext>
              </a:extLst>
            </p:cNvPr>
            <p:cNvSpPr/>
            <p:nvPr/>
          </p:nvSpPr>
          <p:spPr>
            <a:xfrm>
              <a:off x="7691057" y="2801906"/>
              <a:ext cx="92511" cy="26429"/>
            </a:xfrm>
            <a:custGeom>
              <a:avLst/>
              <a:gdLst>
                <a:gd name="connsiteX0" fmla="*/ 10237 w 71377"/>
                <a:gd name="connsiteY0" fmla="*/ 0 h 20391"/>
                <a:gd name="connsiteX1" fmla="*/ 61181 w 71377"/>
                <a:gd name="connsiteY1" fmla="*/ 0 h 20391"/>
                <a:gd name="connsiteX2" fmla="*/ 71377 w 71377"/>
                <a:gd name="connsiteY2" fmla="*/ 10196 h 20391"/>
                <a:gd name="connsiteX3" fmla="*/ 61181 w 71377"/>
                <a:gd name="connsiteY3" fmla="*/ 20391 h 20391"/>
                <a:gd name="connsiteX4" fmla="*/ 10237 w 71377"/>
                <a:gd name="connsiteY4" fmla="*/ 20391 h 20391"/>
                <a:gd name="connsiteX5" fmla="*/ 843 w 71377"/>
                <a:gd name="connsiteY5" fmla="*/ 14164 h 20391"/>
                <a:gd name="connsiteX6" fmla="*/ 843 w 71377"/>
                <a:gd name="connsiteY6" fmla="*/ 6227 h 20391"/>
                <a:gd name="connsiteX7" fmla="*/ 10237 w 71377"/>
                <a:gd name="connsiteY7" fmla="*/ 0 h 2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377" h="20391">
                  <a:moveTo>
                    <a:pt x="10237" y="0"/>
                  </a:moveTo>
                  <a:lnTo>
                    <a:pt x="61181" y="0"/>
                  </a:lnTo>
                  <a:cubicBezTo>
                    <a:pt x="66812" y="0"/>
                    <a:pt x="71377" y="4565"/>
                    <a:pt x="71377" y="10196"/>
                  </a:cubicBezTo>
                  <a:cubicBezTo>
                    <a:pt x="71377" y="15827"/>
                    <a:pt x="66812" y="20391"/>
                    <a:pt x="61181" y="20391"/>
                  </a:cubicBezTo>
                  <a:lnTo>
                    <a:pt x="10237" y="20391"/>
                  </a:lnTo>
                  <a:cubicBezTo>
                    <a:pt x="6014" y="20391"/>
                    <a:pt x="2391" y="17824"/>
                    <a:pt x="843" y="14164"/>
                  </a:cubicBezTo>
                  <a:cubicBezTo>
                    <a:pt x="-280" y="12080"/>
                    <a:pt x="-280" y="8312"/>
                    <a:pt x="843" y="6227"/>
                  </a:cubicBezTo>
                  <a:cubicBezTo>
                    <a:pt x="2391" y="2568"/>
                    <a:pt x="6014" y="0"/>
                    <a:pt x="1023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A13FAF2-FB66-822A-ECB2-52B6BDF3C86E}"/>
                </a:ext>
              </a:extLst>
            </p:cNvPr>
            <p:cNvSpPr/>
            <p:nvPr/>
          </p:nvSpPr>
          <p:spPr>
            <a:xfrm>
              <a:off x="8151949" y="2801906"/>
              <a:ext cx="92108" cy="26429"/>
            </a:xfrm>
            <a:custGeom>
              <a:avLst/>
              <a:gdLst>
                <a:gd name="connsiteX0" fmla="*/ 9927 w 71066"/>
                <a:gd name="connsiteY0" fmla="*/ 0 h 20391"/>
                <a:gd name="connsiteX1" fmla="*/ 60870 w 71066"/>
                <a:gd name="connsiteY1" fmla="*/ 0 h 20391"/>
                <a:gd name="connsiteX2" fmla="*/ 71066 w 71066"/>
                <a:gd name="connsiteY2" fmla="*/ 10196 h 20391"/>
                <a:gd name="connsiteX3" fmla="*/ 60870 w 71066"/>
                <a:gd name="connsiteY3" fmla="*/ 20391 h 20391"/>
                <a:gd name="connsiteX4" fmla="*/ 9927 w 71066"/>
                <a:gd name="connsiteY4" fmla="*/ 20391 h 20391"/>
                <a:gd name="connsiteX5" fmla="*/ 532 w 71066"/>
                <a:gd name="connsiteY5" fmla="*/ 14164 h 20391"/>
                <a:gd name="connsiteX6" fmla="*/ 532 w 71066"/>
                <a:gd name="connsiteY6" fmla="*/ 6227 h 20391"/>
                <a:gd name="connsiteX7" fmla="*/ 9927 w 71066"/>
                <a:gd name="connsiteY7" fmla="*/ 0 h 2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066" h="20391">
                  <a:moveTo>
                    <a:pt x="9927" y="0"/>
                  </a:moveTo>
                  <a:lnTo>
                    <a:pt x="60870" y="0"/>
                  </a:lnTo>
                  <a:cubicBezTo>
                    <a:pt x="66501" y="0"/>
                    <a:pt x="71066" y="4565"/>
                    <a:pt x="71066" y="10196"/>
                  </a:cubicBezTo>
                  <a:cubicBezTo>
                    <a:pt x="71066" y="15827"/>
                    <a:pt x="66501" y="20391"/>
                    <a:pt x="60870" y="20391"/>
                  </a:cubicBezTo>
                  <a:lnTo>
                    <a:pt x="9927" y="20391"/>
                  </a:lnTo>
                  <a:cubicBezTo>
                    <a:pt x="5703" y="20391"/>
                    <a:pt x="2080" y="17824"/>
                    <a:pt x="532" y="14164"/>
                  </a:cubicBezTo>
                  <a:cubicBezTo>
                    <a:pt x="-29" y="10676"/>
                    <a:pt x="-310" y="9434"/>
                    <a:pt x="532" y="6227"/>
                  </a:cubicBezTo>
                  <a:cubicBezTo>
                    <a:pt x="2080" y="2568"/>
                    <a:pt x="5703" y="0"/>
                    <a:pt x="992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96DD29A-1752-E18E-C5D6-8C7DC7B62E35}"/>
                </a:ext>
              </a:extLst>
            </p:cNvPr>
            <p:cNvSpPr/>
            <p:nvPr/>
          </p:nvSpPr>
          <p:spPr>
            <a:xfrm>
              <a:off x="8136251" y="2912185"/>
              <a:ext cx="83896" cy="55394"/>
            </a:xfrm>
            <a:custGeom>
              <a:avLst/>
              <a:gdLst>
                <a:gd name="connsiteX0" fmla="*/ 4775 w 64730"/>
                <a:gd name="connsiteY0" fmla="*/ 752 h 42739"/>
                <a:gd name="connsiteX1" fmla="*/ 12566 w 64730"/>
                <a:gd name="connsiteY1" fmla="*/ 789 h 42739"/>
                <a:gd name="connsiteX2" fmla="*/ 60305 w 64730"/>
                <a:gd name="connsiteY2" fmla="*/ 26805 h 42739"/>
                <a:gd name="connsiteX3" fmla="*/ 63694 w 64730"/>
                <a:gd name="connsiteY3" fmla="*/ 38314 h 42739"/>
                <a:gd name="connsiteX4" fmla="*/ 52185 w 64730"/>
                <a:gd name="connsiteY4" fmla="*/ 41703 h 42739"/>
                <a:gd name="connsiteX5" fmla="*/ 4446 w 64730"/>
                <a:gd name="connsiteY5" fmla="*/ 15687 h 42739"/>
                <a:gd name="connsiteX6" fmla="*/ 1057 w 64730"/>
                <a:gd name="connsiteY6" fmla="*/ 4178 h 42739"/>
                <a:gd name="connsiteX7" fmla="*/ 4775 w 64730"/>
                <a:gd name="connsiteY7" fmla="*/ 752 h 4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730" h="42739">
                  <a:moveTo>
                    <a:pt x="4775" y="752"/>
                  </a:moveTo>
                  <a:cubicBezTo>
                    <a:pt x="6845" y="-110"/>
                    <a:pt x="9593" y="-395"/>
                    <a:pt x="12566" y="789"/>
                  </a:cubicBezTo>
                  <a:lnTo>
                    <a:pt x="60305" y="26805"/>
                  </a:lnTo>
                  <a:cubicBezTo>
                    <a:pt x="64419" y="29047"/>
                    <a:pt x="65936" y="34199"/>
                    <a:pt x="63694" y="38314"/>
                  </a:cubicBezTo>
                  <a:cubicBezTo>
                    <a:pt x="61452" y="42428"/>
                    <a:pt x="56300" y="43945"/>
                    <a:pt x="52185" y="41703"/>
                  </a:cubicBezTo>
                  <a:lnTo>
                    <a:pt x="4446" y="15687"/>
                  </a:lnTo>
                  <a:cubicBezTo>
                    <a:pt x="135" y="13362"/>
                    <a:pt x="-1139" y="6942"/>
                    <a:pt x="1057" y="4178"/>
                  </a:cubicBezTo>
                  <a:cubicBezTo>
                    <a:pt x="1315" y="3054"/>
                    <a:pt x="2705" y="1615"/>
                    <a:pt x="4775" y="75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731D0165-48F5-53C5-6706-C4D4EC402EAD}"/>
                </a:ext>
              </a:extLst>
            </p:cNvPr>
            <p:cNvSpPr/>
            <p:nvPr/>
          </p:nvSpPr>
          <p:spPr>
            <a:xfrm>
              <a:off x="7714896" y="2913795"/>
              <a:ext cx="84338" cy="57715"/>
            </a:xfrm>
            <a:custGeom>
              <a:avLst/>
              <a:gdLst>
                <a:gd name="connsiteX0" fmla="*/ 57922 w 65071"/>
                <a:gd name="connsiteY0" fmla="*/ 409 h 44530"/>
                <a:gd name="connsiteX1" fmla="*/ 63855 w 65071"/>
                <a:gd name="connsiteY1" fmla="*/ 5198 h 44530"/>
                <a:gd name="connsiteX2" fmla="*/ 59874 w 65071"/>
                <a:gd name="connsiteY2" fmla="*/ 18713 h 44530"/>
                <a:gd name="connsiteX3" fmla="*/ 14732 w 65071"/>
                <a:gd name="connsiteY3" fmla="*/ 43314 h 44530"/>
                <a:gd name="connsiteX4" fmla="*/ 1217 w 65071"/>
                <a:gd name="connsiteY4" fmla="*/ 39333 h 44530"/>
                <a:gd name="connsiteX5" fmla="*/ 5198 w 65071"/>
                <a:gd name="connsiteY5" fmla="*/ 25818 h 44530"/>
                <a:gd name="connsiteX6" fmla="*/ 50340 w 65071"/>
                <a:gd name="connsiteY6" fmla="*/ 1217 h 44530"/>
                <a:gd name="connsiteX7" fmla="*/ 57922 w 65071"/>
                <a:gd name="connsiteY7" fmla="*/ 409 h 4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71" h="44530">
                  <a:moveTo>
                    <a:pt x="57922" y="409"/>
                  </a:moveTo>
                  <a:cubicBezTo>
                    <a:pt x="60367" y="1129"/>
                    <a:pt x="62538" y="2782"/>
                    <a:pt x="63855" y="5198"/>
                  </a:cubicBezTo>
                  <a:cubicBezTo>
                    <a:pt x="66488" y="10029"/>
                    <a:pt x="64705" y="16080"/>
                    <a:pt x="59874" y="18713"/>
                  </a:cubicBezTo>
                  <a:lnTo>
                    <a:pt x="14732" y="43314"/>
                  </a:lnTo>
                  <a:cubicBezTo>
                    <a:pt x="9901" y="45947"/>
                    <a:pt x="3850" y="44164"/>
                    <a:pt x="1217" y="39333"/>
                  </a:cubicBezTo>
                  <a:cubicBezTo>
                    <a:pt x="-1416" y="34502"/>
                    <a:pt x="366" y="28451"/>
                    <a:pt x="5198" y="25818"/>
                  </a:cubicBezTo>
                  <a:lnTo>
                    <a:pt x="50340" y="1217"/>
                  </a:lnTo>
                  <a:cubicBezTo>
                    <a:pt x="52756" y="-99"/>
                    <a:pt x="55476" y="-312"/>
                    <a:pt x="57922" y="40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4EE3333D-6300-BCF2-C23D-974EFA3E0EDB}"/>
                </a:ext>
              </a:extLst>
            </p:cNvPr>
            <p:cNvSpPr/>
            <p:nvPr/>
          </p:nvSpPr>
          <p:spPr>
            <a:xfrm>
              <a:off x="7888095" y="2978586"/>
              <a:ext cx="160562" cy="26960"/>
            </a:xfrm>
            <a:custGeom>
              <a:avLst/>
              <a:gdLst>
                <a:gd name="connsiteX0" fmla="*/ 10401 w 123882"/>
                <a:gd name="connsiteY0" fmla="*/ 0 h 20801"/>
                <a:gd name="connsiteX1" fmla="*/ 113482 w 123882"/>
                <a:gd name="connsiteY1" fmla="*/ 0 h 20801"/>
                <a:gd name="connsiteX2" fmla="*/ 123882 w 123882"/>
                <a:gd name="connsiteY2" fmla="*/ 10400 h 20801"/>
                <a:gd name="connsiteX3" fmla="*/ 113482 w 123882"/>
                <a:gd name="connsiteY3" fmla="*/ 20801 h 20801"/>
                <a:gd name="connsiteX4" fmla="*/ 10401 w 123882"/>
                <a:gd name="connsiteY4" fmla="*/ 20801 h 20801"/>
                <a:gd name="connsiteX5" fmla="*/ 0 w 123882"/>
                <a:gd name="connsiteY5" fmla="*/ 10400 h 20801"/>
                <a:gd name="connsiteX6" fmla="*/ 10401 w 123882"/>
                <a:gd name="connsiteY6" fmla="*/ 0 h 20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82" h="20801">
                  <a:moveTo>
                    <a:pt x="10401" y="0"/>
                  </a:moveTo>
                  <a:lnTo>
                    <a:pt x="113482" y="0"/>
                  </a:lnTo>
                  <a:cubicBezTo>
                    <a:pt x="119226" y="0"/>
                    <a:pt x="123882" y="4656"/>
                    <a:pt x="123882" y="10400"/>
                  </a:cubicBezTo>
                  <a:cubicBezTo>
                    <a:pt x="123882" y="16144"/>
                    <a:pt x="119226" y="20801"/>
                    <a:pt x="113482" y="20801"/>
                  </a:cubicBezTo>
                  <a:lnTo>
                    <a:pt x="10401" y="20801"/>
                  </a:lnTo>
                  <a:cubicBezTo>
                    <a:pt x="4657" y="20801"/>
                    <a:pt x="0" y="16144"/>
                    <a:pt x="0" y="10400"/>
                  </a:cubicBezTo>
                  <a:cubicBezTo>
                    <a:pt x="0" y="4656"/>
                    <a:pt x="4657" y="0"/>
                    <a:pt x="1040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245C0432-F89B-12A4-5C42-A84086C1DA75}"/>
                </a:ext>
              </a:extLst>
            </p:cNvPr>
            <p:cNvSpPr/>
            <p:nvPr/>
          </p:nvSpPr>
          <p:spPr>
            <a:xfrm>
              <a:off x="7897777" y="3026998"/>
              <a:ext cx="139594" cy="39243"/>
            </a:xfrm>
            <a:custGeom>
              <a:avLst/>
              <a:gdLst>
                <a:gd name="connsiteX0" fmla="*/ 10401 w 107704"/>
                <a:gd name="connsiteY0" fmla="*/ 0 h 30278"/>
                <a:gd name="connsiteX1" fmla="*/ 97303 w 107704"/>
                <a:gd name="connsiteY1" fmla="*/ 0 h 30278"/>
                <a:gd name="connsiteX2" fmla="*/ 107704 w 107704"/>
                <a:gd name="connsiteY2" fmla="*/ 10401 h 30278"/>
                <a:gd name="connsiteX3" fmla="*/ 101351 w 107704"/>
                <a:gd name="connsiteY3" fmla="*/ 19984 h 30278"/>
                <a:gd name="connsiteX4" fmla="*/ 99383 w 107704"/>
                <a:gd name="connsiteY4" fmla="*/ 20381 h 30278"/>
                <a:gd name="connsiteX5" fmla="*/ 99383 w 107704"/>
                <a:gd name="connsiteY5" fmla="*/ 22650 h 30278"/>
                <a:gd name="connsiteX6" fmla="*/ 91756 w 107704"/>
                <a:gd name="connsiteY6" fmla="*/ 30278 h 30278"/>
                <a:gd name="connsiteX7" fmla="*/ 16410 w 107704"/>
                <a:gd name="connsiteY7" fmla="*/ 30278 h 30278"/>
                <a:gd name="connsiteX8" fmla="*/ 8783 w 107704"/>
                <a:gd name="connsiteY8" fmla="*/ 22650 h 30278"/>
                <a:gd name="connsiteX9" fmla="*/ 8783 w 107704"/>
                <a:gd name="connsiteY9" fmla="*/ 20475 h 30278"/>
                <a:gd name="connsiteX10" fmla="*/ 6352 w 107704"/>
                <a:gd name="connsiteY10" fmla="*/ 19984 h 30278"/>
                <a:gd name="connsiteX11" fmla="*/ 0 w 107704"/>
                <a:gd name="connsiteY11" fmla="*/ 10401 h 30278"/>
                <a:gd name="connsiteX12" fmla="*/ 10401 w 107704"/>
                <a:gd name="connsiteY12" fmla="*/ 0 h 3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704" h="30278">
                  <a:moveTo>
                    <a:pt x="10401" y="0"/>
                  </a:moveTo>
                  <a:lnTo>
                    <a:pt x="97303" y="0"/>
                  </a:lnTo>
                  <a:cubicBezTo>
                    <a:pt x="103047" y="0"/>
                    <a:pt x="107704" y="4657"/>
                    <a:pt x="107704" y="10401"/>
                  </a:cubicBezTo>
                  <a:cubicBezTo>
                    <a:pt x="107704" y="14709"/>
                    <a:pt x="105084" y="18405"/>
                    <a:pt x="101351" y="19984"/>
                  </a:cubicBezTo>
                  <a:lnTo>
                    <a:pt x="99383" y="20381"/>
                  </a:lnTo>
                  <a:lnTo>
                    <a:pt x="99383" y="22650"/>
                  </a:lnTo>
                  <a:cubicBezTo>
                    <a:pt x="99383" y="26863"/>
                    <a:pt x="95968" y="30278"/>
                    <a:pt x="91756" y="30278"/>
                  </a:cubicBezTo>
                  <a:lnTo>
                    <a:pt x="16410" y="30278"/>
                  </a:lnTo>
                  <a:cubicBezTo>
                    <a:pt x="12198" y="30278"/>
                    <a:pt x="8783" y="26863"/>
                    <a:pt x="8783" y="22650"/>
                  </a:cubicBezTo>
                  <a:lnTo>
                    <a:pt x="8783" y="20475"/>
                  </a:lnTo>
                  <a:lnTo>
                    <a:pt x="6352" y="19984"/>
                  </a:lnTo>
                  <a:cubicBezTo>
                    <a:pt x="2619" y="18405"/>
                    <a:pt x="0" y="14709"/>
                    <a:pt x="0" y="10401"/>
                  </a:cubicBezTo>
                  <a:cubicBezTo>
                    <a:pt x="0" y="4657"/>
                    <a:pt x="4657" y="0"/>
                    <a:pt x="1040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2DAA40D-B641-D5E4-FADF-98C031D6E32B}"/>
              </a:ext>
            </a:extLst>
          </p:cNvPr>
          <p:cNvSpPr txBox="1"/>
          <p:nvPr/>
        </p:nvSpPr>
        <p:spPr>
          <a:xfrm>
            <a:off x="6330519" y="2906615"/>
            <a:ext cx="2585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Historical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 data is needed</a:t>
            </a:r>
            <a:endParaRPr lang="en-US" sz="1600" dirty="0">
              <a:solidFill>
                <a:schemeClr val="bg2">
                  <a:lumMod val="25000"/>
                  <a:lumOff val="75000"/>
                </a:schemeClr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B59FFEE-7C9B-0E01-330C-F09D05E4D822}"/>
              </a:ext>
            </a:extLst>
          </p:cNvPr>
          <p:cNvGrpSpPr/>
          <p:nvPr/>
        </p:nvGrpSpPr>
        <p:grpSpPr>
          <a:xfrm>
            <a:off x="5953933" y="2845914"/>
            <a:ext cx="369016" cy="369333"/>
            <a:chOff x="7691057" y="2512766"/>
            <a:chExt cx="553000" cy="553475"/>
          </a:xfrm>
          <a:solidFill>
            <a:schemeClr val="bg2">
              <a:lumMod val="25000"/>
              <a:lumOff val="75000"/>
            </a:schemeClr>
          </a:solidFill>
        </p:grpSpPr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FCD4E5A-3281-20A2-7244-F1E0AFAB7C70}"/>
                </a:ext>
              </a:extLst>
            </p:cNvPr>
            <p:cNvSpPr/>
            <p:nvPr/>
          </p:nvSpPr>
          <p:spPr>
            <a:xfrm>
              <a:off x="7954733" y="2512766"/>
              <a:ext cx="25974" cy="92457"/>
            </a:xfrm>
            <a:custGeom>
              <a:avLst/>
              <a:gdLst>
                <a:gd name="connsiteX0" fmla="*/ 10020 w 20040"/>
                <a:gd name="connsiteY0" fmla="*/ 0 h 71335"/>
                <a:gd name="connsiteX1" fmla="*/ 20040 w 20040"/>
                <a:gd name="connsiteY1" fmla="*/ 10020 h 71335"/>
                <a:gd name="connsiteX2" fmla="*/ 20040 w 20040"/>
                <a:gd name="connsiteY2" fmla="*/ 61315 h 71335"/>
                <a:gd name="connsiteX3" fmla="*/ 10020 w 20040"/>
                <a:gd name="connsiteY3" fmla="*/ 71335 h 71335"/>
                <a:gd name="connsiteX4" fmla="*/ 0 w 20040"/>
                <a:gd name="connsiteY4" fmla="*/ 61315 h 71335"/>
                <a:gd name="connsiteX5" fmla="*/ 0 w 20040"/>
                <a:gd name="connsiteY5" fmla="*/ 10020 h 71335"/>
                <a:gd name="connsiteX6" fmla="*/ 10020 w 20040"/>
                <a:gd name="connsiteY6" fmla="*/ 0 h 7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0" h="71335">
                  <a:moveTo>
                    <a:pt x="10020" y="0"/>
                  </a:moveTo>
                  <a:cubicBezTo>
                    <a:pt x="15554" y="0"/>
                    <a:pt x="20040" y="4486"/>
                    <a:pt x="20040" y="10020"/>
                  </a:cubicBezTo>
                  <a:cubicBezTo>
                    <a:pt x="20040" y="27119"/>
                    <a:pt x="20040" y="44217"/>
                    <a:pt x="20040" y="61315"/>
                  </a:cubicBezTo>
                  <a:cubicBezTo>
                    <a:pt x="19226" y="66620"/>
                    <a:pt x="16167" y="70802"/>
                    <a:pt x="10020" y="71335"/>
                  </a:cubicBezTo>
                  <a:cubicBezTo>
                    <a:pt x="7169" y="70996"/>
                    <a:pt x="1670" y="71535"/>
                    <a:pt x="0" y="61315"/>
                  </a:cubicBezTo>
                  <a:lnTo>
                    <a:pt x="0" y="10020"/>
                  </a:lnTo>
                  <a:cubicBezTo>
                    <a:pt x="0" y="4486"/>
                    <a:pt x="4486" y="0"/>
                    <a:pt x="1002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0A2F153-637A-2AF9-FEF6-6BC932FD8120}"/>
                </a:ext>
              </a:extLst>
            </p:cNvPr>
            <p:cNvSpPr/>
            <p:nvPr/>
          </p:nvSpPr>
          <p:spPr>
            <a:xfrm>
              <a:off x="7807901" y="2555822"/>
              <a:ext cx="60943" cy="83019"/>
            </a:xfrm>
            <a:custGeom>
              <a:avLst/>
              <a:gdLst>
                <a:gd name="connsiteX0" fmla="*/ 11085 w 47021"/>
                <a:gd name="connsiteY0" fmla="*/ 32 h 64053"/>
                <a:gd name="connsiteX1" fmla="*/ 19135 w 47021"/>
                <a:gd name="connsiteY1" fmla="*/ 5030 h 64053"/>
                <a:gd name="connsiteX2" fmla="*/ 45532 w 47021"/>
                <a:gd name="connsiteY2" fmla="*/ 48493 h 64053"/>
                <a:gd name="connsiteX3" fmla="*/ 42094 w 47021"/>
                <a:gd name="connsiteY3" fmla="*/ 62564 h 64053"/>
                <a:gd name="connsiteX4" fmla="*/ 28023 w 47021"/>
                <a:gd name="connsiteY4" fmla="*/ 59126 h 64053"/>
                <a:gd name="connsiteX5" fmla="*/ 1626 w 47021"/>
                <a:gd name="connsiteY5" fmla="*/ 15664 h 64053"/>
                <a:gd name="connsiteX6" fmla="*/ 5064 w 47021"/>
                <a:gd name="connsiteY6" fmla="*/ 1593 h 64053"/>
                <a:gd name="connsiteX7" fmla="*/ 11085 w 47021"/>
                <a:gd name="connsiteY7" fmla="*/ 32 h 64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21" h="64053">
                  <a:moveTo>
                    <a:pt x="11085" y="32"/>
                  </a:moveTo>
                  <a:cubicBezTo>
                    <a:pt x="13536" y="241"/>
                    <a:pt x="16324" y="1543"/>
                    <a:pt x="19135" y="5030"/>
                  </a:cubicBezTo>
                  <a:lnTo>
                    <a:pt x="45532" y="48493"/>
                  </a:lnTo>
                  <a:cubicBezTo>
                    <a:pt x="48468" y="53327"/>
                    <a:pt x="46929" y="59627"/>
                    <a:pt x="42094" y="62564"/>
                  </a:cubicBezTo>
                  <a:cubicBezTo>
                    <a:pt x="37260" y="65500"/>
                    <a:pt x="30960" y="63961"/>
                    <a:pt x="28023" y="59126"/>
                  </a:cubicBezTo>
                  <a:lnTo>
                    <a:pt x="1626" y="15664"/>
                  </a:lnTo>
                  <a:cubicBezTo>
                    <a:pt x="-2481" y="9162"/>
                    <a:pt x="2146" y="3365"/>
                    <a:pt x="5064" y="1593"/>
                  </a:cubicBezTo>
                  <a:cubicBezTo>
                    <a:pt x="6523" y="707"/>
                    <a:pt x="8635" y="-177"/>
                    <a:pt x="11085" y="3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48979D84-D37A-4EF8-BEF7-F54D79F845C6}"/>
                </a:ext>
              </a:extLst>
            </p:cNvPr>
            <p:cNvSpPr/>
            <p:nvPr/>
          </p:nvSpPr>
          <p:spPr>
            <a:xfrm>
              <a:off x="8064823" y="2555817"/>
              <a:ext cx="60959" cy="82943"/>
            </a:xfrm>
            <a:custGeom>
              <a:avLst/>
              <a:gdLst>
                <a:gd name="connsiteX0" fmla="*/ 34168 w 47033"/>
                <a:gd name="connsiteY0" fmla="*/ 299 h 63995"/>
                <a:gd name="connsiteX1" fmla="*/ 42032 w 47033"/>
                <a:gd name="connsiteY1" fmla="*/ 1513 h 63995"/>
                <a:gd name="connsiteX2" fmla="*/ 45521 w 47033"/>
                <a:gd name="connsiteY2" fmla="*/ 15795 h 63995"/>
                <a:gd name="connsiteX3" fmla="*/ 19284 w 47033"/>
                <a:gd name="connsiteY3" fmla="*/ 58994 h 63995"/>
                <a:gd name="connsiteX4" fmla="*/ 5002 w 47033"/>
                <a:gd name="connsiteY4" fmla="*/ 62483 h 63995"/>
                <a:gd name="connsiteX5" fmla="*/ 1513 w 47033"/>
                <a:gd name="connsiteY5" fmla="*/ 48201 h 63995"/>
                <a:gd name="connsiteX6" fmla="*/ 27750 w 47033"/>
                <a:gd name="connsiteY6" fmla="*/ 5001 h 63995"/>
                <a:gd name="connsiteX7" fmla="*/ 34168 w 47033"/>
                <a:gd name="connsiteY7" fmla="*/ 299 h 6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33" h="63995">
                  <a:moveTo>
                    <a:pt x="34168" y="299"/>
                  </a:moveTo>
                  <a:cubicBezTo>
                    <a:pt x="36753" y="-332"/>
                    <a:pt x="39578" y="22"/>
                    <a:pt x="42032" y="1513"/>
                  </a:cubicBezTo>
                  <a:cubicBezTo>
                    <a:pt x="46939" y="4493"/>
                    <a:pt x="48502" y="10887"/>
                    <a:pt x="45521" y="15795"/>
                  </a:cubicBezTo>
                  <a:lnTo>
                    <a:pt x="19284" y="58994"/>
                  </a:lnTo>
                  <a:cubicBezTo>
                    <a:pt x="16304" y="63902"/>
                    <a:pt x="9909" y="65464"/>
                    <a:pt x="5002" y="62483"/>
                  </a:cubicBezTo>
                  <a:cubicBezTo>
                    <a:pt x="94" y="59503"/>
                    <a:pt x="-1468" y="53108"/>
                    <a:pt x="1513" y="48201"/>
                  </a:cubicBezTo>
                  <a:lnTo>
                    <a:pt x="27750" y="5001"/>
                  </a:lnTo>
                  <a:cubicBezTo>
                    <a:pt x="29240" y="2548"/>
                    <a:pt x="31584" y="930"/>
                    <a:pt x="34168" y="2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DDAE8610-F274-D869-3A18-DC73F3AA6305}"/>
                </a:ext>
              </a:extLst>
            </p:cNvPr>
            <p:cNvSpPr/>
            <p:nvPr/>
          </p:nvSpPr>
          <p:spPr>
            <a:xfrm>
              <a:off x="7823319" y="2656561"/>
              <a:ext cx="285897" cy="302403"/>
            </a:xfrm>
            <a:custGeom>
              <a:avLst/>
              <a:gdLst>
                <a:gd name="connsiteX0" fmla="*/ 148196 w 221978"/>
                <a:gd name="connsiteY0" fmla="*/ 100727 h 233319"/>
                <a:gd name="connsiteX1" fmla="*/ 139456 w 221978"/>
                <a:gd name="connsiteY1" fmla="*/ 102643 h 233319"/>
                <a:gd name="connsiteX2" fmla="*/ 111846 w 221978"/>
                <a:gd name="connsiteY2" fmla="*/ 112165 h 233319"/>
                <a:gd name="connsiteX3" fmla="*/ 83905 w 221978"/>
                <a:gd name="connsiteY3" fmla="*/ 102910 h 233319"/>
                <a:gd name="connsiteX4" fmla="*/ 78955 w 221978"/>
                <a:gd name="connsiteY4" fmla="*/ 110817 h 233319"/>
                <a:gd name="connsiteX5" fmla="*/ 106989 w 221978"/>
                <a:gd name="connsiteY5" fmla="*/ 185136 h 233319"/>
                <a:gd name="connsiteX6" fmla="*/ 113999 w 221978"/>
                <a:gd name="connsiteY6" fmla="*/ 186579 h 233319"/>
                <a:gd name="connsiteX7" fmla="*/ 145642 w 221978"/>
                <a:gd name="connsiteY7" fmla="*/ 108951 h 233319"/>
                <a:gd name="connsiteX8" fmla="*/ 148196 w 221978"/>
                <a:gd name="connsiteY8" fmla="*/ 100727 h 233319"/>
                <a:gd name="connsiteX9" fmla="*/ 113768 w 221978"/>
                <a:gd name="connsiteY9" fmla="*/ 0 h 233319"/>
                <a:gd name="connsiteX10" fmla="*/ 195210 w 221978"/>
                <a:gd name="connsiteY10" fmla="*/ 176513 h 233319"/>
                <a:gd name="connsiteX11" fmla="*/ 164616 w 221978"/>
                <a:gd name="connsiteY11" fmla="*/ 233319 h 233319"/>
                <a:gd name="connsiteX12" fmla="*/ 56912 w 221978"/>
                <a:gd name="connsiteY12" fmla="*/ 233319 h 233319"/>
                <a:gd name="connsiteX13" fmla="*/ 21456 w 221978"/>
                <a:gd name="connsiteY13" fmla="*/ 167623 h 233319"/>
                <a:gd name="connsiteX14" fmla="*/ 113768 w 221978"/>
                <a:gd name="connsiteY14" fmla="*/ 0 h 233319"/>
                <a:gd name="connsiteX0" fmla="*/ 148196 w 220584"/>
                <a:gd name="connsiteY0" fmla="*/ 100727 h 233319"/>
                <a:gd name="connsiteX1" fmla="*/ 139456 w 220584"/>
                <a:gd name="connsiteY1" fmla="*/ 102643 h 233319"/>
                <a:gd name="connsiteX2" fmla="*/ 111846 w 220584"/>
                <a:gd name="connsiteY2" fmla="*/ 112165 h 233319"/>
                <a:gd name="connsiteX3" fmla="*/ 83905 w 220584"/>
                <a:gd name="connsiteY3" fmla="*/ 102910 h 233319"/>
                <a:gd name="connsiteX4" fmla="*/ 78955 w 220584"/>
                <a:gd name="connsiteY4" fmla="*/ 110817 h 233319"/>
                <a:gd name="connsiteX5" fmla="*/ 106989 w 220584"/>
                <a:gd name="connsiteY5" fmla="*/ 185136 h 233319"/>
                <a:gd name="connsiteX6" fmla="*/ 113999 w 220584"/>
                <a:gd name="connsiteY6" fmla="*/ 186579 h 233319"/>
                <a:gd name="connsiteX7" fmla="*/ 145642 w 220584"/>
                <a:gd name="connsiteY7" fmla="*/ 108951 h 233319"/>
                <a:gd name="connsiteX8" fmla="*/ 148196 w 220584"/>
                <a:gd name="connsiteY8" fmla="*/ 100727 h 233319"/>
                <a:gd name="connsiteX9" fmla="*/ 113768 w 220584"/>
                <a:gd name="connsiteY9" fmla="*/ 0 h 233319"/>
                <a:gd name="connsiteX10" fmla="*/ 195210 w 220584"/>
                <a:gd name="connsiteY10" fmla="*/ 176513 h 233319"/>
                <a:gd name="connsiteX11" fmla="*/ 164616 w 220584"/>
                <a:gd name="connsiteY11" fmla="*/ 233319 h 233319"/>
                <a:gd name="connsiteX12" fmla="*/ 56912 w 220584"/>
                <a:gd name="connsiteY12" fmla="*/ 233319 h 233319"/>
                <a:gd name="connsiteX13" fmla="*/ 21456 w 220584"/>
                <a:gd name="connsiteY13" fmla="*/ 167623 h 233319"/>
                <a:gd name="connsiteX14" fmla="*/ 113768 w 220584"/>
                <a:gd name="connsiteY14" fmla="*/ 0 h 23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0584" h="233319">
                  <a:moveTo>
                    <a:pt x="148196" y="100727"/>
                  </a:moveTo>
                  <a:cubicBezTo>
                    <a:pt x="146528" y="99132"/>
                    <a:pt x="142979" y="99227"/>
                    <a:pt x="139456" y="102643"/>
                  </a:cubicBezTo>
                  <a:cubicBezTo>
                    <a:pt x="130654" y="109347"/>
                    <a:pt x="121031" y="112275"/>
                    <a:pt x="111846" y="112165"/>
                  </a:cubicBezTo>
                  <a:cubicBezTo>
                    <a:pt x="105846" y="112808"/>
                    <a:pt x="93976" y="110134"/>
                    <a:pt x="83905" y="102910"/>
                  </a:cubicBezTo>
                  <a:cubicBezTo>
                    <a:pt x="71294" y="95750"/>
                    <a:pt x="71132" y="105075"/>
                    <a:pt x="78955" y="110817"/>
                  </a:cubicBezTo>
                  <a:cubicBezTo>
                    <a:pt x="97987" y="129977"/>
                    <a:pt x="107848" y="156107"/>
                    <a:pt x="106989" y="185136"/>
                  </a:cubicBezTo>
                  <a:cubicBezTo>
                    <a:pt x="107344" y="193481"/>
                    <a:pt x="113769" y="191379"/>
                    <a:pt x="113999" y="186579"/>
                  </a:cubicBezTo>
                  <a:cubicBezTo>
                    <a:pt x="117445" y="161891"/>
                    <a:pt x="124658" y="130909"/>
                    <a:pt x="145642" y="108951"/>
                  </a:cubicBezTo>
                  <a:cubicBezTo>
                    <a:pt x="149649" y="105607"/>
                    <a:pt x="149863" y="102322"/>
                    <a:pt x="148196" y="100727"/>
                  </a:cubicBezTo>
                  <a:close/>
                  <a:moveTo>
                    <a:pt x="113768" y="0"/>
                  </a:moveTo>
                  <a:cubicBezTo>
                    <a:pt x="214371" y="182"/>
                    <a:pt x="249363" y="112029"/>
                    <a:pt x="195210" y="176513"/>
                  </a:cubicBezTo>
                  <a:cubicBezTo>
                    <a:pt x="182059" y="195448"/>
                    <a:pt x="172353" y="207985"/>
                    <a:pt x="164616" y="233319"/>
                  </a:cubicBezTo>
                  <a:lnTo>
                    <a:pt x="56912" y="233319"/>
                  </a:lnTo>
                  <a:cubicBezTo>
                    <a:pt x="52968" y="210928"/>
                    <a:pt x="40165" y="192967"/>
                    <a:pt x="21456" y="167623"/>
                  </a:cubicBezTo>
                  <a:cubicBezTo>
                    <a:pt x="-27843" y="108939"/>
                    <a:pt x="9832" y="344"/>
                    <a:pt x="113768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9DFD8DC1-7021-C913-3AB2-A05BA7288B7C}"/>
                </a:ext>
              </a:extLst>
            </p:cNvPr>
            <p:cNvSpPr/>
            <p:nvPr/>
          </p:nvSpPr>
          <p:spPr>
            <a:xfrm>
              <a:off x="8138445" y="2667325"/>
              <a:ext cx="82100" cy="59579"/>
            </a:xfrm>
            <a:custGeom>
              <a:avLst/>
              <a:gdLst>
                <a:gd name="connsiteX0" fmla="*/ 56475 w 63344"/>
                <a:gd name="connsiteY0" fmla="*/ 240 h 45968"/>
                <a:gd name="connsiteX1" fmla="*/ 62011 w 63344"/>
                <a:gd name="connsiteY1" fmla="*/ 4229 h 45968"/>
                <a:gd name="connsiteX2" fmla="*/ 59116 w 63344"/>
                <a:gd name="connsiteY2" fmla="*/ 16500 h 45968"/>
                <a:gd name="connsiteX3" fmla="*/ 13606 w 63344"/>
                <a:gd name="connsiteY3" fmla="*/ 44635 h 45968"/>
                <a:gd name="connsiteX4" fmla="*/ 1334 w 63344"/>
                <a:gd name="connsiteY4" fmla="*/ 41740 h 45968"/>
                <a:gd name="connsiteX5" fmla="*/ 4230 w 63344"/>
                <a:gd name="connsiteY5" fmla="*/ 29468 h 45968"/>
                <a:gd name="connsiteX6" fmla="*/ 49740 w 63344"/>
                <a:gd name="connsiteY6" fmla="*/ 1334 h 45968"/>
                <a:gd name="connsiteX7" fmla="*/ 56475 w 63344"/>
                <a:gd name="connsiteY7" fmla="*/ 240 h 4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44" h="45968">
                  <a:moveTo>
                    <a:pt x="56475" y="240"/>
                  </a:moveTo>
                  <a:cubicBezTo>
                    <a:pt x="58696" y="764"/>
                    <a:pt x="60717" y="2135"/>
                    <a:pt x="62011" y="4229"/>
                  </a:cubicBezTo>
                  <a:cubicBezTo>
                    <a:pt x="64600" y="8417"/>
                    <a:pt x="63304" y="13911"/>
                    <a:pt x="59116" y="16500"/>
                  </a:cubicBezTo>
                  <a:lnTo>
                    <a:pt x="13606" y="44635"/>
                  </a:lnTo>
                  <a:cubicBezTo>
                    <a:pt x="9418" y="47224"/>
                    <a:pt x="3924" y="45928"/>
                    <a:pt x="1334" y="41740"/>
                  </a:cubicBezTo>
                  <a:cubicBezTo>
                    <a:pt x="-1255" y="37552"/>
                    <a:pt x="42" y="32058"/>
                    <a:pt x="4230" y="29468"/>
                  </a:cubicBezTo>
                  <a:lnTo>
                    <a:pt x="49740" y="1334"/>
                  </a:lnTo>
                  <a:cubicBezTo>
                    <a:pt x="51834" y="39"/>
                    <a:pt x="54254" y="-284"/>
                    <a:pt x="56475" y="24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5F6951F3-2CCB-DA53-05B5-8D03BF956295}"/>
                </a:ext>
              </a:extLst>
            </p:cNvPr>
            <p:cNvSpPr/>
            <p:nvPr/>
          </p:nvSpPr>
          <p:spPr>
            <a:xfrm>
              <a:off x="7711625" y="2671122"/>
              <a:ext cx="81980" cy="59205"/>
            </a:xfrm>
            <a:custGeom>
              <a:avLst/>
              <a:gdLst>
                <a:gd name="connsiteX0" fmla="*/ 6636 w 63252"/>
                <a:gd name="connsiteY0" fmla="*/ 232 h 45680"/>
                <a:gd name="connsiteX1" fmla="*/ 13142 w 63252"/>
                <a:gd name="connsiteY1" fmla="*/ 1288 h 45680"/>
                <a:gd name="connsiteX2" fmla="*/ 59168 w 63252"/>
                <a:gd name="connsiteY2" fmla="*/ 29742 h 45680"/>
                <a:gd name="connsiteX3" fmla="*/ 61965 w 63252"/>
                <a:gd name="connsiteY3" fmla="*/ 41596 h 45680"/>
                <a:gd name="connsiteX4" fmla="*/ 50111 w 63252"/>
                <a:gd name="connsiteY4" fmla="*/ 44392 h 45680"/>
                <a:gd name="connsiteX5" fmla="*/ 4085 w 63252"/>
                <a:gd name="connsiteY5" fmla="*/ 15939 h 45680"/>
                <a:gd name="connsiteX6" fmla="*/ 1288 w 63252"/>
                <a:gd name="connsiteY6" fmla="*/ 4085 h 45680"/>
                <a:gd name="connsiteX7" fmla="*/ 6636 w 63252"/>
                <a:gd name="connsiteY7" fmla="*/ 232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252" h="45680">
                  <a:moveTo>
                    <a:pt x="6636" y="232"/>
                  </a:moveTo>
                  <a:cubicBezTo>
                    <a:pt x="8781" y="-274"/>
                    <a:pt x="11119" y="38"/>
                    <a:pt x="13142" y="1288"/>
                  </a:cubicBezTo>
                  <a:lnTo>
                    <a:pt x="59168" y="29742"/>
                  </a:lnTo>
                  <a:cubicBezTo>
                    <a:pt x="63214" y="32243"/>
                    <a:pt x="64466" y="37550"/>
                    <a:pt x="61965" y="41596"/>
                  </a:cubicBezTo>
                  <a:cubicBezTo>
                    <a:pt x="59463" y="45641"/>
                    <a:pt x="54156" y="46894"/>
                    <a:pt x="50111" y="44392"/>
                  </a:cubicBezTo>
                  <a:lnTo>
                    <a:pt x="4085" y="15939"/>
                  </a:lnTo>
                  <a:cubicBezTo>
                    <a:pt x="39" y="13438"/>
                    <a:pt x="-1213" y="8131"/>
                    <a:pt x="1288" y="4085"/>
                  </a:cubicBezTo>
                  <a:cubicBezTo>
                    <a:pt x="2539" y="2062"/>
                    <a:pt x="4491" y="738"/>
                    <a:pt x="6636" y="23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7A17EAD8-354B-858F-6BEE-356B9D961993}"/>
                </a:ext>
              </a:extLst>
            </p:cNvPr>
            <p:cNvSpPr/>
            <p:nvPr/>
          </p:nvSpPr>
          <p:spPr>
            <a:xfrm>
              <a:off x="7691057" y="2801906"/>
              <a:ext cx="92511" cy="26429"/>
            </a:xfrm>
            <a:custGeom>
              <a:avLst/>
              <a:gdLst>
                <a:gd name="connsiteX0" fmla="*/ 10237 w 71377"/>
                <a:gd name="connsiteY0" fmla="*/ 0 h 20391"/>
                <a:gd name="connsiteX1" fmla="*/ 61181 w 71377"/>
                <a:gd name="connsiteY1" fmla="*/ 0 h 20391"/>
                <a:gd name="connsiteX2" fmla="*/ 71377 w 71377"/>
                <a:gd name="connsiteY2" fmla="*/ 10196 h 20391"/>
                <a:gd name="connsiteX3" fmla="*/ 61181 w 71377"/>
                <a:gd name="connsiteY3" fmla="*/ 20391 h 20391"/>
                <a:gd name="connsiteX4" fmla="*/ 10237 w 71377"/>
                <a:gd name="connsiteY4" fmla="*/ 20391 h 20391"/>
                <a:gd name="connsiteX5" fmla="*/ 843 w 71377"/>
                <a:gd name="connsiteY5" fmla="*/ 14164 h 20391"/>
                <a:gd name="connsiteX6" fmla="*/ 843 w 71377"/>
                <a:gd name="connsiteY6" fmla="*/ 6227 h 20391"/>
                <a:gd name="connsiteX7" fmla="*/ 10237 w 71377"/>
                <a:gd name="connsiteY7" fmla="*/ 0 h 2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377" h="20391">
                  <a:moveTo>
                    <a:pt x="10237" y="0"/>
                  </a:moveTo>
                  <a:lnTo>
                    <a:pt x="61181" y="0"/>
                  </a:lnTo>
                  <a:cubicBezTo>
                    <a:pt x="66812" y="0"/>
                    <a:pt x="71377" y="4565"/>
                    <a:pt x="71377" y="10196"/>
                  </a:cubicBezTo>
                  <a:cubicBezTo>
                    <a:pt x="71377" y="15827"/>
                    <a:pt x="66812" y="20391"/>
                    <a:pt x="61181" y="20391"/>
                  </a:cubicBezTo>
                  <a:lnTo>
                    <a:pt x="10237" y="20391"/>
                  </a:lnTo>
                  <a:cubicBezTo>
                    <a:pt x="6014" y="20391"/>
                    <a:pt x="2391" y="17824"/>
                    <a:pt x="843" y="14164"/>
                  </a:cubicBezTo>
                  <a:cubicBezTo>
                    <a:pt x="-280" y="12080"/>
                    <a:pt x="-280" y="8312"/>
                    <a:pt x="843" y="6227"/>
                  </a:cubicBezTo>
                  <a:cubicBezTo>
                    <a:pt x="2391" y="2568"/>
                    <a:pt x="6014" y="0"/>
                    <a:pt x="1023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27DAA206-17B7-50DC-66DA-68E05FF9483F}"/>
                </a:ext>
              </a:extLst>
            </p:cNvPr>
            <p:cNvSpPr/>
            <p:nvPr/>
          </p:nvSpPr>
          <p:spPr>
            <a:xfrm>
              <a:off x="8151949" y="2801906"/>
              <a:ext cx="92108" cy="26429"/>
            </a:xfrm>
            <a:custGeom>
              <a:avLst/>
              <a:gdLst>
                <a:gd name="connsiteX0" fmla="*/ 9927 w 71066"/>
                <a:gd name="connsiteY0" fmla="*/ 0 h 20391"/>
                <a:gd name="connsiteX1" fmla="*/ 60870 w 71066"/>
                <a:gd name="connsiteY1" fmla="*/ 0 h 20391"/>
                <a:gd name="connsiteX2" fmla="*/ 71066 w 71066"/>
                <a:gd name="connsiteY2" fmla="*/ 10196 h 20391"/>
                <a:gd name="connsiteX3" fmla="*/ 60870 w 71066"/>
                <a:gd name="connsiteY3" fmla="*/ 20391 h 20391"/>
                <a:gd name="connsiteX4" fmla="*/ 9927 w 71066"/>
                <a:gd name="connsiteY4" fmla="*/ 20391 h 20391"/>
                <a:gd name="connsiteX5" fmla="*/ 532 w 71066"/>
                <a:gd name="connsiteY5" fmla="*/ 14164 h 20391"/>
                <a:gd name="connsiteX6" fmla="*/ 532 w 71066"/>
                <a:gd name="connsiteY6" fmla="*/ 6227 h 20391"/>
                <a:gd name="connsiteX7" fmla="*/ 9927 w 71066"/>
                <a:gd name="connsiteY7" fmla="*/ 0 h 2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066" h="20391">
                  <a:moveTo>
                    <a:pt x="9927" y="0"/>
                  </a:moveTo>
                  <a:lnTo>
                    <a:pt x="60870" y="0"/>
                  </a:lnTo>
                  <a:cubicBezTo>
                    <a:pt x="66501" y="0"/>
                    <a:pt x="71066" y="4565"/>
                    <a:pt x="71066" y="10196"/>
                  </a:cubicBezTo>
                  <a:cubicBezTo>
                    <a:pt x="71066" y="15827"/>
                    <a:pt x="66501" y="20391"/>
                    <a:pt x="60870" y="20391"/>
                  </a:cubicBezTo>
                  <a:lnTo>
                    <a:pt x="9927" y="20391"/>
                  </a:lnTo>
                  <a:cubicBezTo>
                    <a:pt x="5703" y="20391"/>
                    <a:pt x="2080" y="17824"/>
                    <a:pt x="532" y="14164"/>
                  </a:cubicBezTo>
                  <a:cubicBezTo>
                    <a:pt x="-29" y="10676"/>
                    <a:pt x="-310" y="9434"/>
                    <a:pt x="532" y="6227"/>
                  </a:cubicBezTo>
                  <a:cubicBezTo>
                    <a:pt x="2080" y="2568"/>
                    <a:pt x="5703" y="0"/>
                    <a:pt x="992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4CA6455D-5F3E-3658-2FB3-B64E2A705E29}"/>
                </a:ext>
              </a:extLst>
            </p:cNvPr>
            <p:cNvSpPr/>
            <p:nvPr/>
          </p:nvSpPr>
          <p:spPr>
            <a:xfrm>
              <a:off x="8136251" y="2912185"/>
              <a:ext cx="83896" cy="55394"/>
            </a:xfrm>
            <a:custGeom>
              <a:avLst/>
              <a:gdLst>
                <a:gd name="connsiteX0" fmla="*/ 4775 w 64730"/>
                <a:gd name="connsiteY0" fmla="*/ 752 h 42739"/>
                <a:gd name="connsiteX1" fmla="*/ 12566 w 64730"/>
                <a:gd name="connsiteY1" fmla="*/ 789 h 42739"/>
                <a:gd name="connsiteX2" fmla="*/ 60305 w 64730"/>
                <a:gd name="connsiteY2" fmla="*/ 26805 h 42739"/>
                <a:gd name="connsiteX3" fmla="*/ 63694 w 64730"/>
                <a:gd name="connsiteY3" fmla="*/ 38314 h 42739"/>
                <a:gd name="connsiteX4" fmla="*/ 52185 w 64730"/>
                <a:gd name="connsiteY4" fmla="*/ 41703 h 42739"/>
                <a:gd name="connsiteX5" fmla="*/ 4446 w 64730"/>
                <a:gd name="connsiteY5" fmla="*/ 15687 h 42739"/>
                <a:gd name="connsiteX6" fmla="*/ 1057 w 64730"/>
                <a:gd name="connsiteY6" fmla="*/ 4178 h 42739"/>
                <a:gd name="connsiteX7" fmla="*/ 4775 w 64730"/>
                <a:gd name="connsiteY7" fmla="*/ 752 h 4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730" h="42739">
                  <a:moveTo>
                    <a:pt x="4775" y="752"/>
                  </a:moveTo>
                  <a:cubicBezTo>
                    <a:pt x="6845" y="-110"/>
                    <a:pt x="9593" y="-395"/>
                    <a:pt x="12566" y="789"/>
                  </a:cubicBezTo>
                  <a:lnTo>
                    <a:pt x="60305" y="26805"/>
                  </a:lnTo>
                  <a:cubicBezTo>
                    <a:pt x="64419" y="29047"/>
                    <a:pt x="65936" y="34199"/>
                    <a:pt x="63694" y="38314"/>
                  </a:cubicBezTo>
                  <a:cubicBezTo>
                    <a:pt x="61452" y="42428"/>
                    <a:pt x="56300" y="43945"/>
                    <a:pt x="52185" y="41703"/>
                  </a:cubicBezTo>
                  <a:lnTo>
                    <a:pt x="4446" y="15687"/>
                  </a:lnTo>
                  <a:cubicBezTo>
                    <a:pt x="135" y="13362"/>
                    <a:pt x="-1139" y="6942"/>
                    <a:pt x="1057" y="4178"/>
                  </a:cubicBezTo>
                  <a:cubicBezTo>
                    <a:pt x="1315" y="3054"/>
                    <a:pt x="2705" y="1615"/>
                    <a:pt x="4775" y="75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994EA9FC-B5BE-FCFC-7F4F-F3BA9A5BACDF}"/>
                </a:ext>
              </a:extLst>
            </p:cNvPr>
            <p:cNvSpPr/>
            <p:nvPr/>
          </p:nvSpPr>
          <p:spPr>
            <a:xfrm>
              <a:off x="7714896" y="2913795"/>
              <a:ext cx="84338" cy="57715"/>
            </a:xfrm>
            <a:custGeom>
              <a:avLst/>
              <a:gdLst>
                <a:gd name="connsiteX0" fmla="*/ 57922 w 65071"/>
                <a:gd name="connsiteY0" fmla="*/ 409 h 44530"/>
                <a:gd name="connsiteX1" fmla="*/ 63855 w 65071"/>
                <a:gd name="connsiteY1" fmla="*/ 5198 h 44530"/>
                <a:gd name="connsiteX2" fmla="*/ 59874 w 65071"/>
                <a:gd name="connsiteY2" fmla="*/ 18713 h 44530"/>
                <a:gd name="connsiteX3" fmla="*/ 14732 w 65071"/>
                <a:gd name="connsiteY3" fmla="*/ 43314 h 44530"/>
                <a:gd name="connsiteX4" fmla="*/ 1217 w 65071"/>
                <a:gd name="connsiteY4" fmla="*/ 39333 h 44530"/>
                <a:gd name="connsiteX5" fmla="*/ 5198 w 65071"/>
                <a:gd name="connsiteY5" fmla="*/ 25818 h 44530"/>
                <a:gd name="connsiteX6" fmla="*/ 50340 w 65071"/>
                <a:gd name="connsiteY6" fmla="*/ 1217 h 44530"/>
                <a:gd name="connsiteX7" fmla="*/ 57922 w 65071"/>
                <a:gd name="connsiteY7" fmla="*/ 409 h 4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71" h="44530">
                  <a:moveTo>
                    <a:pt x="57922" y="409"/>
                  </a:moveTo>
                  <a:cubicBezTo>
                    <a:pt x="60367" y="1129"/>
                    <a:pt x="62538" y="2782"/>
                    <a:pt x="63855" y="5198"/>
                  </a:cubicBezTo>
                  <a:cubicBezTo>
                    <a:pt x="66488" y="10029"/>
                    <a:pt x="64705" y="16080"/>
                    <a:pt x="59874" y="18713"/>
                  </a:cubicBezTo>
                  <a:lnTo>
                    <a:pt x="14732" y="43314"/>
                  </a:lnTo>
                  <a:cubicBezTo>
                    <a:pt x="9901" y="45947"/>
                    <a:pt x="3850" y="44164"/>
                    <a:pt x="1217" y="39333"/>
                  </a:cubicBezTo>
                  <a:cubicBezTo>
                    <a:pt x="-1416" y="34502"/>
                    <a:pt x="366" y="28451"/>
                    <a:pt x="5198" y="25818"/>
                  </a:cubicBezTo>
                  <a:lnTo>
                    <a:pt x="50340" y="1217"/>
                  </a:lnTo>
                  <a:cubicBezTo>
                    <a:pt x="52756" y="-99"/>
                    <a:pt x="55476" y="-312"/>
                    <a:pt x="57922" y="40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4B7608DF-50D8-0EFF-DA8B-6414DBE7C577}"/>
                </a:ext>
              </a:extLst>
            </p:cNvPr>
            <p:cNvSpPr/>
            <p:nvPr/>
          </p:nvSpPr>
          <p:spPr>
            <a:xfrm>
              <a:off x="7888095" y="2978586"/>
              <a:ext cx="160562" cy="26960"/>
            </a:xfrm>
            <a:custGeom>
              <a:avLst/>
              <a:gdLst>
                <a:gd name="connsiteX0" fmla="*/ 10401 w 123882"/>
                <a:gd name="connsiteY0" fmla="*/ 0 h 20801"/>
                <a:gd name="connsiteX1" fmla="*/ 113482 w 123882"/>
                <a:gd name="connsiteY1" fmla="*/ 0 h 20801"/>
                <a:gd name="connsiteX2" fmla="*/ 123882 w 123882"/>
                <a:gd name="connsiteY2" fmla="*/ 10400 h 20801"/>
                <a:gd name="connsiteX3" fmla="*/ 113482 w 123882"/>
                <a:gd name="connsiteY3" fmla="*/ 20801 h 20801"/>
                <a:gd name="connsiteX4" fmla="*/ 10401 w 123882"/>
                <a:gd name="connsiteY4" fmla="*/ 20801 h 20801"/>
                <a:gd name="connsiteX5" fmla="*/ 0 w 123882"/>
                <a:gd name="connsiteY5" fmla="*/ 10400 h 20801"/>
                <a:gd name="connsiteX6" fmla="*/ 10401 w 123882"/>
                <a:gd name="connsiteY6" fmla="*/ 0 h 20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82" h="20801">
                  <a:moveTo>
                    <a:pt x="10401" y="0"/>
                  </a:moveTo>
                  <a:lnTo>
                    <a:pt x="113482" y="0"/>
                  </a:lnTo>
                  <a:cubicBezTo>
                    <a:pt x="119226" y="0"/>
                    <a:pt x="123882" y="4656"/>
                    <a:pt x="123882" y="10400"/>
                  </a:cubicBezTo>
                  <a:cubicBezTo>
                    <a:pt x="123882" y="16144"/>
                    <a:pt x="119226" y="20801"/>
                    <a:pt x="113482" y="20801"/>
                  </a:cubicBezTo>
                  <a:lnTo>
                    <a:pt x="10401" y="20801"/>
                  </a:lnTo>
                  <a:cubicBezTo>
                    <a:pt x="4657" y="20801"/>
                    <a:pt x="0" y="16144"/>
                    <a:pt x="0" y="10400"/>
                  </a:cubicBezTo>
                  <a:cubicBezTo>
                    <a:pt x="0" y="4656"/>
                    <a:pt x="4657" y="0"/>
                    <a:pt x="1040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045ECFD-27BA-3842-304E-E2EF9812124F}"/>
                </a:ext>
              </a:extLst>
            </p:cNvPr>
            <p:cNvSpPr/>
            <p:nvPr/>
          </p:nvSpPr>
          <p:spPr>
            <a:xfrm>
              <a:off x="7897777" y="3026998"/>
              <a:ext cx="139594" cy="39243"/>
            </a:xfrm>
            <a:custGeom>
              <a:avLst/>
              <a:gdLst>
                <a:gd name="connsiteX0" fmla="*/ 10401 w 107704"/>
                <a:gd name="connsiteY0" fmla="*/ 0 h 30278"/>
                <a:gd name="connsiteX1" fmla="*/ 97303 w 107704"/>
                <a:gd name="connsiteY1" fmla="*/ 0 h 30278"/>
                <a:gd name="connsiteX2" fmla="*/ 107704 w 107704"/>
                <a:gd name="connsiteY2" fmla="*/ 10401 h 30278"/>
                <a:gd name="connsiteX3" fmla="*/ 101351 w 107704"/>
                <a:gd name="connsiteY3" fmla="*/ 19984 h 30278"/>
                <a:gd name="connsiteX4" fmla="*/ 99383 w 107704"/>
                <a:gd name="connsiteY4" fmla="*/ 20381 h 30278"/>
                <a:gd name="connsiteX5" fmla="*/ 99383 w 107704"/>
                <a:gd name="connsiteY5" fmla="*/ 22650 h 30278"/>
                <a:gd name="connsiteX6" fmla="*/ 91756 w 107704"/>
                <a:gd name="connsiteY6" fmla="*/ 30278 h 30278"/>
                <a:gd name="connsiteX7" fmla="*/ 16410 w 107704"/>
                <a:gd name="connsiteY7" fmla="*/ 30278 h 30278"/>
                <a:gd name="connsiteX8" fmla="*/ 8783 w 107704"/>
                <a:gd name="connsiteY8" fmla="*/ 22650 h 30278"/>
                <a:gd name="connsiteX9" fmla="*/ 8783 w 107704"/>
                <a:gd name="connsiteY9" fmla="*/ 20475 h 30278"/>
                <a:gd name="connsiteX10" fmla="*/ 6352 w 107704"/>
                <a:gd name="connsiteY10" fmla="*/ 19984 h 30278"/>
                <a:gd name="connsiteX11" fmla="*/ 0 w 107704"/>
                <a:gd name="connsiteY11" fmla="*/ 10401 h 30278"/>
                <a:gd name="connsiteX12" fmla="*/ 10401 w 107704"/>
                <a:gd name="connsiteY12" fmla="*/ 0 h 3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704" h="30278">
                  <a:moveTo>
                    <a:pt x="10401" y="0"/>
                  </a:moveTo>
                  <a:lnTo>
                    <a:pt x="97303" y="0"/>
                  </a:lnTo>
                  <a:cubicBezTo>
                    <a:pt x="103047" y="0"/>
                    <a:pt x="107704" y="4657"/>
                    <a:pt x="107704" y="10401"/>
                  </a:cubicBezTo>
                  <a:cubicBezTo>
                    <a:pt x="107704" y="14709"/>
                    <a:pt x="105084" y="18405"/>
                    <a:pt x="101351" y="19984"/>
                  </a:cubicBezTo>
                  <a:lnTo>
                    <a:pt x="99383" y="20381"/>
                  </a:lnTo>
                  <a:lnTo>
                    <a:pt x="99383" y="22650"/>
                  </a:lnTo>
                  <a:cubicBezTo>
                    <a:pt x="99383" y="26863"/>
                    <a:pt x="95968" y="30278"/>
                    <a:pt x="91756" y="30278"/>
                  </a:cubicBezTo>
                  <a:lnTo>
                    <a:pt x="16410" y="30278"/>
                  </a:lnTo>
                  <a:cubicBezTo>
                    <a:pt x="12198" y="30278"/>
                    <a:pt x="8783" y="26863"/>
                    <a:pt x="8783" y="22650"/>
                  </a:cubicBezTo>
                  <a:lnTo>
                    <a:pt x="8783" y="20475"/>
                  </a:lnTo>
                  <a:lnTo>
                    <a:pt x="6352" y="19984"/>
                  </a:lnTo>
                  <a:cubicBezTo>
                    <a:pt x="2619" y="18405"/>
                    <a:pt x="0" y="14709"/>
                    <a:pt x="0" y="10401"/>
                  </a:cubicBezTo>
                  <a:cubicBezTo>
                    <a:pt x="0" y="4657"/>
                    <a:pt x="4657" y="0"/>
                    <a:pt x="1040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0" name="Rounded Rectangular Callout 99">
            <a:extLst>
              <a:ext uri="{FF2B5EF4-FFF2-40B4-BE49-F238E27FC236}">
                <a16:creationId xmlns:a16="http://schemas.microsoft.com/office/drawing/2014/main" id="{9B2C5BB8-BA3F-3C67-7D48-9F21731FDB2E}"/>
              </a:ext>
            </a:extLst>
          </p:cNvPr>
          <p:cNvSpPr/>
          <p:nvPr/>
        </p:nvSpPr>
        <p:spPr>
          <a:xfrm>
            <a:off x="7873408" y="1711615"/>
            <a:ext cx="922889" cy="563340"/>
          </a:xfrm>
          <a:prstGeom prst="wedgeRoundRectCallout">
            <a:avLst>
              <a:gd name="adj1" fmla="val -65946"/>
              <a:gd name="adj2" fmla="val -10173"/>
              <a:gd name="adj3" fmla="val 16667"/>
            </a:avLst>
          </a:prstGeom>
          <a:solidFill>
            <a:schemeClr val="tx1"/>
          </a:solidFill>
          <a:ln w="28575">
            <a:solidFill>
              <a:schemeClr val="bg2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Three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 is good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3996CCB-23EE-E885-CE53-6C85CAEB645E}"/>
              </a:ext>
            </a:extLst>
          </p:cNvPr>
          <p:cNvCxnSpPr>
            <a:cxnSpLocks/>
          </p:cNvCxnSpPr>
          <p:nvPr/>
        </p:nvCxnSpPr>
        <p:spPr>
          <a:xfrm>
            <a:off x="2583508" y="962857"/>
            <a:ext cx="0" cy="1910643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94E56021-8874-8CC1-FB6A-195D71AA0515}"/>
              </a:ext>
            </a:extLst>
          </p:cNvPr>
          <p:cNvSpPr txBox="1"/>
          <p:nvPr/>
        </p:nvSpPr>
        <p:spPr>
          <a:xfrm>
            <a:off x="667028" y="2911489"/>
            <a:ext cx="1739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Neural Network </a:t>
            </a:r>
            <a:r>
              <a:rPr lang="en-US" sz="16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Arial" charset="0"/>
              </a:rPr>
              <a:t>(NN) is better</a:t>
            </a:r>
            <a:endParaRPr lang="en-US" sz="1600" dirty="0">
              <a:solidFill>
                <a:schemeClr val="bg2">
                  <a:lumMod val="25000"/>
                  <a:lumOff val="75000"/>
                </a:schemeClr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0DD3AAC-BE5F-1522-BC1B-CCC60673BFBF}"/>
              </a:ext>
            </a:extLst>
          </p:cNvPr>
          <p:cNvGrpSpPr/>
          <p:nvPr/>
        </p:nvGrpSpPr>
        <p:grpSpPr>
          <a:xfrm>
            <a:off x="290718" y="2864249"/>
            <a:ext cx="369016" cy="369333"/>
            <a:chOff x="7691057" y="2512766"/>
            <a:chExt cx="553000" cy="553475"/>
          </a:xfrm>
          <a:solidFill>
            <a:schemeClr val="bg2">
              <a:lumMod val="25000"/>
              <a:lumOff val="75000"/>
            </a:schemeClr>
          </a:solidFill>
        </p:grpSpPr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E9691309-8126-D9BE-AAE7-DA7B28E9B87C}"/>
                </a:ext>
              </a:extLst>
            </p:cNvPr>
            <p:cNvSpPr/>
            <p:nvPr/>
          </p:nvSpPr>
          <p:spPr>
            <a:xfrm>
              <a:off x="7954733" y="2512766"/>
              <a:ext cx="25974" cy="92457"/>
            </a:xfrm>
            <a:custGeom>
              <a:avLst/>
              <a:gdLst>
                <a:gd name="connsiteX0" fmla="*/ 10020 w 20040"/>
                <a:gd name="connsiteY0" fmla="*/ 0 h 71335"/>
                <a:gd name="connsiteX1" fmla="*/ 20040 w 20040"/>
                <a:gd name="connsiteY1" fmla="*/ 10020 h 71335"/>
                <a:gd name="connsiteX2" fmla="*/ 20040 w 20040"/>
                <a:gd name="connsiteY2" fmla="*/ 61315 h 71335"/>
                <a:gd name="connsiteX3" fmla="*/ 10020 w 20040"/>
                <a:gd name="connsiteY3" fmla="*/ 71335 h 71335"/>
                <a:gd name="connsiteX4" fmla="*/ 0 w 20040"/>
                <a:gd name="connsiteY4" fmla="*/ 61315 h 71335"/>
                <a:gd name="connsiteX5" fmla="*/ 0 w 20040"/>
                <a:gd name="connsiteY5" fmla="*/ 10020 h 71335"/>
                <a:gd name="connsiteX6" fmla="*/ 10020 w 20040"/>
                <a:gd name="connsiteY6" fmla="*/ 0 h 71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040" h="71335">
                  <a:moveTo>
                    <a:pt x="10020" y="0"/>
                  </a:moveTo>
                  <a:cubicBezTo>
                    <a:pt x="15554" y="0"/>
                    <a:pt x="20040" y="4486"/>
                    <a:pt x="20040" y="10020"/>
                  </a:cubicBezTo>
                  <a:cubicBezTo>
                    <a:pt x="20040" y="27119"/>
                    <a:pt x="20040" y="44217"/>
                    <a:pt x="20040" y="61315"/>
                  </a:cubicBezTo>
                  <a:cubicBezTo>
                    <a:pt x="19226" y="66620"/>
                    <a:pt x="16167" y="70802"/>
                    <a:pt x="10020" y="71335"/>
                  </a:cubicBezTo>
                  <a:cubicBezTo>
                    <a:pt x="7169" y="70996"/>
                    <a:pt x="1670" y="71535"/>
                    <a:pt x="0" y="61315"/>
                  </a:cubicBezTo>
                  <a:lnTo>
                    <a:pt x="0" y="10020"/>
                  </a:lnTo>
                  <a:cubicBezTo>
                    <a:pt x="0" y="4486"/>
                    <a:pt x="4486" y="0"/>
                    <a:pt x="10020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0424833-3DDC-4910-C581-C412F7E9FC02}"/>
                </a:ext>
              </a:extLst>
            </p:cNvPr>
            <p:cNvSpPr/>
            <p:nvPr/>
          </p:nvSpPr>
          <p:spPr>
            <a:xfrm>
              <a:off x="7807901" y="2555822"/>
              <a:ext cx="60943" cy="83019"/>
            </a:xfrm>
            <a:custGeom>
              <a:avLst/>
              <a:gdLst>
                <a:gd name="connsiteX0" fmla="*/ 11085 w 47021"/>
                <a:gd name="connsiteY0" fmla="*/ 32 h 64053"/>
                <a:gd name="connsiteX1" fmla="*/ 19135 w 47021"/>
                <a:gd name="connsiteY1" fmla="*/ 5030 h 64053"/>
                <a:gd name="connsiteX2" fmla="*/ 45532 w 47021"/>
                <a:gd name="connsiteY2" fmla="*/ 48493 h 64053"/>
                <a:gd name="connsiteX3" fmla="*/ 42094 w 47021"/>
                <a:gd name="connsiteY3" fmla="*/ 62564 h 64053"/>
                <a:gd name="connsiteX4" fmla="*/ 28023 w 47021"/>
                <a:gd name="connsiteY4" fmla="*/ 59126 h 64053"/>
                <a:gd name="connsiteX5" fmla="*/ 1626 w 47021"/>
                <a:gd name="connsiteY5" fmla="*/ 15664 h 64053"/>
                <a:gd name="connsiteX6" fmla="*/ 5064 w 47021"/>
                <a:gd name="connsiteY6" fmla="*/ 1593 h 64053"/>
                <a:gd name="connsiteX7" fmla="*/ 11085 w 47021"/>
                <a:gd name="connsiteY7" fmla="*/ 32 h 64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21" h="64053">
                  <a:moveTo>
                    <a:pt x="11085" y="32"/>
                  </a:moveTo>
                  <a:cubicBezTo>
                    <a:pt x="13536" y="241"/>
                    <a:pt x="16324" y="1543"/>
                    <a:pt x="19135" y="5030"/>
                  </a:cubicBezTo>
                  <a:lnTo>
                    <a:pt x="45532" y="48493"/>
                  </a:lnTo>
                  <a:cubicBezTo>
                    <a:pt x="48468" y="53327"/>
                    <a:pt x="46929" y="59627"/>
                    <a:pt x="42094" y="62564"/>
                  </a:cubicBezTo>
                  <a:cubicBezTo>
                    <a:pt x="37260" y="65500"/>
                    <a:pt x="30960" y="63961"/>
                    <a:pt x="28023" y="59126"/>
                  </a:cubicBezTo>
                  <a:lnTo>
                    <a:pt x="1626" y="15664"/>
                  </a:lnTo>
                  <a:cubicBezTo>
                    <a:pt x="-2481" y="9162"/>
                    <a:pt x="2146" y="3365"/>
                    <a:pt x="5064" y="1593"/>
                  </a:cubicBezTo>
                  <a:cubicBezTo>
                    <a:pt x="6523" y="707"/>
                    <a:pt x="8635" y="-177"/>
                    <a:pt x="11085" y="3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60CD64A9-5832-F2BB-9866-4CD3A4AD3B12}"/>
                </a:ext>
              </a:extLst>
            </p:cNvPr>
            <p:cNvSpPr/>
            <p:nvPr/>
          </p:nvSpPr>
          <p:spPr>
            <a:xfrm>
              <a:off x="8064823" y="2555817"/>
              <a:ext cx="60959" cy="82943"/>
            </a:xfrm>
            <a:custGeom>
              <a:avLst/>
              <a:gdLst>
                <a:gd name="connsiteX0" fmla="*/ 34168 w 47033"/>
                <a:gd name="connsiteY0" fmla="*/ 299 h 63995"/>
                <a:gd name="connsiteX1" fmla="*/ 42032 w 47033"/>
                <a:gd name="connsiteY1" fmla="*/ 1513 h 63995"/>
                <a:gd name="connsiteX2" fmla="*/ 45521 w 47033"/>
                <a:gd name="connsiteY2" fmla="*/ 15795 h 63995"/>
                <a:gd name="connsiteX3" fmla="*/ 19284 w 47033"/>
                <a:gd name="connsiteY3" fmla="*/ 58994 h 63995"/>
                <a:gd name="connsiteX4" fmla="*/ 5002 w 47033"/>
                <a:gd name="connsiteY4" fmla="*/ 62483 h 63995"/>
                <a:gd name="connsiteX5" fmla="*/ 1513 w 47033"/>
                <a:gd name="connsiteY5" fmla="*/ 48201 h 63995"/>
                <a:gd name="connsiteX6" fmla="*/ 27750 w 47033"/>
                <a:gd name="connsiteY6" fmla="*/ 5001 h 63995"/>
                <a:gd name="connsiteX7" fmla="*/ 34168 w 47033"/>
                <a:gd name="connsiteY7" fmla="*/ 299 h 63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033" h="63995">
                  <a:moveTo>
                    <a:pt x="34168" y="299"/>
                  </a:moveTo>
                  <a:cubicBezTo>
                    <a:pt x="36753" y="-332"/>
                    <a:pt x="39578" y="22"/>
                    <a:pt x="42032" y="1513"/>
                  </a:cubicBezTo>
                  <a:cubicBezTo>
                    <a:pt x="46939" y="4493"/>
                    <a:pt x="48502" y="10887"/>
                    <a:pt x="45521" y="15795"/>
                  </a:cubicBezTo>
                  <a:lnTo>
                    <a:pt x="19284" y="58994"/>
                  </a:lnTo>
                  <a:cubicBezTo>
                    <a:pt x="16304" y="63902"/>
                    <a:pt x="9909" y="65464"/>
                    <a:pt x="5002" y="62483"/>
                  </a:cubicBezTo>
                  <a:cubicBezTo>
                    <a:pt x="94" y="59503"/>
                    <a:pt x="-1468" y="53108"/>
                    <a:pt x="1513" y="48201"/>
                  </a:cubicBezTo>
                  <a:lnTo>
                    <a:pt x="27750" y="5001"/>
                  </a:lnTo>
                  <a:cubicBezTo>
                    <a:pt x="29240" y="2548"/>
                    <a:pt x="31584" y="930"/>
                    <a:pt x="34168" y="2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F6FFB7F0-D4E4-310E-45EA-367E58A22881}"/>
                </a:ext>
              </a:extLst>
            </p:cNvPr>
            <p:cNvSpPr/>
            <p:nvPr/>
          </p:nvSpPr>
          <p:spPr>
            <a:xfrm>
              <a:off x="7823319" y="2656561"/>
              <a:ext cx="285897" cy="302403"/>
            </a:xfrm>
            <a:custGeom>
              <a:avLst/>
              <a:gdLst>
                <a:gd name="connsiteX0" fmla="*/ 148196 w 221978"/>
                <a:gd name="connsiteY0" fmla="*/ 100727 h 233319"/>
                <a:gd name="connsiteX1" fmla="*/ 139456 w 221978"/>
                <a:gd name="connsiteY1" fmla="*/ 102643 h 233319"/>
                <a:gd name="connsiteX2" fmla="*/ 111846 w 221978"/>
                <a:gd name="connsiteY2" fmla="*/ 112165 h 233319"/>
                <a:gd name="connsiteX3" fmla="*/ 83905 w 221978"/>
                <a:gd name="connsiteY3" fmla="*/ 102910 h 233319"/>
                <a:gd name="connsiteX4" fmla="*/ 78955 w 221978"/>
                <a:gd name="connsiteY4" fmla="*/ 110817 h 233319"/>
                <a:gd name="connsiteX5" fmla="*/ 106989 w 221978"/>
                <a:gd name="connsiteY5" fmla="*/ 185136 h 233319"/>
                <a:gd name="connsiteX6" fmla="*/ 113999 w 221978"/>
                <a:gd name="connsiteY6" fmla="*/ 186579 h 233319"/>
                <a:gd name="connsiteX7" fmla="*/ 145642 w 221978"/>
                <a:gd name="connsiteY7" fmla="*/ 108951 h 233319"/>
                <a:gd name="connsiteX8" fmla="*/ 148196 w 221978"/>
                <a:gd name="connsiteY8" fmla="*/ 100727 h 233319"/>
                <a:gd name="connsiteX9" fmla="*/ 113768 w 221978"/>
                <a:gd name="connsiteY9" fmla="*/ 0 h 233319"/>
                <a:gd name="connsiteX10" fmla="*/ 195210 w 221978"/>
                <a:gd name="connsiteY10" fmla="*/ 176513 h 233319"/>
                <a:gd name="connsiteX11" fmla="*/ 164616 w 221978"/>
                <a:gd name="connsiteY11" fmla="*/ 233319 h 233319"/>
                <a:gd name="connsiteX12" fmla="*/ 56912 w 221978"/>
                <a:gd name="connsiteY12" fmla="*/ 233319 h 233319"/>
                <a:gd name="connsiteX13" fmla="*/ 21456 w 221978"/>
                <a:gd name="connsiteY13" fmla="*/ 167623 h 233319"/>
                <a:gd name="connsiteX14" fmla="*/ 113768 w 221978"/>
                <a:gd name="connsiteY14" fmla="*/ 0 h 233319"/>
                <a:gd name="connsiteX0" fmla="*/ 148196 w 220584"/>
                <a:gd name="connsiteY0" fmla="*/ 100727 h 233319"/>
                <a:gd name="connsiteX1" fmla="*/ 139456 w 220584"/>
                <a:gd name="connsiteY1" fmla="*/ 102643 h 233319"/>
                <a:gd name="connsiteX2" fmla="*/ 111846 w 220584"/>
                <a:gd name="connsiteY2" fmla="*/ 112165 h 233319"/>
                <a:gd name="connsiteX3" fmla="*/ 83905 w 220584"/>
                <a:gd name="connsiteY3" fmla="*/ 102910 h 233319"/>
                <a:gd name="connsiteX4" fmla="*/ 78955 w 220584"/>
                <a:gd name="connsiteY4" fmla="*/ 110817 h 233319"/>
                <a:gd name="connsiteX5" fmla="*/ 106989 w 220584"/>
                <a:gd name="connsiteY5" fmla="*/ 185136 h 233319"/>
                <a:gd name="connsiteX6" fmla="*/ 113999 w 220584"/>
                <a:gd name="connsiteY6" fmla="*/ 186579 h 233319"/>
                <a:gd name="connsiteX7" fmla="*/ 145642 w 220584"/>
                <a:gd name="connsiteY7" fmla="*/ 108951 h 233319"/>
                <a:gd name="connsiteX8" fmla="*/ 148196 w 220584"/>
                <a:gd name="connsiteY8" fmla="*/ 100727 h 233319"/>
                <a:gd name="connsiteX9" fmla="*/ 113768 w 220584"/>
                <a:gd name="connsiteY9" fmla="*/ 0 h 233319"/>
                <a:gd name="connsiteX10" fmla="*/ 195210 w 220584"/>
                <a:gd name="connsiteY10" fmla="*/ 176513 h 233319"/>
                <a:gd name="connsiteX11" fmla="*/ 164616 w 220584"/>
                <a:gd name="connsiteY11" fmla="*/ 233319 h 233319"/>
                <a:gd name="connsiteX12" fmla="*/ 56912 w 220584"/>
                <a:gd name="connsiteY12" fmla="*/ 233319 h 233319"/>
                <a:gd name="connsiteX13" fmla="*/ 21456 w 220584"/>
                <a:gd name="connsiteY13" fmla="*/ 167623 h 233319"/>
                <a:gd name="connsiteX14" fmla="*/ 113768 w 220584"/>
                <a:gd name="connsiteY14" fmla="*/ 0 h 23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0584" h="233319">
                  <a:moveTo>
                    <a:pt x="148196" y="100727"/>
                  </a:moveTo>
                  <a:cubicBezTo>
                    <a:pt x="146528" y="99132"/>
                    <a:pt x="142979" y="99227"/>
                    <a:pt x="139456" y="102643"/>
                  </a:cubicBezTo>
                  <a:cubicBezTo>
                    <a:pt x="130654" y="109347"/>
                    <a:pt x="121031" y="112275"/>
                    <a:pt x="111846" y="112165"/>
                  </a:cubicBezTo>
                  <a:cubicBezTo>
                    <a:pt x="105846" y="112808"/>
                    <a:pt x="93976" y="110134"/>
                    <a:pt x="83905" y="102910"/>
                  </a:cubicBezTo>
                  <a:cubicBezTo>
                    <a:pt x="71294" y="95750"/>
                    <a:pt x="71132" y="105075"/>
                    <a:pt x="78955" y="110817"/>
                  </a:cubicBezTo>
                  <a:cubicBezTo>
                    <a:pt x="97987" y="129977"/>
                    <a:pt x="107848" y="156107"/>
                    <a:pt x="106989" y="185136"/>
                  </a:cubicBezTo>
                  <a:cubicBezTo>
                    <a:pt x="107344" y="193481"/>
                    <a:pt x="113769" y="191379"/>
                    <a:pt x="113999" y="186579"/>
                  </a:cubicBezTo>
                  <a:cubicBezTo>
                    <a:pt x="117445" y="161891"/>
                    <a:pt x="124658" y="130909"/>
                    <a:pt x="145642" y="108951"/>
                  </a:cubicBezTo>
                  <a:cubicBezTo>
                    <a:pt x="149649" y="105607"/>
                    <a:pt x="149863" y="102322"/>
                    <a:pt x="148196" y="100727"/>
                  </a:cubicBezTo>
                  <a:close/>
                  <a:moveTo>
                    <a:pt x="113768" y="0"/>
                  </a:moveTo>
                  <a:cubicBezTo>
                    <a:pt x="214371" y="182"/>
                    <a:pt x="249363" y="112029"/>
                    <a:pt x="195210" y="176513"/>
                  </a:cubicBezTo>
                  <a:cubicBezTo>
                    <a:pt x="182059" y="195448"/>
                    <a:pt x="172353" y="207985"/>
                    <a:pt x="164616" y="233319"/>
                  </a:cubicBezTo>
                  <a:lnTo>
                    <a:pt x="56912" y="233319"/>
                  </a:lnTo>
                  <a:cubicBezTo>
                    <a:pt x="52968" y="210928"/>
                    <a:pt x="40165" y="192967"/>
                    <a:pt x="21456" y="167623"/>
                  </a:cubicBezTo>
                  <a:cubicBezTo>
                    <a:pt x="-27843" y="108939"/>
                    <a:pt x="9832" y="344"/>
                    <a:pt x="113768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16460C5-79E2-C4A2-67CA-F8853AE4E585}"/>
                </a:ext>
              </a:extLst>
            </p:cNvPr>
            <p:cNvSpPr/>
            <p:nvPr/>
          </p:nvSpPr>
          <p:spPr>
            <a:xfrm>
              <a:off x="8138445" y="2667325"/>
              <a:ext cx="82100" cy="59579"/>
            </a:xfrm>
            <a:custGeom>
              <a:avLst/>
              <a:gdLst>
                <a:gd name="connsiteX0" fmla="*/ 56475 w 63344"/>
                <a:gd name="connsiteY0" fmla="*/ 240 h 45968"/>
                <a:gd name="connsiteX1" fmla="*/ 62011 w 63344"/>
                <a:gd name="connsiteY1" fmla="*/ 4229 h 45968"/>
                <a:gd name="connsiteX2" fmla="*/ 59116 w 63344"/>
                <a:gd name="connsiteY2" fmla="*/ 16500 h 45968"/>
                <a:gd name="connsiteX3" fmla="*/ 13606 w 63344"/>
                <a:gd name="connsiteY3" fmla="*/ 44635 h 45968"/>
                <a:gd name="connsiteX4" fmla="*/ 1334 w 63344"/>
                <a:gd name="connsiteY4" fmla="*/ 41740 h 45968"/>
                <a:gd name="connsiteX5" fmla="*/ 4230 w 63344"/>
                <a:gd name="connsiteY5" fmla="*/ 29468 h 45968"/>
                <a:gd name="connsiteX6" fmla="*/ 49740 w 63344"/>
                <a:gd name="connsiteY6" fmla="*/ 1334 h 45968"/>
                <a:gd name="connsiteX7" fmla="*/ 56475 w 63344"/>
                <a:gd name="connsiteY7" fmla="*/ 240 h 45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44" h="45968">
                  <a:moveTo>
                    <a:pt x="56475" y="240"/>
                  </a:moveTo>
                  <a:cubicBezTo>
                    <a:pt x="58696" y="764"/>
                    <a:pt x="60717" y="2135"/>
                    <a:pt x="62011" y="4229"/>
                  </a:cubicBezTo>
                  <a:cubicBezTo>
                    <a:pt x="64600" y="8417"/>
                    <a:pt x="63304" y="13911"/>
                    <a:pt x="59116" y="16500"/>
                  </a:cubicBezTo>
                  <a:lnTo>
                    <a:pt x="13606" y="44635"/>
                  </a:lnTo>
                  <a:cubicBezTo>
                    <a:pt x="9418" y="47224"/>
                    <a:pt x="3924" y="45928"/>
                    <a:pt x="1334" y="41740"/>
                  </a:cubicBezTo>
                  <a:cubicBezTo>
                    <a:pt x="-1255" y="37552"/>
                    <a:pt x="42" y="32058"/>
                    <a:pt x="4230" y="29468"/>
                  </a:cubicBezTo>
                  <a:lnTo>
                    <a:pt x="49740" y="1334"/>
                  </a:lnTo>
                  <a:cubicBezTo>
                    <a:pt x="51834" y="39"/>
                    <a:pt x="54254" y="-284"/>
                    <a:pt x="56475" y="24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CDFC939C-9BFA-9C82-264F-C9FAC560FED2}"/>
                </a:ext>
              </a:extLst>
            </p:cNvPr>
            <p:cNvSpPr/>
            <p:nvPr/>
          </p:nvSpPr>
          <p:spPr>
            <a:xfrm>
              <a:off x="7711625" y="2671122"/>
              <a:ext cx="81980" cy="59205"/>
            </a:xfrm>
            <a:custGeom>
              <a:avLst/>
              <a:gdLst>
                <a:gd name="connsiteX0" fmla="*/ 6636 w 63252"/>
                <a:gd name="connsiteY0" fmla="*/ 232 h 45680"/>
                <a:gd name="connsiteX1" fmla="*/ 13142 w 63252"/>
                <a:gd name="connsiteY1" fmla="*/ 1288 h 45680"/>
                <a:gd name="connsiteX2" fmla="*/ 59168 w 63252"/>
                <a:gd name="connsiteY2" fmla="*/ 29742 h 45680"/>
                <a:gd name="connsiteX3" fmla="*/ 61965 w 63252"/>
                <a:gd name="connsiteY3" fmla="*/ 41596 h 45680"/>
                <a:gd name="connsiteX4" fmla="*/ 50111 w 63252"/>
                <a:gd name="connsiteY4" fmla="*/ 44392 h 45680"/>
                <a:gd name="connsiteX5" fmla="*/ 4085 w 63252"/>
                <a:gd name="connsiteY5" fmla="*/ 15939 h 45680"/>
                <a:gd name="connsiteX6" fmla="*/ 1288 w 63252"/>
                <a:gd name="connsiteY6" fmla="*/ 4085 h 45680"/>
                <a:gd name="connsiteX7" fmla="*/ 6636 w 63252"/>
                <a:gd name="connsiteY7" fmla="*/ 232 h 45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252" h="45680">
                  <a:moveTo>
                    <a:pt x="6636" y="232"/>
                  </a:moveTo>
                  <a:cubicBezTo>
                    <a:pt x="8781" y="-274"/>
                    <a:pt x="11119" y="38"/>
                    <a:pt x="13142" y="1288"/>
                  </a:cubicBezTo>
                  <a:lnTo>
                    <a:pt x="59168" y="29742"/>
                  </a:lnTo>
                  <a:cubicBezTo>
                    <a:pt x="63214" y="32243"/>
                    <a:pt x="64466" y="37550"/>
                    <a:pt x="61965" y="41596"/>
                  </a:cubicBezTo>
                  <a:cubicBezTo>
                    <a:pt x="59463" y="45641"/>
                    <a:pt x="54156" y="46894"/>
                    <a:pt x="50111" y="44392"/>
                  </a:cubicBezTo>
                  <a:lnTo>
                    <a:pt x="4085" y="15939"/>
                  </a:lnTo>
                  <a:cubicBezTo>
                    <a:pt x="39" y="13438"/>
                    <a:pt x="-1213" y="8131"/>
                    <a:pt x="1288" y="4085"/>
                  </a:cubicBezTo>
                  <a:cubicBezTo>
                    <a:pt x="2539" y="2062"/>
                    <a:pt x="4491" y="738"/>
                    <a:pt x="6636" y="23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D4A2FF96-79A6-2406-5F86-CB204ECCE967}"/>
                </a:ext>
              </a:extLst>
            </p:cNvPr>
            <p:cNvSpPr/>
            <p:nvPr/>
          </p:nvSpPr>
          <p:spPr>
            <a:xfrm>
              <a:off x="7691057" y="2801906"/>
              <a:ext cx="92511" cy="26429"/>
            </a:xfrm>
            <a:custGeom>
              <a:avLst/>
              <a:gdLst>
                <a:gd name="connsiteX0" fmla="*/ 10237 w 71377"/>
                <a:gd name="connsiteY0" fmla="*/ 0 h 20391"/>
                <a:gd name="connsiteX1" fmla="*/ 61181 w 71377"/>
                <a:gd name="connsiteY1" fmla="*/ 0 h 20391"/>
                <a:gd name="connsiteX2" fmla="*/ 71377 w 71377"/>
                <a:gd name="connsiteY2" fmla="*/ 10196 h 20391"/>
                <a:gd name="connsiteX3" fmla="*/ 61181 w 71377"/>
                <a:gd name="connsiteY3" fmla="*/ 20391 h 20391"/>
                <a:gd name="connsiteX4" fmla="*/ 10237 w 71377"/>
                <a:gd name="connsiteY4" fmla="*/ 20391 h 20391"/>
                <a:gd name="connsiteX5" fmla="*/ 843 w 71377"/>
                <a:gd name="connsiteY5" fmla="*/ 14164 h 20391"/>
                <a:gd name="connsiteX6" fmla="*/ 843 w 71377"/>
                <a:gd name="connsiteY6" fmla="*/ 6227 h 20391"/>
                <a:gd name="connsiteX7" fmla="*/ 10237 w 71377"/>
                <a:gd name="connsiteY7" fmla="*/ 0 h 2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377" h="20391">
                  <a:moveTo>
                    <a:pt x="10237" y="0"/>
                  </a:moveTo>
                  <a:lnTo>
                    <a:pt x="61181" y="0"/>
                  </a:lnTo>
                  <a:cubicBezTo>
                    <a:pt x="66812" y="0"/>
                    <a:pt x="71377" y="4565"/>
                    <a:pt x="71377" y="10196"/>
                  </a:cubicBezTo>
                  <a:cubicBezTo>
                    <a:pt x="71377" y="15827"/>
                    <a:pt x="66812" y="20391"/>
                    <a:pt x="61181" y="20391"/>
                  </a:cubicBezTo>
                  <a:lnTo>
                    <a:pt x="10237" y="20391"/>
                  </a:lnTo>
                  <a:cubicBezTo>
                    <a:pt x="6014" y="20391"/>
                    <a:pt x="2391" y="17824"/>
                    <a:pt x="843" y="14164"/>
                  </a:cubicBezTo>
                  <a:cubicBezTo>
                    <a:pt x="-280" y="12080"/>
                    <a:pt x="-280" y="8312"/>
                    <a:pt x="843" y="6227"/>
                  </a:cubicBezTo>
                  <a:cubicBezTo>
                    <a:pt x="2391" y="2568"/>
                    <a:pt x="6014" y="0"/>
                    <a:pt x="1023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596163C7-C416-6D9D-EC94-F1485AE190E6}"/>
                </a:ext>
              </a:extLst>
            </p:cNvPr>
            <p:cNvSpPr/>
            <p:nvPr/>
          </p:nvSpPr>
          <p:spPr>
            <a:xfrm>
              <a:off x="8151949" y="2801906"/>
              <a:ext cx="92108" cy="26429"/>
            </a:xfrm>
            <a:custGeom>
              <a:avLst/>
              <a:gdLst>
                <a:gd name="connsiteX0" fmla="*/ 9927 w 71066"/>
                <a:gd name="connsiteY0" fmla="*/ 0 h 20391"/>
                <a:gd name="connsiteX1" fmla="*/ 60870 w 71066"/>
                <a:gd name="connsiteY1" fmla="*/ 0 h 20391"/>
                <a:gd name="connsiteX2" fmla="*/ 71066 w 71066"/>
                <a:gd name="connsiteY2" fmla="*/ 10196 h 20391"/>
                <a:gd name="connsiteX3" fmla="*/ 60870 w 71066"/>
                <a:gd name="connsiteY3" fmla="*/ 20391 h 20391"/>
                <a:gd name="connsiteX4" fmla="*/ 9927 w 71066"/>
                <a:gd name="connsiteY4" fmla="*/ 20391 h 20391"/>
                <a:gd name="connsiteX5" fmla="*/ 532 w 71066"/>
                <a:gd name="connsiteY5" fmla="*/ 14164 h 20391"/>
                <a:gd name="connsiteX6" fmla="*/ 532 w 71066"/>
                <a:gd name="connsiteY6" fmla="*/ 6227 h 20391"/>
                <a:gd name="connsiteX7" fmla="*/ 9927 w 71066"/>
                <a:gd name="connsiteY7" fmla="*/ 0 h 2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066" h="20391">
                  <a:moveTo>
                    <a:pt x="9927" y="0"/>
                  </a:moveTo>
                  <a:lnTo>
                    <a:pt x="60870" y="0"/>
                  </a:lnTo>
                  <a:cubicBezTo>
                    <a:pt x="66501" y="0"/>
                    <a:pt x="71066" y="4565"/>
                    <a:pt x="71066" y="10196"/>
                  </a:cubicBezTo>
                  <a:cubicBezTo>
                    <a:pt x="71066" y="15827"/>
                    <a:pt x="66501" y="20391"/>
                    <a:pt x="60870" y="20391"/>
                  </a:cubicBezTo>
                  <a:lnTo>
                    <a:pt x="9927" y="20391"/>
                  </a:lnTo>
                  <a:cubicBezTo>
                    <a:pt x="5703" y="20391"/>
                    <a:pt x="2080" y="17824"/>
                    <a:pt x="532" y="14164"/>
                  </a:cubicBezTo>
                  <a:cubicBezTo>
                    <a:pt x="-29" y="10676"/>
                    <a:pt x="-310" y="9434"/>
                    <a:pt x="532" y="6227"/>
                  </a:cubicBezTo>
                  <a:cubicBezTo>
                    <a:pt x="2080" y="2568"/>
                    <a:pt x="5703" y="0"/>
                    <a:pt x="9927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5AE20266-7FCF-F0CC-36B1-BB31774277CC}"/>
                </a:ext>
              </a:extLst>
            </p:cNvPr>
            <p:cNvSpPr/>
            <p:nvPr/>
          </p:nvSpPr>
          <p:spPr>
            <a:xfrm>
              <a:off x="8136251" y="2912185"/>
              <a:ext cx="83896" cy="55394"/>
            </a:xfrm>
            <a:custGeom>
              <a:avLst/>
              <a:gdLst>
                <a:gd name="connsiteX0" fmla="*/ 4775 w 64730"/>
                <a:gd name="connsiteY0" fmla="*/ 752 h 42739"/>
                <a:gd name="connsiteX1" fmla="*/ 12566 w 64730"/>
                <a:gd name="connsiteY1" fmla="*/ 789 h 42739"/>
                <a:gd name="connsiteX2" fmla="*/ 60305 w 64730"/>
                <a:gd name="connsiteY2" fmla="*/ 26805 h 42739"/>
                <a:gd name="connsiteX3" fmla="*/ 63694 w 64730"/>
                <a:gd name="connsiteY3" fmla="*/ 38314 h 42739"/>
                <a:gd name="connsiteX4" fmla="*/ 52185 w 64730"/>
                <a:gd name="connsiteY4" fmla="*/ 41703 h 42739"/>
                <a:gd name="connsiteX5" fmla="*/ 4446 w 64730"/>
                <a:gd name="connsiteY5" fmla="*/ 15687 h 42739"/>
                <a:gd name="connsiteX6" fmla="*/ 1057 w 64730"/>
                <a:gd name="connsiteY6" fmla="*/ 4178 h 42739"/>
                <a:gd name="connsiteX7" fmla="*/ 4775 w 64730"/>
                <a:gd name="connsiteY7" fmla="*/ 752 h 4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4730" h="42739">
                  <a:moveTo>
                    <a:pt x="4775" y="752"/>
                  </a:moveTo>
                  <a:cubicBezTo>
                    <a:pt x="6845" y="-110"/>
                    <a:pt x="9593" y="-395"/>
                    <a:pt x="12566" y="789"/>
                  </a:cubicBezTo>
                  <a:lnTo>
                    <a:pt x="60305" y="26805"/>
                  </a:lnTo>
                  <a:cubicBezTo>
                    <a:pt x="64419" y="29047"/>
                    <a:pt x="65936" y="34199"/>
                    <a:pt x="63694" y="38314"/>
                  </a:cubicBezTo>
                  <a:cubicBezTo>
                    <a:pt x="61452" y="42428"/>
                    <a:pt x="56300" y="43945"/>
                    <a:pt x="52185" y="41703"/>
                  </a:cubicBezTo>
                  <a:lnTo>
                    <a:pt x="4446" y="15687"/>
                  </a:lnTo>
                  <a:cubicBezTo>
                    <a:pt x="135" y="13362"/>
                    <a:pt x="-1139" y="6942"/>
                    <a:pt x="1057" y="4178"/>
                  </a:cubicBezTo>
                  <a:cubicBezTo>
                    <a:pt x="1315" y="3054"/>
                    <a:pt x="2705" y="1615"/>
                    <a:pt x="4775" y="75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74C088B-94BE-5A65-7839-9FBBE87C7341}"/>
                </a:ext>
              </a:extLst>
            </p:cNvPr>
            <p:cNvSpPr/>
            <p:nvPr/>
          </p:nvSpPr>
          <p:spPr>
            <a:xfrm>
              <a:off x="7714896" y="2913795"/>
              <a:ext cx="84338" cy="57715"/>
            </a:xfrm>
            <a:custGeom>
              <a:avLst/>
              <a:gdLst>
                <a:gd name="connsiteX0" fmla="*/ 57922 w 65071"/>
                <a:gd name="connsiteY0" fmla="*/ 409 h 44530"/>
                <a:gd name="connsiteX1" fmla="*/ 63855 w 65071"/>
                <a:gd name="connsiteY1" fmla="*/ 5198 h 44530"/>
                <a:gd name="connsiteX2" fmla="*/ 59874 w 65071"/>
                <a:gd name="connsiteY2" fmla="*/ 18713 h 44530"/>
                <a:gd name="connsiteX3" fmla="*/ 14732 w 65071"/>
                <a:gd name="connsiteY3" fmla="*/ 43314 h 44530"/>
                <a:gd name="connsiteX4" fmla="*/ 1217 w 65071"/>
                <a:gd name="connsiteY4" fmla="*/ 39333 h 44530"/>
                <a:gd name="connsiteX5" fmla="*/ 5198 w 65071"/>
                <a:gd name="connsiteY5" fmla="*/ 25818 h 44530"/>
                <a:gd name="connsiteX6" fmla="*/ 50340 w 65071"/>
                <a:gd name="connsiteY6" fmla="*/ 1217 h 44530"/>
                <a:gd name="connsiteX7" fmla="*/ 57922 w 65071"/>
                <a:gd name="connsiteY7" fmla="*/ 409 h 4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71" h="44530">
                  <a:moveTo>
                    <a:pt x="57922" y="409"/>
                  </a:moveTo>
                  <a:cubicBezTo>
                    <a:pt x="60367" y="1129"/>
                    <a:pt x="62538" y="2782"/>
                    <a:pt x="63855" y="5198"/>
                  </a:cubicBezTo>
                  <a:cubicBezTo>
                    <a:pt x="66488" y="10029"/>
                    <a:pt x="64705" y="16080"/>
                    <a:pt x="59874" y="18713"/>
                  </a:cubicBezTo>
                  <a:lnTo>
                    <a:pt x="14732" y="43314"/>
                  </a:lnTo>
                  <a:cubicBezTo>
                    <a:pt x="9901" y="45947"/>
                    <a:pt x="3850" y="44164"/>
                    <a:pt x="1217" y="39333"/>
                  </a:cubicBezTo>
                  <a:cubicBezTo>
                    <a:pt x="-1416" y="34502"/>
                    <a:pt x="366" y="28451"/>
                    <a:pt x="5198" y="25818"/>
                  </a:cubicBezTo>
                  <a:lnTo>
                    <a:pt x="50340" y="1217"/>
                  </a:lnTo>
                  <a:cubicBezTo>
                    <a:pt x="52756" y="-99"/>
                    <a:pt x="55476" y="-312"/>
                    <a:pt x="57922" y="40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0139A10D-4C38-4A9B-1588-D57BAE41A794}"/>
                </a:ext>
              </a:extLst>
            </p:cNvPr>
            <p:cNvSpPr/>
            <p:nvPr/>
          </p:nvSpPr>
          <p:spPr>
            <a:xfrm>
              <a:off x="7888095" y="2978586"/>
              <a:ext cx="160562" cy="26960"/>
            </a:xfrm>
            <a:custGeom>
              <a:avLst/>
              <a:gdLst>
                <a:gd name="connsiteX0" fmla="*/ 10401 w 123882"/>
                <a:gd name="connsiteY0" fmla="*/ 0 h 20801"/>
                <a:gd name="connsiteX1" fmla="*/ 113482 w 123882"/>
                <a:gd name="connsiteY1" fmla="*/ 0 h 20801"/>
                <a:gd name="connsiteX2" fmla="*/ 123882 w 123882"/>
                <a:gd name="connsiteY2" fmla="*/ 10400 h 20801"/>
                <a:gd name="connsiteX3" fmla="*/ 113482 w 123882"/>
                <a:gd name="connsiteY3" fmla="*/ 20801 h 20801"/>
                <a:gd name="connsiteX4" fmla="*/ 10401 w 123882"/>
                <a:gd name="connsiteY4" fmla="*/ 20801 h 20801"/>
                <a:gd name="connsiteX5" fmla="*/ 0 w 123882"/>
                <a:gd name="connsiteY5" fmla="*/ 10400 h 20801"/>
                <a:gd name="connsiteX6" fmla="*/ 10401 w 123882"/>
                <a:gd name="connsiteY6" fmla="*/ 0 h 20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82" h="20801">
                  <a:moveTo>
                    <a:pt x="10401" y="0"/>
                  </a:moveTo>
                  <a:lnTo>
                    <a:pt x="113482" y="0"/>
                  </a:lnTo>
                  <a:cubicBezTo>
                    <a:pt x="119226" y="0"/>
                    <a:pt x="123882" y="4656"/>
                    <a:pt x="123882" y="10400"/>
                  </a:cubicBezTo>
                  <a:cubicBezTo>
                    <a:pt x="123882" y="16144"/>
                    <a:pt x="119226" y="20801"/>
                    <a:pt x="113482" y="20801"/>
                  </a:cubicBezTo>
                  <a:lnTo>
                    <a:pt x="10401" y="20801"/>
                  </a:lnTo>
                  <a:cubicBezTo>
                    <a:pt x="4657" y="20801"/>
                    <a:pt x="0" y="16144"/>
                    <a:pt x="0" y="10400"/>
                  </a:cubicBezTo>
                  <a:cubicBezTo>
                    <a:pt x="0" y="4656"/>
                    <a:pt x="4657" y="0"/>
                    <a:pt x="1040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F7B2D2C5-3BE7-D1A4-0D35-D12E767B51F6}"/>
                </a:ext>
              </a:extLst>
            </p:cNvPr>
            <p:cNvSpPr/>
            <p:nvPr/>
          </p:nvSpPr>
          <p:spPr>
            <a:xfrm>
              <a:off x="7897777" y="3026998"/>
              <a:ext cx="139594" cy="39243"/>
            </a:xfrm>
            <a:custGeom>
              <a:avLst/>
              <a:gdLst>
                <a:gd name="connsiteX0" fmla="*/ 10401 w 107704"/>
                <a:gd name="connsiteY0" fmla="*/ 0 h 30278"/>
                <a:gd name="connsiteX1" fmla="*/ 97303 w 107704"/>
                <a:gd name="connsiteY1" fmla="*/ 0 h 30278"/>
                <a:gd name="connsiteX2" fmla="*/ 107704 w 107704"/>
                <a:gd name="connsiteY2" fmla="*/ 10401 h 30278"/>
                <a:gd name="connsiteX3" fmla="*/ 101351 w 107704"/>
                <a:gd name="connsiteY3" fmla="*/ 19984 h 30278"/>
                <a:gd name="connsiteX4" fmla="*/ 99383 w 107704"/>
                <a:gd name="connsiteY4" fmla="*/ 20381 h 30278"/>
                <a:gd name="connsiteX5" fmla="*/ 99383 w 107704"/>
                <a:gd name="connsiteY5" fmla="*/ 22650 h 30278"/>
                <a:gd name="connsiteX6" fmla="*/ 91756 w 107704"/>
                <a:gd name="connsiteY6" fmla="*/ 30278 h 30278"/>
                <a:gd name="connsiteX7" fmla="*/ 16410 w 107704"/>
                <a:gd name="connsiteY7" fmla="*/ 30278 h 30278"/>
                <a:gd name="connsiteX8" fmla="*/ 8783 w 107704"/>
                <a:gd name="connsiteY8" fmla="*/ 22650 h 30278"/>
                <a:gd name="connsiteX9" fmla="*/ 8783 w 107704"/>
                <a:gd name="connsiteY9" fmla="*/ 20475 h 30278"/>
                <a:gd name="connsiteX10" fmla="*/ 6352 w 107704"/>
                <a:gd name="connsiteY10" fmla="*/ 19984 h 30278"/>
                <a:gd name="connsiteX11" fmla="*/ 0 w 107704"/>
                <a:gd name="connsiteY11" fmla="*/ 10401 h 30278"/>
                <a:gd name="connsiteX12" fmla="*/ 10401 w 107704"/>
                <a:gd name="connsiteY12" fmla="*/ 0 h 3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704" h="30278">
                  <a:moveTo>
                    <a:pt x="10401" y="0"/>
                  </a:moveTo>
                  <a:lnTo>
                    <a:pt x="97303" y="0"/>
                  </a:lnTo>
                  <a:cubicBezTo>
                    <a:pt x="103047" y="0"/>
                    <a:pt x="107704" y="4657"/>
                    <a:pt x="107704" y="10401"/>
                  </a:cubicBezTo>
                  <a:cubicBezTo>
                    <a:pt x="107704" y="14709"/>
                    <a:pt x="105084" y="18405"/>
                    <a:pt x="101351" y="19984"/>
                  </a:cubicBezTo>
                  <a:lnTo>
                    <a:pt x="99383" y="20381"/>
                  </a:lnTo>
                  <a:lnTo>
                    <a:pt x="99383" y="22650"/>
                  </a:lnTo>
                  <a:cubicBezTo>
                    <a:pt x="99383" y="26863"/>
                    <a:pt x="95968" y="30278"/>
                    <a:pt x="91756" y="30278"/>
                  </a:cubicBezTo>
                  <a:lnTo>
                    <a:pt x="16410" y="30278"/>
                  </a:lnTo>
                  <a:cubicBezTo>
                    <a:pt x="12198" y="30278"/>
                    <a:pt x="8783" y="26863"/>
                    <a:pt x="8783" y="22650"/>
                  </a:cubicBezTo>
                  <a:lnTo>
                    <a:pt x="8783" y="20475"/>
                  </a:lnTo>
                  <a:lnTo>
                    <a:pt x="6352" y="19984"/>
                  </a:lnTo>
                  <a:cubicBezTo>
                    <a:pt x="2619" y="18405"/>
                    <a:pt x="0" y="14709"/>
                    <a:pt x="0" y="10401"/>
                  </a:cubicBezTo>
                  <a:cubicBezTo>
                    <a:pt x="0" y="4657"/>
                    <a:pt x="4657" y="0"/>
                    <a:pt x="10401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013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0" name="TextBox 129">
            <a:extLst>
              <a:ext uri="{FF2B5EF4-FFF2-40B4-BE49-F238E27FC236}">
                <a16:creationId xmlns:a16="http://schemas.microsoft.com/office/drawing/2014/main" id="{3F7ADB49-4114-9FBE-E678-B63AC3DE6ED2}"/>
              </a:ext>
            </a:extLst>
          </p:cNvPr>
          <p:cNvSpPr txBox="1"/>
          <p:nvPr/>
        </p:nvSpPr>
        <p:spPr>
          <a:xfrm>
            <a:off x="916119" y="3876115"/>
            <a:ext cx="7144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There are </a:t>
            </a:r>
            <a:r>
              <a:rPr lang="en-US" sz="1600" b="1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rPr>
              <a:t>11 final features: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92FB908B-4BC3-1B38-7745-92BF2476503F}"/>
              </a:ext>
            </a:extLst>
          </p:cNvPr>
          <p:cNvSpPr/>
          <p:nvPr/>
        </p:nvSpPr>
        <p:spPr>
          <a:xfrm rot="16200000">
            <a:off x="-52050" y="1586361"/>
            <a:ext cx="489387" cy="210863"/>
          </a:xfrm>
          <a:prstGeom prst="rightArrow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B3C0DB-1E4D-D969-D3D1-5D5B3BF592E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9321" y="1101191"/>
            <a:ext cx="2152768" cy="166626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7E0F5F6-4965-387A-DBF9-1050C8DCCDF9}"/>
              </a:ext>
            </a:extLst>
          </p:cNvPr>
          <p:cNvSpPr/>
          <p:nvPr/>
        </p:nvSpPr>
        <p:spPr>
          <a:xfrm>
            <a:off x="3535847" y="840284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664F63-3B8A-E0D4-5A38-4B648ED1D911}"/>
              </a:ext>
            </a:extLst>
          </p:cNvPr>
          <p:cNvSpPr/>
          <p:nvPr/>
        </p:nvSpPr>
        <p:spPr>
          <a:xfrm>
            <a:off x="5458625" y="850945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6F35DC-18B3-1B8F-A5F5-9A9B94441670}"/>
              </a:ext>
            </a:extLst>
          </p:cNvPr>
          <p:cNvSpPr/>
          <p:nvPr/>
        </p:nvSpPr>
        <p:spPr>
          <a:xfrm>
            <a:off x="7138317" y="843919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7429ED-6A9E-BE3C-C945-401D5881C939}"/>
              </a:ext>
            </a:extLst>
          </p:cNvPr>
          <p:cNvSpPr/>
          <p:nvPr/>
        </p:nvSpPr>
        <p:spPr>
          <a:xfrm>
            <a:off x="1267243" y="4577166"/>
            <a:ext cx="2302050" cy="34532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1 Previous Queue Length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0F02E-07CE-F6E9-060D-6CCC87B27D01}"/>
              </a:ext>
            </a:extLst>
          </p:cNvPr>
          <p:cNvSpPr/>
          <p:nvPr/>
        </p:nvSpPr>
        <p:spPr>
          <a:xfrm>
            <a:off x="1267243" y="4916868"/>
            <a:ext cx="2302050" cy="34532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2 Previous Queue Length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C62559-7D43-9BB7-D71B-38C4BEECE53B}"/>
              </a:ext>
            </a:extLst>
          </p:cNvPr>
          <p:cNvSpPr/>
          <p:nvPr/>
        </p:nvSpPr>
        <p:spPr>
          <a:xfrm>
            <a:off x="1267243" y="5246639"/>
            <a:ext cx="2302050" cy="34532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3 Previous Queue Length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E5D6EB-32B1-E949-977C-0F3EB9FD4AA7}"/>
              </a:ext>
            </a:extLst>
          </p:cNvPr>
          <p:cNvSpPr/>
          <p:nvPr/>
        </p:nvSpPr>
        <p:spPr>
          <a:xfrm>
            <a:off x="3664482" y="4581174"/>
            <a:ext cx="1977119" cy="3453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aleway" pitchFamily="2" charset="77"/>
              </a:rPr>
              <a:t>1 Previous Latency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9DAEAB-8598-0A42-AF16-D69117D8A887}"/>
              </a:ext>
            </a:extLst>
          </p:cNvPr>
          <p:cNvSpPr/>
          <p:nvPr/>
        </p:nvSpPr>
        <p:spPr>
          <a:xfrm>
            <a:off x="3664482" y="4920876"/>
            <a:ext cx="1977119" cy="3453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aleway" pitchFamily="2" charset="77"/>
              </a:rPr>
              <a:t>2 Previous Latency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9A5B82-0080-1C6B-9FDE-E49BCDE1387D}"/>
              </a:ext>
            </a:extLst>
          </p:cNvPr>
          <p:cNvSpPr/>
          <p:nvPr/>
        </p:nvSpPr>
        <p:spPr>
          <a:xfrm>
            <a:off x="3664482" y="5250647"/>
            <a:ext cx="1977119" cy="3453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aleway" pitchFamily="2" charset="77"/>
              </a:rPr>
              <a:t>3 Previous Latency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A14F59-DFF7-5990-F81E-8159E42E169F}"/>
              </a:ext>
            </a:extLst>
          </p:cNvPr>
          <p:cNvSpPr/>
          <p:nvPr/>
        </p:nvSpPr>
        <p:spPr>
          <a:xfrm>
            <a:off x="5736790" y="4571500"/>
            <a:ext cx="2136618" cy="345325"/>
          </a:xfrm>
          <a:prstGeom prst="rect">
            <a:avLst/>
          </a:prstGeom>
          <a:solidFill>
            <a:srgbClr val="FFD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1 Previous Throughput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158671-FAC1-EFEB-DCD8-E5AF9B17D227}"/>
              </a:ext>
            </a:extLst>
          </p:cNvPr>
          <p:cNvSpPr/>
          <p:nvPr/>
        </p:nvSpPr>
        <p:spPr>
          <a:xfrm>
            <a:off x="5736790" y="4911202"/>
            <a:ext cx="2136618" cy="345325"/>
          </a:xfrm>
          <a:prstGeom prst="rect">
            <a:avLst/>
          </a:prstGeom>
          <a:solidFill>
            <a:srgbClr val="FFD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2 Previous Throughput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2455FD-6554-BCAE-080B-6A378A41E3BB}"/>
              </a:ext>
            </a:extLst>
          </p:cNvPr>
          <p:cNvSpPr/>
          <p:nvPr/>
        </p:nvSpPr>
        <p:spPr>
          <a:xfrm>
            <a:off x="5736790" y="5240973"/>
            <a:ext cx="2136618" cy="345325"/>
          </a:xfrm>
          <a:prstGeom prst="rect">
            <a:avLst/>
          </a:prstGeom>
          <a:solidFill>
            <a:srgbClr val="FFD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3 Previous Throughput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265304-92A0-AF83-BB02-D0436E3E3ECD}"/>
              </a:ext>
            </a:extLst>
          </p:cNvPr>
          <p:cNvSpPr/>
          <p:nvPr/>
        </p:nvSpPr>
        <p:spPr>
          <a:xfrm>
            <a:off x="2186471" y="4213561"/>
            <a:ext cx="2302050" cy="345325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Raleway" pitchFamily="2" charset="77"/>
              </a:rPr>
              <a:t>Current I/O Size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AA95A2A-8E76-9505-446C-32576AD31ACE}"/>
              </a:ext>
            </a:extLst>
          </p:cNvPr>
          <p:cNvSpPr/>
          <p:nvPr/>
        </p:nvSpPr>
        <p:spPr>
          <a:xfrm>
            <a:off x="4653041" y="4213561"/>
            <a:ext cx="2302050" cy="345325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aleway" pitchFamily="2" charset="77"/>
              </a:rPr>
              <a:t>Current Queue Length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54845F-57C1-8F9C-31EE-FF819F7FB6F0}"/>
              </a:ext>
            </a:extLst>
          </p:cNvPr>
          <p:cNvCxnSpPr>
            <a:cxnSpLocks/>
          </p:cNvCxnSpPr>
          <p:nvPr/>
        </p:nvCxnSpPr>
        <p:spPr>
          <a:xfrm flipH="1">
            <a:off x="209841" y="3865711"/>
            <a:ext cx="8557360" cy="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3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4686-9827-6A48-A276-EF3BF3B3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D6BF83-B2AD-85D2-5371-D8732960F90E}"/>
              </a:ext>
            </a:extLst>
          </p:cNvPr>
          <p:cNvGrpSpPr/>
          <p:nvPr/>
        </p:nvGrpSpPr>
        <p:grpSpPr>
          <a:xfrm>
            <a:off x="241530" y="1242979"/>
            <a:ext cx="1872641" cy="1887328"/>
            <a:chOff x="159469" y="1665007"/>
            <a:chExt cx="1872641" cy="1887328"/>
          </a:xfrm>
        </p:grpSpPr>
        <p:sp>
          <p:nvSpPr>
            <p:cNvPr id="100" name="Rounded Rectangular Callout 99">
              <a:extLst>
                <a:ext uri="{FF2B5EF4-FFF2-40B4-BE49-F238E27FC236}">
                  <a16:creationId xmlns:a16="http://schemas.microsoft.com/office/drawing/2014/main" id="{812780B9-2930-141B-98F8-8A2DB913C79F}"/>
                </a:ext>
              </a:extLst>
            </p:cNvPr>
            <p:cNvSpPr/>
            <p:nvPr/>
          </p:nvSpPr>
          <p:spPr>
            <a:xfrm>
              <a:off x="159469" y="3048402"/>
              <a:ext cx="1872641" cy="503933"/>
            </a:xfrm>
            <a:prstGeom prst="wedgeRoundRectCallout">
              <a:avLst>
                <a:gd name="adj1" fmla="val -22628"/>
                <a:gd name="adj2" fmla="val -6580"/>
                <a:gd name="adj3" fmla="val 16667"/>
              </a:avLst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Two</a:t>
              </a:r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hidden layers </a:t>
              </a:r>
              <a:r>
                <a:rPr lang="en-US" sz="14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: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3B4C52-70B0-E57F-B111-9BEBA14425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167" y="1665007"/>
              <a:ext cx="1389423" cy="1412775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3EDC877-531E-4A97-AEE8-583C100D1126}"/>
              </a:ext>
            </a:extLst>
          </p:cNvPr>
          <p:cNvGrpSpPr/>
          <p:nvPr/>
        </p:nvGrpSpPr>
        <p:grpSpPr>
          <a:xfrm>
            <a:off x="1831132" y="1242979"/>
            <a:ext cx="2671067" cy="1885916"/>
            <a:chOff x="1749071" y="1665007"/>
            <a:chExt cx="2671067" cy="1885916"/>
          </a:xfrm>
        </p:grpSpPr>
        <p:sp>
          <p:nvSpPr>
            <p:cNvPr id="11" name="Right Arrow 10">
              <a:extLst>
                <a:ext uri="{FF2B5EF4-FFF2-40B4-BE49-F238E27FC236}">
                  <a16:creationId xmlns:a16="http://schemas.microsoft.com/office/drawing/2014/main" id="{EEC08602-27FA-F0D1-1419-C690DE31DA84}"/>
                </a:ext>
              </a:extLst>
            </p:cNvPr>
            <p:cNvSpPr/>
            <p:nvPr/>
          </p:nvSpPr>
          <p:spPr>
            <a:xfrm>
              <a:off x="1749071" y="2194663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2AD06E-4CC9-49D9-89F1-8F9CD8B8C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65313" y="1665007"/>
              <a:ext cx="1668839" cy="1412774"/>
            </a:xfrm>
            <a:prstGeom prst="rect">
              <a:avLst/>
            </a:prstGeom>
          </p:spPr>
        </p:pic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D7B0A0BB-AB43-57A1-E1D4-A50E2ED7273C}"/>
                </a:ext>
              </a:extLst>
            </p:cNvPr>
            <p:cNvSpPr/>
            <p:nvPr/>
          </p:nvSpPr>
          <p:spPr>
            <a:xfrm>
              <a:off x="3934311" y="2194662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ular Callout 22">
              <a:extLst>
                <a:ext uri="{FF2B5EF4-FFF2-40B4-BE49-F238E27FC236}">
                  <a16:creationId xmlns:a16="http://schemas.microsoft.com/office/drawing/2014/main" id="{98DC481A-AFBB-F26A-E8A5-3613B009DED6}"/>
                </a:ext>
              </a:extLst>
            </p:cNvPr>
            <p:cNvSpPr/>
            <p:nvPr/>
          </p:nvSpPr>
          <p:spPr>
            <a:xfrm>
              <a:off x="2026504" y="3046990"/>
              <a:ext cx="2393634" cy="503933"/>
            </a:xfrm>
            <a:prstGeom prst="wedgeRoundRectCallout">
              <a:avLst>
                <a:gd name="adj1" fmla="val -22628"/>
                <a:gd name="adj2" fmla="val -6580"/>
                <a:gd name="adj3" fmla="val 16667"/>
              </a:avLst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128 and 16</a:t>
              </a:r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neurons     </a:t>
              </a:r>
              <a:r>
                <a:rPr lang="en-US" sz="1400" i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with</a:t>
              </a:r>
              <a:endPara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</p:txBody>
        </p:sp>
      </p:grp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C758189E-7A49-3E11-9F4D-101BBA736820}"/>
              </a:ext>
            </a:extLst>
          </p:cNvPr>
          <p:cNvSpPr/>
          <p:nvPr/>
        </p:nvSpPr>
        <p:spPr>
          <a:xfrm>
            <a:off x="4416972" y="2631887"/>
            <a:ext cx="2473300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rPr>
              <a:t>ReLU</a:t>
            </a:r>
            <a:r>
              <a:rPr lang="en-US" sz="1400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activation functions. 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8271419C-5F14-0350-8DBF-D866AB65220C}"/>
              </a:ext>
            </a:extLst>
          </p:cNvPr>
          <p:cNvSpPr/>
          <p:nvPr/>
        </p:nvSpPr>
        <p:spPr>
          <a:xfrm rot="16200000">
            <a:off x="35740" y="1735255"/>
            <a:ext cx="489387" cy="210863"/>
          </a:xfrm>
          <a:prstGeom prst="rightArrow">
            <a:avLst/>
          </a:prstGeom>
          <a:gradFill flip="none" rotWithShape="1">
            <a:gsLst>
              <a:gs pos="9000">
                <a:srgbClr val="FF0000"/>
              </a:gs>
              <a:gs pos="47000">
                <a:srgbClr val="FFC000"/>
              </a:gs>
              <a:gs pos="99000">
                <a:srgbClr val="02FE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01485B9-5051-0F90-EEB8-692766B6A8CE}"/>
              </a:ext>
            </a:extLst>
          </p:cNvPr>
          <p:cNvGrpSpPr/>
          <p:nvPr/>
        </p:nvGrpSpPr>
        <p:grpSpPr>
          <a:xfrm>
            <a:off x="6757783" y="1242979"/>
            <a:ext cx="2364504" cy="1885915"/>
            <a:chOff x="6675722" y="1665007"/>
            <a:chExt cx="2364504" cy="1885915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C11498CD-CDF7-4A5D-AB30-DB0C3125D7C5}"/>
                </a:ext>
              </a:extLst>
            </p:cNvPr>
            <p:cNvSpPr/>
            <p:nvPr/>
          </p:nvSpPr>
          <p:spPr>
            <a:xfrm>
              <a:off x="6675722" y="2194662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solidFill>
              <a:schemeClr val="tx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ular Callout 24">
              <a:extLst>
                <a:ext uri="{FF2B5EF4-FFF2-40B4-BE49-F238E27FC236}">
                  <a16:creationId xmlns:a16="http://schemas.microsoft.com/office/drawing/2014/main" id="{E3D4D84F-18BC-5A04-B2D1-F4B8A1B8AA35}"/>
                </a:ext>
              </a:extLst>
            </p:cNvPr>
            <p:cNvSpPr/>
            <p:nvPr/>
          </p:nvSpPr>
          <p:spPr>
            <a:xfrm>
              <a:off x="6684615" y="3046989"/>
              <a:ext cx="2355611" cy="503933"/>
            </a:xfrm>
            <a:prstGeom prst="wedgeRoundRectCallout">
              <a:avLst>
                <a:gd name="adj1" fmla="val -22628"/>
                <a:gd name="adj2" fmla="val -6580"/>
                <a:gd name="adj3" fmla="val 16667"/>
              </a:avLst>
            </a:prstGeom>
            <a:noFill/>
            <a:ln w="2857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Output:</a:t>
              </a:r>
              <a:r>
                <a:rPr lang="en-US" sz="1400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 Sigmoid </a:t>
              </a:r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neuron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508253C-C402-D36F-2A8D-F0C7F64B8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60"/>
            <a:stretch/>
          </p:blipFill>
          <p:spPr>
            <a:xfrm>
              <a:off x="7170302" y="1665007"/>
              <a:ext cx="1141816" cy="1366201"/>
            </a:xfrm>
            <a:prstGeom prst="rect">
              <a:avLst/>
            </a:prstGeom>
          </p:spPr>
        </p:pic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FF80423C-7599-C998-537E-DD05D3904F19}"/>
              </a:ext>
            </a:extLst>
          </p:cNvPr>
          <p:cNvSpPr/>
          <p:nvPr/>
        </p:nvSpPr>
        <p:spPr>
          <a:xfrm>
            <a:off x="7634575" y="1265724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9EBED-5CB2-DF76-21A8-711243AC5E83}"/>
              </a:ext>
            </a:extLst>
          </p:cNvPr>
          <p:cNvSpPr txBox="1"/>
          <p:nvPr/>
        </p:nvSpPr>
        <p:spPr>
          <a:xfrm>
            <a:off x="152633" y="389435"/>
            <a:ext cx="5833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Holistic Pipeline Exploration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7C2ABB-598D-C875-687A-5A3996F149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711" y="1305471"/>
            <a:ext cx="2210564" cy="13022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5CC286-29A4-CECA-262E-DD3758ED19CA}"/>
              </a:ext>
            </a:extLst>
          </p:cNvPr>
          <p:cNvSpPr/>
          <p:nvPr/>
        </p:nvSpPr>
        <p:spPr>
          <a:xfrm>
            <a:off x="4382515" y="1303132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12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213B-D910-61E5-4BCA-32977CD0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B71C6-C8BA-EDD7-A6D6-EE9C7932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0" name="Rounded Rectangular Callout 99">
            <a:extLst>
              <a:ext uri="{FF2B5EF4-FFF2-40B4-BE49-F238E27FC236}">
                <a16:creationId xmlns:a16="http://schemas.microsoft.com/office/drawing/2014/main" id="{6BD4DD0B-21A7-197D-81A2-39CD49B6A29B}"/>
              </a:ext>
            </a:extLst>
          </p:cNvPr>
          <p:cNvSpPr/>
          <p:nvPr/>
        </p:nvSpPr>
        <p:spPr>
          <a:xfrm>
            <a:off x="241530" y="2626374"/>
            <a:ext cx="1872641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Two hidden layers </a:t>
            </a:r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5D7FD4-D240-5C90-B1B0-B7A7C7A767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1228" y="1242979"/>
            <a:ext cx="1389423" cy="1412775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8F550101-88C2-FC76-32DD-57ACC449591C}"/>
              </a:ext>
            </a:extLst>
          </p:cNvPr>
          <p:cNvSpPr/>
          <p:nvPr/>
        </p:nvSpPr>
        <p:spPr>
          <a:xfrm>
            <a:off x="1831132" y="1772635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765C3D-10E9-B706-D0CB-D2E55E307F0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47374" y="1242979"/>
            <a:ext cx="1668839" cy="1412774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6B0DC39D-651F-BF36-D7B7-6C3B7311440C}"/>
              </a:ext>
            </a:extLst>
          </p:cNvPr>
          <p:cNvSpPr/>
          <p:nvPr/>
        </p:nvSpPr>
        <p:spPr>
          <a:xfrm>
            <a:off x="4016372" y="1772634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036A2A3A-8353-99C8-9F54-876AD539A40F}"/>
              </a:ext>
            </a:extLst>
          </p:cNvPr>
          <p:cNvSpPr/>
          <p:nvPr/>
        </p:nvSpPr>
        <p:spPr>
          <a:xfrm>
            <a:off x="2108565" y="2624962"/>
            <a:ext cx="2393634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128 and 16 neurons     </a:t>
            </a:r>
            <a:r>
              <a:rPr lang="en-US" sz="1400" i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with</a:t>
            </a:r>
            <a:endParaRPr lang="en-US" sz="1400" dirty="0">
              <a:solidFill>
                <a:schemeClr val="bg2">
                  <a:lumMod val="25000"/>
                  <a:lumOff val="75000"/>
                </a:schemeClr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4E93B5BF-050D-ABF5-8D29-860BE1B3A25C}"/>
              </a:ext>
            </a:extLst>
          </p:cNvPr>
          <p:cNvSpPr/>
          <p:nvPr/>
        </p:nvSpPr>
        <p:spPr>
          <a:xfrm>
            <a:off x="4416972" y="2631887"/>
            <a:ext cx="2473300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ReLU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 activation functions. 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0461D960-DCE0-A946-8D9D-8B8B96C2E15A}"/>
              </a:ext>
            </a:extLst>
          </p:cNvPr>
          <p:cNvSpPr/>
          <p:nvPr/>
        </p:nvSpPr>
        <p:spPr>
          <a:xfrm rot="16200000">
            <a:off x="35740" y="1735255"/>
            <a:ext cx="489387" cy="210863"/>
          </a:xfrm>
          <a:prstGeom prst="rightArrow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30D3CF7-C7A2-6EDA-B9F4-9332AD70FD65}"/>
              </a:ext>
            </a:extLst>
          </p:cNvPr>
          <p:cNvSpPr/>
          <p:nvPr/>
        </p:nvSpPr>
        <p:spPr>
          <a:xfrm>
            <a:off x="6757783" y="1772634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C5742A93-DF6A-A84C-152D-025E7FDB0355}"/>
              </a:ext>
            </a:extLst>
          </p:cNvPr>
          <p:cNvSpPr/>
          <p:nvPr/>
        </p:nvSpPr>
        <p:spPr>
          <a:xfrm>
            <a:off x="6766676" y="2624961"/>
            <a:ext cx="2355611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Output: Sigmoid neuron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0D2AD27-B2CA-57D7-3ABF-53465CC0042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660"/>
          <a:stretch/>
        </p:blipFill>
        <p:spPr>
          <a:xfrm>
            <a:off x="7252363" y="1242979"/>
            <a:ext cx="1141816" cy="136620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0779E3A-1742-AF85-32B7-50DCA382343E}"/>
              </a:ext>
            </a:extLst>
          </p:cNvPr>
          <p:cNvSpPr/>
          <p:nvPr/>
        </p:nvSpPr>
        <p:spPr>
          <a:xfrm>
            <a:off x="7634575" y="1265724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2C3152A-54C2-BA31-CB38-146FB35FAB20}"/>
              </a:ext>
            </a:extLst>
          </p:cNvPr>
          <p:cNvSpPr txBox="1"/>
          <p:nvPr/>
        </p:nvSpPr>
        <p:spPr>
          <a:xfrm>
            <a:off x="2557190" y="4398505"/>
            <a:ext cx="1396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Input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Features</a:t>
            </a:r>
            <a:endParaRPr lang="en-US" sz="1600" dirty="0">
              <a:solidFill>
                <a:schemeClr val="bg1"/>
              </a:solidFill>
              <a:latin typeface="Raleway" pitchFamily="2" charset="77"/>
              <a:ea typeface="Gill Sans" charset="0"/>
              <a:cs typeface="Arial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83DD7B6-4B2F-995E-0DDC-9096B2F86C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265" y="3755999"/>
            <a:ext cx="1289648" cy="1631924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4319B194-3D10-9EF6-A8DA-F9CB1DC770E8}"/>
              </a:ext>
            </a:extLst>
          </p:cNvPr>
          <p:cNvSpPr/>
          <p:nvPr/>
        </p:nvSpPr>
        <p:spPr>
          <a:xfrm>
            <a:off x="3781128" y="4583059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7A6EB3-C006-0E3F-C116-AC3B85663BAA}"/>
              </a:ext>
            </a:extLst>
          </p:cNvPr>
          <p:cNvSpPr txBox="1"/>
          <p:nvPr/>
        </p:nvSpPr>
        <p:spPr>
          <a:xfrm>
            <a:off x="5875828" y="4398504"/>
            <a:ext cx="2107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0 = Accept</a:t>
            </a:r>
          </a:p>
          <a:p>
            <a:r>
              <a:rPr lang="en-US" sz="16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1  = Reject (re-route)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6BF0ACD7-FEB4-4B50-AFFA-70B44C372DD5}"/>
              </a:ext>
            </a:extLst>
          </p:cNvPr>
          <p:cNvSpPr/>
          <p:nvPr/>
        </p:nvSpPr>
        <p:spPr>
          <a:xfrm>
            <a:off x="5547239" y="4584684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967C1ED-AD11-9510-DCB9-25C3DE96DADF}"/>
              </a:ext>
            </a:extLst>
          </p:cNvPr>
          <p:cNvSpPr/>
          <p:nvPr/>
        </p:nvSpPr>
        <p:spPr>
          <a:xfrm>
            <a:off x="2303708" y="4583058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63E1ECE-B57E-1639-76F3-BB8D11A6130C}"/>
              </a:ext>
            </a:extLst>
          </p:cNvPr>
          <p:cNvGrpSpPr/>
          <p:nvPr/>
        </p:nvGrpSpPr>
        <p:grpSpPr>
          <a:xfrm>
            <a:off x="1361772" y="4371097"/>
            <a:ext cx="639588" cy="639588"/>
            <a:chOff x="1361772" y="4371097"/>
            <a:chExt cx="639588" cy="639588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7449CA2-5DE2-B095-667F-797728966A73}"/>
                </a:ext>
              </a:extLst>
            </p:cNvPr>
            <p:cNvSpPr/>
            <p:nvPr/>
          </p:nvSpPr>
          <p:spPr>
            <a:xfrm>
              <a:off x="1361772" y="4371097"/>
              <a:ext cx="639588" cy="63958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8C207F3-1CF0-9266-D84C-5337A13FC835}"/>
                </a:ext>
              </a:extLst>
            </p:cNvPr>
            <p:cNvSpPr txBox="1"/>
            <p:nvPr/>
          </p:nvSpPr>
          <p:spPr>
            <a:xfrm>
              <a:off x="1410498" y="4521614"/>
              <a:ext cx="5421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Raleway" pitchFamily="2" charset="77"/>
                </a:rPr>
                <a:t>I/O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C1EC333-4FB6-A7E8-C966-FF4E49D37A06}"/>
              </a:ext>
            </a:extLst>
          </p:cNvPr>
          <p:cNvSpPr txBox="1"/>
          <p:nvPr/>
        </p:nvSpPr>
        <p:spPr>
          <a:xfrm>
            <a:off x="152633" y="389435"/>
            <a:ext cx="5833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Holistic Pipeline Exploration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AC03774-EFA4-555F-E11F-600B941E191E}"/>
              </a:ext>
            </a:extLst>
          </p:cNvPr>
          <p:cNvCxnSpPr>
            <a:cxnSpLocks/>
          </p:cNvCxnSpPr>
          <p:nvPr/>
        </p:nvCxnSpPr>
        <p:spPr>
          <a:xfrm flipH="1">
            <a:off x="268456" y="3420237"/>
            <a:ext cx="8557360" cy="0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54A919F-B231-83E6-EE85-098FF41FDC5B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60711" y="1305471"/>
            <a:ext cx="2210564" cy="13022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6E7EE2-2B0F-0B29-4E6A-CC00B8468C29}"/>
              </a:ext>
            </a:extLst>
          </p:cNvPr>
          <p:cNvSpPr/>
          <p:nvPr/>
        </p:nvSpPr>
        <p:spPr>
          <a:xfrm>
            <a:off x="4382515" y="1303132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42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18" grpId="0" animBg="1"/>
      <p:bldP spid="19" grpId="0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84686-9827-6A48-A276-EF3BF3B3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FEA69-7D09-7E43-AD4D-13B29FE1CCFC}"/>
              </a:ext>
            </a:extLst>
          </p:cNvPr>
          <p:cNvSpPr txBox="1"/>
          <p:nvPr/>
        </p:nvSpPr>
        <p:spPr>
          <a:xfrm>
            <a:off x="152633" y="389435"/>
            <a:ext cx="3895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Joint Inference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pic>
        <p:nvPicPr>
          <p:cNvPr id="1026" name="Picture 2" descr="Empty road intersection icon cartoon style Vector Image">
            <a:extLst>
              <a:ext uri="{FF2B5EF4-FFF2-40B4-BE49-F238E27FC236}">
                <a16:creationId xmlns:a16="http://schemas.microsoft.com/office/drawing/2014/main" id="{00FDAC76-4A10-1C35-B1DA-04DDF9B3C5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462" t="8713" r="8919" b="15563"/>
          <a:stretch/>
        </p:blipFill>
        <p:spPr bwMode="auto">
          <a:xfrm>
            <a:off x="424589" y="1622141"/>
            <a:ext cx="3387530" cy="3394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DB1348A9-C3AF-0F4E-205A-6E15DB918776}"/>
              </a:ext>
            </a:extLst>
          </p:cNvPr>
          <p:cNvGrpSpPr/>
          <p:nvPr/>
        </p:nvGrpSpPr>
        <p:grpSpPr>
          <a:xfrm>
            <a:off x="2148318" y="3258498"/>
            <a:ext cx="223858" cy="1571936"/>
            <a:chOff x="2304494" y="3132498"/>
            <a:chExt cx="223858" cy="1571936"/>
          </a:xfrm>
        </p:grpSpPr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CAA74F04-C7B4-4D3F-0DAD-9EFA4F9C4159}"/>
                </a:ext>
              </a:extLst>
            </p:cNvPr>
            <p:cNvSpPr/>
            <p:nvPr/>
          </p:nvSpPr>
          <p:spPr>
            <a:xfrm rot="16200000">
              <a:off x="2234781" y="4410863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37C7F3D6-FE2C-7C97-30E7-B7440BBA0BD4}"/>
                </a:ext>
              </a:extLst>
            </p:cNvPr>
            <p:cNvSpPr/>
            <p:nvPr/>
          </p:nvSpPr>
          <p:spPr>
            <a:xfrm rot="16200000">
              <a:off x="2234782" y="4023676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E1F57B9A-E8A7-326F-983D-75928DFD1B81}"/>
                </a:ext>
              </a:extLst>
            </p:cNvPr>
            <p:cNvSpPr/>
            <p:nvPr/>
          </p:nvSpPr>
          <p:spPr>
            <a:xfrm rot="16200000">
              <a:off x="2232305" y="3204687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solidFill>
              <a:srgbClr val="99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</p:grpSp>
      <p:sp>
        <p:nvSpPr>
          <p:cNvPr id="53" name="Right Arrow 52">
            <a:extLst>
              <a:ext uri="{FF2B5EF4-FFF2-40B4-BE49-F238E27FC236}">
                <a16:creationId xmlns:a16="http://schemas.microsoft.com/office/drawing/2014/main" id="{333F164A-EBC5-5AC1-11AC-6926034A7494}"/>
              </a:ext>
            </a:extLst>
          </p:cNvPr>
          <p:cNvSpPr/>
          <p:nvPr/>
        </p:nvSpPr>
        <p:spPr>
          <a:xfrm rot="5400000">
            <a:off x="1754638" y="1869144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aleway" pitchFamily="2" charset="77"/>
            </a:endParaRPr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8B801C30-5C92-F978-59A6-BEF4FAA080D1}"/>
              </a:ext>
            </a:extLst>
          </p:cNvPr>
          <p:cNvSpPr/>
          <p:nvPr/>
        </p:nvSpPr>
        <p:spPr>
          <a:xfrm rot="5400000">
            <a:off x="1754637" y="2256331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aleway" pitchFamily="2" charset="77"/>
            </a:endParaRPr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DDEBF0DC-6FA9-2D05-BF8C-35E9479867C2}"/>
              </a:ext>
            </a:extLst>
          </p:cNvPr>
          <p:cNvSpPr/>
          <p:nvPr/>
        </p:nvSpPr>
        <p:spPr>
          <a:xfrm rot="5400000">
            <a:off x="1757114" y="3066267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rgbClr val="99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aleway" pitchFamily="2" charset="77"/>
            </a:endParaRPr>
          </a:p>
        </p:txBody>
      </p:sp>
      <p:sp>
        <p:nvSpPr>
          <p:cNvPr id="1033" name="Sun 1032">
            <a:extLst>
              <a:ext uri="{FF2B5EF4-FFF2-40B4-BE49-F238E27FC236}">
                <a16:creationId xmlns:a16="http://schemas.microsoft.com/office/drawing/2014/main" id="{677DC56C-F209-1A49-B344-073B08CCC768}"/>
              </a:ext>
            </a:extLst>
          </p:cNvPr>
          <p:cNvSpPr/>
          <p:nvPr/>
        </p:nvSpPr>
        <p:spPr>
          <a:xfrm rot="16200000">
            <a:off x="1316805" y="3298446"/>
            <a:ext cx="305280" cy="305280"/>
          </a:xfrm>
          <a:prstGeom prst="sun">
            <a:avLst>
              <a:gd name="adj" fmla="val 30931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sp>
        <p:nvSpPr>
          <p:cNvPr id="1035" name="Sun 1034">
            <a:extLst>
              <a:ext uri="{FF2B5EF4-FFF2-40B4-BE49-F238E27FC236}">
                <a16:creationId xmlns:a16="http://schemas.microsoft.com/office/drawing/2014/main" id="{DC1E2A5B-78D0-142B-E1A6-A5A6C1C28C2D}"/>
              </a:ext>
            </a:extLst>
          </p:cNvPr>
          <p:cNvSpPr/>
          <p:nvPr/>
        </p:nvSpPr>
        <p:spPr>
          <a:xfrm rot="16200000">
            <a:off x="2612265" y="2995886"/>
            <a:ext cx="305280" cy="305280"/>
          </a:xfrm>
          <a:prstGeom prst="sun">
            <a:avLst>
              <a:gd name="adj" fmla="val 30931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sp>
        <p:nvSpPr>
          <p:cNvPr id="1039" name="Sun 1038">
            <a:extLst>
              <a:ext uri="{FF2B5EF4-FFF2-40B4-BE49-F238E27FC236}">
                <a16:creationId xmlns:a16="http://schemas.microsoft.com/office/drawing/2014/main" id="{A8460543-264A-E58D-3D51-810522001E8D}"/>
              </a:ext>
            </a:extLst>
          </p:cNvPr>
          <p:cNvSpPr/>
          <p:nvPr/>
        </p:nvSpPr>
        <p:spPr>
          <a:xfrm>
            <a:off x="2066925" y="3763188"/>
            <a:ext cx="365761" cy="365761"/>
          </a:xfrm>
          <a:prstGeom prst="sun">
            <a:avLst>
              <a:gd name="adj" fmla="val 30931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pic>
        <p:nvPicPr>
          <p:cNvPr id="1044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473289F0-01BB-F5F0-7598-2330FCF97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flipV="1">
            <a:off x="1592162" y="3346635"/>
            <a:ext cx="185654" cy="31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BADDD08E-6115-B651-CB6A-211CD539B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flipV="1">
            <a:off x="2432686" y="2961492"/>
            <a:ext cx="185654" cy="31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08DED7B4-0F87-9F99-543A-7F463819D6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rot="16200000" flipV="1">
            <a:off x="1852259" y="2739601"/>
            <a:ext cx="185654" cy="31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9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11A6FEE4-17C2-CD2C-13E5-CFFD8942B9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rot="16200000" flipV="1">
            <a:off x="2215394" y="3563718"/>
            <a:ext cx="185654" cy="31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Sun 1049">
            <a:extLst>
              <a:ext uri="{FF2B5EF4-FFF2-40B4-BE49-F238E27FC236}">
                <a16:creationId xmlns:a16="http://schemas.microsoft.com/office/drawing/2014/main" id="{32967B94-F340-67DC-EDB0-CA5F108C810A}"/>
              </a:ext>
            </a:extLst>
          </p:cNvPr>
          <p:cNvSpPr/>
          <p:nvPr/>
        </p:nvSpPr>
        <p:spPr>
          <a:xfrm>
            <a:off x="1744533" y="2505780"/>
            <a:ext cx="365761" cy="365761"/>
          </a:xfrm>
          <a:prstGeom prst="sun">
            <a:avLst>
              <a:gd name="adj" fmla="val 30931"/>
            </a:avLst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sp>
        <p:nvSpPr>
          <p:cNvPr id="1051" name="Rounded Rectangular Callout 1050">
            <a:extLst>
              <a:ext uri="{FF2B5EF4-FFF2-40B4-BE49-F238E27FC236}">
                <a16:creationId xmlns:a16="http://schemas.microsoft.com/office/drawing/2014/main" id="{87CB51F6-BB8C-0F0C-E856-ABD7875793AA}"/>
              </a:ext>
            </a:extLst>
          </p:cNvPr>
          <p:cNvSpPr/>
          <p:nvPr/>
        </p:nvSpPr>
        <p:spPr>
          <a:xfrm>
            <a:off x="2225928" y="1837067"/>
            <a:ext cx="1224517" cy="563340"/>
          </a:xfrm>
          <a:prstGeom prst="wedgeRoundRectCallout">
            <a:avLst>
              <a:gd name="adj1" fmla="val -62515"/>
              <a:gd name="adj2" fmla="val 36433"/>
              <a:gd name="adj3" fmla="val 16667"/>
            </a:avLst>
          </a:prstGeom>
          <a:solidFill>
            <a:schemeClr val="tx1"/>
          </a:solidFill>
          <a:ln w="2857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Go at </a:t>
            </a:r>
            <a:r>
              <a:rPr lang="en-US" sz="1400" b="1" dirty="0">
                <a:solidFill>
                  <a:srgbClr val="00B050"/>
                </a:solidFill>
                <a:latin typeface="Raleway" pitchFamily="2" charset="77"/>
                <a:ea typeface="Gill Sans" charset="0"/>
                <a:cs typeface="Gill Sans" charset="0"/>
              </a:rPr>
              <a:t>green</a:t>
            </a:r>
            <a:r>
              <a:rPr lang="en-US" sz="14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 light</a:t>
            </a:r>
          </a:p>
        </p:txBody>
      </p:sp>
      <p:pic>
        <p:nvPicPr>
          <p:cNvPr id="1063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017ECA21-6F6B-50D7-3D1C-A79840DC2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2944443" y="3045448"/>
            <a:ext cx="388204" cy="20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1D5CB2A3-BE10-9533-F974-1C1381DF70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3354477" y="3045448"/>
            <a:ext cx="388204" cy="20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CDEAD56D-3D07-457C-B6A5-3DFE3F3DB4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528337" y="3396672"/>
            <a:ext cx="388204" cy="20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11C968C0-DEE7-4F8D-079D-859B4DC3F8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938371" y="3396672"/>
            <a:ext cx="388204" cy="20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Rounded Rectangular Callout 1070">
            <a:extLst>
              <a:ext uri="{FF2B5EF4-FFF2-40B4-BE49-F238E27FC236}">
                <a16:creationId xmlns:a16="http://schemas.microsoft.com/office/drawing/2014/main" id="{9A39C74D-49AE-F653-778F-483F0AADAD70}"/>
              </a:ext>
            </a:extLst>
          </p:cNvPr>
          <p:cNvSpPr/>
          <p:nvPr/>
        </p:nvSpPr>
        <p:spPr>
          <a:xfrm>
            <a:off x="902107" y="5021564"/>
            <a:ext cx="2405766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rgbClr val="0299FF"/>
                </a:solidFill>
                <a:latin typeface="Raleway" pitchFamily="2" charset="77"/>
                <a:ea typeface="Gill Sans" charset="0"/>
                <a:cs typeface="Gill Sans" charset="0"/>
              </a:rPr>
              <a:t>“Traffic-light” </a:t>
            </a:r>
            <a:r>
              <a:rPr lang="en-US" sz="1400" i="1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rPr>
              <a:t>admission</a:t>
            </a:r>
            <a:endParaRPr lang="en-US" sz="1400" b="1" i="1" dirty="0">
              <a:solidFill>
                <a:schemeClr val="bg1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160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82FA1-0CE4-9DA3-CE2E-319477CF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0302A1-E4F4-9CE5-79EC-13E40BD4B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476" y="2967883"/>
            <a:ext cx="2640631" cy="15361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9130C3-F809-F819-0073-37889BA5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8BDB13-ED34-FC58-9628-DE6EF819CA75}"/>
              </a:ext>
            </a:extLst>
          </p:cNvPr>
          <p:cNvSpPr txBox="1"/>
          <p:nvPr/>
        </p:nvSpPr>
        <p:spPr>
          <a:xfrm>
            <a:off x="152633" y="389435"/>
            <a:ext cx="3895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Joint Inference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pic>
        <p:nvPicPr>
          <p:cNvPr id="1026" name="Picture 2" descr="Empty road intersection icon cartoon style Vector Image">
            <a:extLst>
              <a:ext uri="{FF2B5EF4-FFF2-40B4-BE49-F238E27FC236}">
                <a16:creationId xmlns:a16="http://schemas.microsoft.com/office/drawing/2014/main" id="{E4D72FEA-D8EB-2246-CF6A-EBFD8E7D44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462" t="8713" r="8919" b="15563"/>
          <a:stretch/>
        </p:blipFill>
        <p:spPr bwMode="auto">
          <a:xfrm>
            <a:off x="424589" y="1622141"/>
            <a:ext cx="3387530" cy="3394615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B5C9CCB-E736-AE48-9C6E-7D8B2F6B8CE4}"/>
              </a:ext>
            </a:extLst>
          </p:cNvPr>
          <p:cNvGrpSpPr/>
          <p:nvPr/>
        </p:nvGrpSpPr>
        <p:grpSpPr>
          <a:xfrm>
            <a:off x="2148318" y="3258498"/>
            <a:ext cx="223858" cy="1571936"/>
            <a:chOff x="2304494" y="3132498"/>
            <a:chExt cx="223858" cy="1571936"/>
          </a:xfrm>
          <a:solidFill>
            <a:schemeClr val="bg2">
              <a:lumMod val="50000"/>
              <a:lumOff val="50000"/>
            </a:schemeClr>
          </a:solidFill>
        </p:grpSpPr>
        <p:sp>
          <p:nvSpPr>
            <p:cNvPr id="47" name="Right Arrow 46">
              <a:extLst>
                <a:ext uri="{FF2B5EF4-FFF2-40B4-BE49-F238E27FC236}">
                  <a16:creationId xmlns:a16="http://schemas.microsoft.com/office/drawing/2014/main" id="{4FDF1FB5-FAB9-6A26-2D75-4B206F0AF31F}"/>
                </a:ext>
              </a:extLst>
            </p:cNvPr>
            <p:cNvSpPr/>
            <p:nvPr/>
          </p:nvSpPr>
          <p:spPr>
            <a:xfrm rot="16200000">
              <a:off x="2234781" y="4410863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sp>
          <p:nvSpPr>
            <p:cNvPr id="48" name="Right Arrow 47">
              <a:extLst>
                <a:ext uri="{FF2B5EF4-FFF2-40B4-BE49-F238E27FC236}">
                  <a16:creationId xmlns:a16="http://schemas.microsoft.com/office/drawing/2014/main" id="{4241342D-13FD-8E22-09F7-F33B7F96DAA0}"/>
                </a:ext>
              </a:extLst>
            </p:cNvPr>
            <p:cNvSpPr/>
            <p:nvPr/>
          </p:nvSpPr>
          <p:spPr>
            <a:xfrm rot="16200000">
              <a:off x="2234782" y="4023676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  <p:sp>
          <p:nvSpPr>
            <p:cNvPr id="49" name="Right Arrow 48">
              <a:extLst>
                <a:ext uri="{FF2B5EF4-FFF2-40B4-BE49-F238E27FC236}">
                  <a16:creationId xmlns:a16="http://schemas.microsoft.com/office/drawing/2014/main" id="{0D700F23-7DF8-1743-1EE1-4CE0783996A8}"/>
                </a:ext>
              </a:extLst>
            </p:cNvPr>
            <p:cNvSpPr/>
            <p:nvPr/>
          </p:nvSpPr>
          <p:spPr>
            <a:xfrm rot="16200000">
              <a:off x="2232305" y="3204687"/>
              <a:ext cx="365760" cy="221381"/>
            </a:xfrm>
            <a:prstGeom prst="rightArrow">
              <a:avLst>
                <a:gd name="adj1" fmla="val 45911"/>
                <a:gd name="adj2" fmla="val 8271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Raleway" pitchFamily="2" charset="77"/>
              </a:endParaRPr>
            </a:p>
          </p:txBody>
        </p:sp>
      </p:grpSp>
      <p:sp>
        <p:nvSpPr>
          <p:cNvPr id="53" name="Right Arrow 52">
            <a:extLst>
              <a:ext uri="{FF2B5EF4-FFF2-40B4-BE49-F238E27FC236}">
                <a16:creationId xmlns:a16="http://schemas.microsoft.com/office/drawing/2014/main" id="{5E00E29F-07C7-FC1D-AADF-D28346389F81}"/>
              </a:ext>
            </a:extLst>
          </p:cNvPr>
          <p:cNvSpPr/>
          <p:nvPr/>
        </p:nvSpPr>
        <p:spPr>
          <a:xfrm rot="5400000">
            <a:off x="1754638" y="1869144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aleway" pitchFamily="2" charset="77"/>
            </a:endParaRPr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580A7FCC-CE68-C6C9-5B8A-4795A735D2E6}"/>
              </a:ext>
            </a:extLst>
          </p:cNvPr>
          <p:cNvSpPr/>
          <p:nvPr/>
        </p:nvSpPr>
        <p:spPr>
          <a:xfrm rot="5400000">
            <a:off x="1754637" y="2256331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aleway" pitchFamily="2" charset="77"/>
            </a:endParaRPr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D3244172-B233-6A86-FEA6-A68B75B88157}"/>
              </a:ext>
            </a:extLst>
          </p:cNvPr>
          <p:cNvSpPr/>
          <p:nvPr/>
        </p:nvSpPr>
        <p:spPr>
          <a:xfrm rot="5400000">
            <a:off x="1757114" y="3066267"/>
            <a:ext cx="365760" cy="221381"/>
          </a:xfrm>
          <a:prstGeom prst="rightArrow">
            <a:avLst>
              <a:gd name="adj1" fmla="val 45911"/>
              <a:gd name="adj2" fmla="val 82716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Raleway" pitchFamily="2" charset="77"/>
            </a:endParaRPr>
          </a:p>
        </p:txBody>
      </p:sp>
      <p:sp>
        <p:nvSpPr>
          <p:cNvPr id="1033" name="Sun 1032">
            <a:extLst>
              <a:ext uri="{FF2B5EF4-FFF2-40B4-BE49-F238E27FC236}">
                <a16:creationId xmlns:a16="http://schemas.microsoft.com/office/drawing/2014/main" id="{F012AF42-63D1-D38C-57BE-57DB68528130}"/>
              </a:ext>
            </a:extLst>
          </p:cNvPr>
          <p:cNvSpPr/>
          <p:nvPr/>
        </p:nvSpPr>
        <p:spPr>
          <a:xfrm rot="16200000">
            <a:off x="1316805" y="3298446"/>
            <a:ext cx="305280" cy="305280"/>
          </a:xfrm>
          <a:prstGeom prst="sun">
            <a:avLst>
              <a:gd name="adj" fmla="val 30931"/>
            </a:avLst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sp>
        <p:nvSpPr>
          <p:cNvPr id="1035" name="Sun 1034">
            <a:extLst>
              <a:ext uri="{FF2B5EF4-FFF2-40B4-BE49-F238E27FC236}">
                <a16:creationId xmlns:a16="http://schemas.microsoft.com/office/drawing/2014/main" id="{CE32F4D3-18D5-7916-214F-91C8DDCDAB06}"/>
              </a:ext>
            </a:extLst>
          </p:cNvPr>
          <p:cNvSpPr/>
          <p:nvPr/>
        </p:nvSpPr>
        <p:spPr>
          <a:xfrm rot="16200000">
            <a:off x="2612265" y="2995886"/>
            <a:ext cx="305280" cy="305280"/>
          </a:xfrm>
          <a:prstGeom prst="sun">
            <a:avLst>
              <a:gd name="adj" fmla="val 30931"/>
            </a:avLst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sp>
        <p:nvSpPr>
          <p:cNvPr id="1039" name="Sun 1038">
            <a:extLst>
              <a:ext uri="{FF2B5EF4-FFF2-40B4-BE49-F238E27FC236}">
                <a16:creationId xmlns:a16="http://schemas.microsoft.com/office/drawing/2014/main" id="{6ED7F420-FBEB-B26A-6A06-594750A46B42}"/>
              </a:ext>
            </a:extLst>
          </p:cNvPr>
          <p:cNvSpPr/>
          <p:nvPr/>
        </p:nvSpPr>
        <p:spPr>
          <a:xfrm>
            <a:off x="2066925" y="3763188"/>
            <a:ext cx="365761" cy="365761"/>
          </a:xfrm>
          <a:prstGeom prst="sun">
            <a:avLst>
              <a:gd name="adj" fmla="val 30931"/>
            </a:avLst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pic>
        <p:nvPicPr>
          <p:cNvPr id="1044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32C85C8D-F4AE-774B-BD16-9924ED55B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flipV="1">
            <a:off x="1592162" y="3346635"/>
            <a:ext cx="185654" cy="31980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pic>
        <p:nvPicPr>
          <p:cNvPr id="1046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B5045152-6D81-6E38-1799-94E9DE5FC1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flipV="1">
            <a:off x="2432686" y="2961492"/>
            <a:ext cx="185654" cy="31980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pic>
        <p:nvPicPr>
          <p:cNvPr id="1048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40630654-47F2-3279-2F3A-80C16FC6F2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rot="16200000" flipV="1">
            <a:off x="1852259" y="2739601"/>
            <a:ext cx="185654" cy="31980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pic>
        <p:nvPicPr>
          <p:cNvPr id="1049" name="Picture 6" descr="Cartoon Flat Simple Traffic Light Without Buckle, Traffic Light, Red Yellow  Green, Cartoon PNG Transparent Image and Clipart for Free Download">
            <a:extLst>
              <a:ext uri="{FF2B5EF4-FFF2-40B4-BE49-F238E27FC236}">
                <a16:creationId xmlns:a16="http://schemas.microsoft.com/office/drawing/2014/main" id="{BF7F072F-756C-7412-61DF-C1C9B8C223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92" t="16634" r="31307" b="16356"/>
          <a:stretch/>
        </p:blipFill>
        <p:spPr bwMode="auto">
          <a:xfrm rot="16200000" flipV="1">
            <a:off x="2215394" y="3563718"/>
            <a:ext cx="185654" cy="319807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sp>
        <p:nvSpPr>
          <p:cNvPr id="1050" name="Sun 1049">
            <a:extLst>
              <a:ext uri="{FF2B5EF4-FFF2-40B4-BE49-F238E27FC236}">
                <a16:creationId xmlns:a16="http://schemas.microsoft.com/office/drawing/2014/main" id="{C060DA59-1532-FE3C-2406-0288507FB1B6}"/>
              </a:ext>
            </a:extLst>
          </p:cNvPr>
          <p:cNvSpPr/>
          <p:nvPr/>
        </p:nvSpPr>
        <p:spPr>
          <a:xfrm>
            <a:off x="1744533" y="2505780"/>
            <a:ext cx="365761" cy="365761"/>
          </a:xfrm>
          <a:prstGeom prst="sun">
            <a:avLst>
              <a:gd name="adj" fmla="val 30931"/>
            </a:avLst>
          </a:prstGeom>
          <a:solidFill>
            <a:schemeClr val="bg2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Raleway" pitchFamily="2" charset="77"/>
            </a:endParaRPr>
          </a:p>
        </p:txBody>
      </p:sp>
      <p:sp>
        <p:nvSpPr>
          <p:cNvPr id="1051" name="Rounded Rectangular Callout 1050">
            <a:extLst>
              <a:ext uri="{FF2B5EF4-FFF2-40B4-BE49-F238E27FC236}">
                <a16:creationId xmlns:a16="http://schemas.microsoft.com/office/drawing/2014/main" id="{E35B1AEE-C6A7-5ECF-0C42-70161E82FF99}"/>
              </a:ext>
            </a:extLst>
          </p:cNvPr>
          <p:cNvSpPr/>
          <p:nvPr/>
        </p:nvSpPr>
        <p:spPr>
          <a:xfrm>
            <a:off x="2225928" y="1837067"/>
            <a:ext cx="1224517" cy="563340"/>
          </a:xfrm>
          <a:prstGeom prst="wedgeRoundRectCallout">
            <a:avLst>
              <a:gd name="adj1" fmla="val -62515"/>
              <a:gd name="adj2" fmla="val 36433"/>
              <a:gd name="adj3" fmla="val 16667"/>
            </a:avLst>
          </a:prstGeom>
          <a:solidFill>
            <a:schemeClr val="tx1"/>
          </a:solidFill>
          <a:ln w="28575">
            <a:solidFill>
              <a:schemeClr val="bg2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Go at </a:t>
            </a:r>
            <a:r>
              <a:rPr lang="en-US" sz="1400" b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green</a:t>
            </a:r>
            <a:r>
              <a:rPr lang="en-US" sz="1400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 light</a:t>
            </a:r>
          </a:p>
        </p:txBody>
      </p:sp>
      <p:pic>
        <p:nvPicPr>
          <p:cNvPr id="1063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EC55F3BB-7388-8435-9B05-6C65465AA9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2944443" y="3045448"/>
            <a:ext cx="388204" cy="20269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pic>
        <p:nvPicPr>
          <p:cNvPr id="1065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07DFBADA-7BE3-5D02-8FE8-D93ADF865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3354477" y="3045448"/>
            <a:ext cx="388204" cy="20269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pic>
        <p:nvPicPr>
          <p:cNvPr id="1066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1403D8A6-26B5-6456-D9C4-2F9A8CA6FB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528337" y="3396672"/>
            <a:ext cx="388204" cy="20269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pic>
        <p:nvPicPr>
          <p:cNvPr id="1067" name="Picture 8" descr="Red Car Icon Isolated On White Background Clip Art Car Red Cute  Illustration Car Flat Simple For Infographic Design Car Shape Concept For  Children Learning Stock Illustration - Download Image Now - iStock">
            <a:extLst>
              <a:ext uri="{FF2B5EF4-FFF2-40B4-BE49-F238E27FC236}">
                <a16:creationId xmlns:a16="http://schemas.microsoft.com/office/drawing/2014/main" id="{71D1BDB7-9F0E-014C-627C-7F0CAE5A15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2663" b="81586" l="17974" r="82680">
                        <a14:foregroundMark x1="43627" y1="23229" x2="52451" y2="23229"/>
                        <a14:foregroundMark x1="52451" y1="23229" x2="57516" y2="22946"/>
                        <a14:foregroundMark x1="20098" y1="53824" x2="17974" y2="64023"/>
                        <a14:foregroundMark x1="17974" y1="64023" x2="17974" y2="64306"/>
                        <a14:foregroundMark x1="28595" y1="62890" x2="28595" y2="75071"/>
                        <a14:foregroundMark x1="28595" y1="75071" x2="34641" y2="79887"/>
                        <a14:foregroundMark x1="34641" y1="79887" x2="34804" y2="76487"/>
                        <a14:foregroundMark x1="27614" y1="72521" x2="31209" y2="76204"/>
                        <a14:foregroundMark x1="32190" y1="70255" x2="32190" y2="70255"/>
                        <a14:foregroundMark x1="32353" y1="74788" x2="34641" y2="50425"/>
                        <a14:foregroundMark x1="34641" y1="50425" x2="34477" y2="48159"/>
                        <a14:foregroundMark x1="63399" y1="61473" x2="69935" y2="69972"/>
                        <a14:foregroundMark x1="66993" y1="79037" x2="74510" y2="71955"/>
                        <a14:foregroundMark x1="74510" y1="70538" x2="74510" y2="70538"/>
                        <a14:foregroundMark x1="66830" y1="63173" x2="79575" y2="63739"/>
                        <a14:foregroundMark x1="79248" y1="44476" x2="82680" y2="62323"/>
                        <a14:foregroundMark x1="68464" y1="81303" x2="69608" y2="80453"/>
                        <a14:foregroundMark x1="28758" y1="81586" x2="29575" y2="813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056" t="18446" r="14590" b="16961"/>
          <a:stretch/>
        </p:blipFill>
        <p:spPr bwMode="auto">
          <a:xfrm flipH="1">
            <a:off x="938371" y="3396672"/>
            <a:ext cx="388204" cy="202694"/>
          </a:xfrm>
          <a:prstGeom prst="rect">
            <a:avLst/>
          </a:prstGeom>
          <a:solidFill>
            <a:schemeClr val="bg2">
              <a:lumMod val="50000"/>
              <a:lumOff val="50000"/>
            </a:schemeClr>
          </a:solidFill>
        </p:spPr>
      </p:pic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D1FBFA9A-9842-FD72-8881-D5D258C4E468}"/>
              </a:ext>
            </a:extLst>
          </p:cNvPr>
          <p:cNvCxnSpPr>
            <a:cxnSpLocks/>
          </p:cNvCxnSpPr>
          <p:nvPr/>
        </p:nvCxnSpPr>
        <p:spPr>
          <a:xfrm>
            <a:off x="4002959" y="1403762"/>
            <a:ext cx="0" cy="4182226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1" name="Rounded Rectangular Callout 1070">
            <a:extLst>
              <a:ext uri="{FF2B5EF4-FFF2-40B4-BE49-F238E27FC236}">
                <a16:creationId xmlns:a16="http://schemas.microsoft.com/office/drawing/2014/main" id="{1D0BF6B2-77D8-278A-0B9B-AA9E97024613}"/>
              </a:ext>
            </a:extLst>
          </p:cNvPr>
          <p:cNvSpPr/>
          <p:nvPr/>
        </p:nvSpPr>
        <p:spPr>
          <a:xfrm>
            <a:off x="902107" y="5021564"/>
            <a:ext cx="2405766" cy="503933"/>
          </a:xfrm>
          <a:prstGeom prst="wedgeRoundRectCallout">
            <a:avLst>
              <a:gd name="adj1" fmla="val -22628"/>
              <a:gd name="adj2" fmla="val -6580"/>
              <a:gd name="adj3" fmla="val 16667"/>
            </a:avLst>
          </a:prstGeom>
          <a:noFill/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i="1" dirty="0">
                <a:solidFill>
                  <a:schemeClr val="bg2">
                    <a:lumMod val="25000"/>
                    <a:lumOff val="75000"/>
                  </a:schemeClr>
                </a:solidFill>
                <a:latin typeface="Raleway" pitchFamily="2" charset="77"/>
                <a:ea typeface="Gill Sans" charset="0"/>
                <a:cs typeface="Gill Sans" charset="0"/>
              </a:rPr>
              <a:t>“Traffic-light” admission</a:t>
            </a:r>
            <a:endParaRPr lang="en-US" sz="1400" b="1" i="1" dirty="0">
              <a:solidFill>
                <a:schemeClr val="bg2">
                  <a:lumMod val="25000"/>
                  <a:lumOff val="75000"/>
                </a:schemeClr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FDB4AB-4D8F-3C62-B6A6-FC7450BA74D2}"/>
              </a:ext>
            </a:extLst>
          </p:cNvPr>
          <p:cNvGrpSpPr/>
          <p:nvPr/>
        </p:nvGrpSpPr>
        <p:grpSpPr>
          <a:xfrm>
            <a:off x="5008810" y="1253646"/>
            <a:ext cx="2793969" cy="1600467"/>
            <a:chOff x="5008810" y="1548921"/>
            <a:chExt cx="2793969" cy="1600467"/>
          </a:xfrm>
        </p:grpSpPr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D31B7B3D-BE75-9027-A7E7-B00365C829F6}"/>
                </a:ext>
              </a:extLst>
            </p:cNvPr>
            <p:cNvSpPr txBox="1"/>
            <p:nvPr/>
          </p:nvSpPr>
          <p:spPr>
            <a:xfrm>
              <a:off x="5388264" y="2564613"/>
              <a:ext cx="24145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" altLang="zh-CN" sz="1600" dirty="0">
                  <a:solidFill>
                    <a:schemeClr val="bg1"/>
                  </a:solidFill>
                  <a:latin typeface="Raleway" pitchFamily="2" charset="77"/>
                  <a:cs typeface="Calibri" panose="020F0502020204030204" pitchFamily="34" charset="0"/>
                </a:rPr>
                <a:t>Make </a:t>
              </a:r>
              <a:r>
                <a:rPr lang="en" altLang="zh-CN" sz="1600" b="1" dirty="0">
                  <a:solidFill>
                    <a:srgbClr val="0299FF"/>
                  </a:solidFill>
                  <a:latin typeface="Raleway" pitchFamily="2" charset="77"/>
                  <a:cs typeface="Calibri" panose="020F0502020204030204" pitchFamily="34" charset="0"/>
                </a:rPr>
                <a:t>one </a:t>
              </a:r>
              <a:r>
                <a:rPr lang="en" altLang="zh-CN" sz="1600" dirty="0">
                  <a:solidFill>
                    <a:schemeClr val="bg1"/>
                  </a:solidFill>
                  <a:latin typeface="Raleway" pitchFamily="2" charset="77"/>
                  <a:cs typeface="Calibri" panose="020F0502020204030204" pitchFamily="34" charset="0"/>
                </a:rPr>
                <a:t>inference on </a:t>
              </a:r>
              <a:r>
                <a:rPr lang="en" altLang="zh-CN" sz="1600" i="1" dirty="0">
                  <a:solidFill>
                    <a:schemeClr val="bg1"/>
                  </a:solidFill>
                  <a:latin typeface="Raleway" pitchFamily="2" charset="77"/>
                  <a:cs typeface="Calibri" panose="020F0502020204030204" pitchFamily="34" charset="0"/>
                </a:rPr>
                <a:t>behalf</a:t>
              </a:r>
              <a:r>
                <a:rPr lang="en" altLang="zh-CN" sz="1600" dirty="0">
                  <a:solidFill>
                    <a:schemeClr val="bg1"/>
                  </a:solidFill>
                  <a:latin typeface="Raleway" pitchFamily="2" charset="77"/>
                  <a:cs typeface="Calibri" panose="020F0502020204030204" pitchFamily="34" charset="0"/>
                </a:rPr>
                <a:t> of </a:t>
              </a:r>
              <a:r>
                <a:rPr lang="en" altLang="zh-CN" sz="1600" b="1" dirty="0">
                  <a:solidFill>
                    <a:srgbClr val="0299FF"/>
                  </a:solidFill>
                  <a:latin typeface="Raleway" pitchFamily="2" charset="77"/>
                  <a:cs typeface="Calibri" panose="020F0502020204030204" pitchFamily="34" charset="0"/>
                </a:rPr>
                <a:t>multiple I/</a:t>
              </a:r>
              <a:r>
                <a:rPr lang="en" altLang="zh-CN" sz="1600" b="1" dirty="0" err="1">
                  <a:solidFill>
                    <a:srgbClr val="0299FF"/>
                  </a:solidFill>
                  <a:latin typeface="Raleway" pitchFamily="2" charset="77"/>
                  <a:cs typeface="Calibri" panose="020F0502020204030204" pitchFamily="34" charset="0"/>
                </a:rPr>
                <a:t>Os</a:t>
              </a:r>
              <a:endParaRPr sz="1400" b="1" dirty="0">
                <a:solidFill>
                  <a:srgbClr val="0299FF"/>
                </a:solidFill>
                <a:latin typeface="Raleway" pitchFamily="2" charset="77"/>
              </a:endParaRPr>
            </a:p>
          </p:txBody>
        </p:sp>
        <p:grpSp>
          <p:nvGrpSpPr>
            <p:cNvPr id="1092" name="Group 1091">
              <a:extLst>
                <a:ext uri="{FF2B5EF4-FFF2-40B4-BE49-F238E27FC236}">
                  <a16:creationId xmlns:a16="http://schemas.microsoft.com/office/drawing/2014/main" id="{F4A5A7E0-75C3-16E6-26EA-1EE51DA8EEE5}"/>
                </a:ext>
              </a:extLst>
            </p:cNvPr>
            <p:cNvGrpSpPr/>
            <p:nvPr/>
          </p:nvGrpSpPr>
          <p:grpSpPr>
            <a:xfrm>
              <a:off x="5616150" y="1609934"/>
              <a:ext cx="1838863" cy="584775"/>
              <a:chOff x="5679521" y="1727623"/>
              <a:chExt cx="1838863" cy="584775"/>
            </a:xfrm>
          </p:grpSpPr>
          <p:pic>
            <p:nvPicPr>
              <p:cNvPr id="1070" name="Picture 8" descr="Red Car Icon Isolated On White Background Clip Art Car Red Cute  Illustration Car Flat Simple For Infographic Design Car Shape Concept For  Children Learning Stock Illustration - Download Image Now - iStock">
                <a:extLst>
                  <a:ext uri="{FF2B5EF4-FFF2-40B4-BE49-F238E27FC236}">
                    <a16:creationId xmlns:a16="http://schemas.microsoft.com/office/drawing/2014/main" id="{AA74D378-9C67-08D2-31C8-EF4245F979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22663" b="81586" l="17974" r="82680">
                            <a14:foregroundMark x1="43627" y1="23229" x2="52451" y2="23229"/>
                            <a14:foregroundMark x1="52451" y1="23229" x2="57516" y2="22946"/>
                            <a14:foregroundMark x1="20098" y1="53824" x2="17974" y2="64023"/>
                            <a14:foregroundMark x1="17974" y1="64023" x2="17974" y2="64306"/>
                            <a14:foregroundMark x1="28595" y1="62890" x2="28595" y2="75071"/>
                            <a14:foregroundMark x1="28595" y1="75071" x2="34641" y2="79887"/>
                            <a14:foregroundMark x1="34641" y1="79887" x2="34804" y2="76487"/>
                            <a14:foregroundMark x1="27614" y1="72521" x2="31209" y2="76204"/>
                            <a14:foregroundMark x1="32190" y1="70255" x2="32190" y2="70255"/>
                            <a14:foregroundMark x1="32353" y1="74788" x2="34641" y2="50425"/>
                            <a14:foregroundMark x1="34641" y1="50425" x2="34477" y2="48159"/>
                            <a14:foregroundMark x1="63399" y1="61473" x2="69935" y2="69972"/>
                            <a14:foregroundMark x1="66993" y1="79037" x2="74510" y2="71955"/>
                            <a14:foregroundMark x1="74510" y1="70538" x2="74510" y2="70538"/>
                            <a14:foregroundMark x1="66830" y1="63173" x2="79575" y2="63739"/>
                            <a14:foregroundMark x1="79248" y1="44476" x2="82680" y2="62323"/>
                            <a14:foregroundMark x1="68464" y1="81303" x2="69608" y2="80453"/>
                            <a14:foregroundMark x1="28758" y1="81586" x2="29575" y2="813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056" t="18446" r="14590" b="16961"/>
              <a:stretch/>
            </p:blipFill>
            <p:spPr bwMode="auto">
              <a:xfrm flipH="1">
                <a:off x="5679521" y="1906149"/>
                <a:ext cx="609365" cy="3181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74" name="TextBox 1073">
                <a:extLst>
                  <a:ext uri="{FF2B5EF4-FFF2-40B4-BE49-F238E27FC236}">
                    <a16:creationId xmlns:a16="http://schemas.microsoft.com/office/drawing/2014/main" id="{21CA7256-85C7-BA0D-CEF0-01F2B83539BC}"/>
                  </a:ext>
                </a:extLst>
              </p:cNvPr>
              <p:cNvSpPr txBox="1"/>
              <p:nvPr/>
            </p:nvSpPr>
            <p:spPr>
              <a:xfrm>
                <a:off x="6288886" y="1727623"/>
                <a:ext cx="46198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bg1"/>
                    </a:solidFill>
                    <a:latin typeface="Raleway" pitchFamily="2" charset="77"/>
                    <a:ea typeface="Gill Sans" charset="0"/>
                    <a:cs typeface="Arial" charset="0"/>
                  </a:rPr>
                  <a:t>= </a:t>
                </a:r>
                <a:endParaRPr lang="en-US" sz="32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75" name="TextBox 1074">
                <a:extLst>
                  <a:ext uri="{FF2B5EF4-FFF2-40B4-BE49-F238E27FC236}">
                    <a16:creationId xmlns:a16="http://schemas.microsoft.com/office/drawing/2014/main" id="{0A678E76-84DE-E8B7-1076-8401F063A77F}"/>
                  </a:ext>
                </a:extLst>
              </p:cNvPr>
              <p:cNvSpPr txBox="1"/>
              <p:nvPr/>
            </p:nvSpPr>
            <p:spPr>
              <a:xfrm>
                <a:off x="6519393" y="1874795"/>
                <a:ext cx="9989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" sz="1600" dirty="0">
                    <a:solidFill>
                      <a:schemeClr val="bg1"/>
                    </a:solidFill>
                    <a:latin typeface="Raleway" pitchFamily="2" charset="77"/>
                    <a:cs typeface="Calibri" panose="020F0502020204030204" pitchFamily="34" charset="0"/>
                  </a:rPr>
                  <a:t>read I/O</a:t>
                </a:r>
                <a:endParaRPr sz="1400" dirty="0">
                  <a:latin typeface="Raleway" pitchFamily="2" charset="77"/>
                </a:endParaRPr>
              </a:p>
            </p:txBody>
          </p:sp>
        </p:grpSp>
        <p:sp>
          <p:nvSpPr>
            <p:cNvPr id="1076" name="Cloud 1075">
              <a:extLst>
                <a:ext uri="{FF2B5EF4-FFF2-40B4-BE49-F238E27FC236}">
                  <a16:creationId xmlns:a16="http://schemas.microsoft.com/office/drawing/2014/main" id="{7E6D9C31-5F7A-EEC9-4804-62AF0A1F1D39}"/>
                </a:ext>
              </a:extLst>
            </p:cNvPr>
            <p:cNvSpPr/>
            <p:nvPr/>
          </p:nvSpPr>
          <p:spPr>
            <a:xfrm rot="265515">
              <a:off x="5343579" y="1548921"/>
              <a:ext cx="2203345" cy="840005"/>
            </a:xfrm>
            <a:prstGeom prst="cloud">
              <a:avLst/>
            </a:prstGeom>
            <a:noFill/>
            <a:ln w="28575">
              <a:solidFill>
                <a:srgbClr val="02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077" name="Group 1076">
              <a:extLst>
                <a:ext uri="{FF2B5EF4-FFF2-40B4-BE49-F238E27FC236}">
                  <a16:creationId xmlns:a16="http://schemas.microsoft.com/office/drawing/2014/main" id="{09601B80-0552-23AD-08DB-01CA4AD4029C}"/>
                </a:ext>
              </a:extLst>
            </p:cNvPr>
            <p:cNvGrpSpPr/>
            <p:nvPr/>
          </p:nvGrpSpPr>
          <p:grpSpPr>
            <a:xfrm>
              <a:off x="5008810" y="2624184"/>
              <a:ext cx="369016" cy="369333"/>
              <a:chOff x="7691057" y="2512766"/>
              <a:chExt cx="553000" cy="553475"/>
            </a:xfrm>
            <a:solidFill>
              <a:srgbClr val="0096FF"/>
            </a:solidFill>
          </p:grpSpPr>
          <p:sp>
            <p:nvSpPr>
              <p:cNvPr id="1078" name="Freeform 1077">
                <a:extLst>
                  <a:ext uri="{FF2B5EF4-FFF2-40B4-BE49-F238E27FC236}">
                    <a16:creationId xmlns:a16="http://schemas.microsoft.com/office/drawing/2014/main" id="{2DA460C3-DC45-A5D1-9E3B-F7EC4AC895DA}"/>
                  </a:ext>
                </a:extLst>
              </p:cNvPr>
              <p:cNvSpPr/>
              <p:nvPr/>
            </p:nvSpPr>
            <p:spPr>
              <a:xfrm>
                <a:off x="7954733" y="2512766"/>
                <a:ext cx="25974" cy="92457"/>
              </a:xfrm>
              <a:custGeom>
                <a:avLst/>
                <a:gdLst>
                  <a:gd name="connsiteX0" fmla="*/ 10020 w 20040"/>
                  <a:gd name="connsiteY0" fmla="*/ 0 h 71335"/>
                  <a:gd name="connsiteX1" fmla="*/ 20040 w 20040"/>
                  <a:gd name="connsiteY1" fmla="*/ 10020 h 71335"/>
                  <a:gd name="connsiteX2" fmla="*/ 20040 w 20040"/>
                  <a:gd name="connsiteY2" fmla="*/ 61315 h 71335"/>
                  <a:gd name="connsiteX3" fmla="*/ 10020 w 20040"/>
                  <a:gd name="connsiteY3" fmla="*/ 71335 h 71335"/>
                  <a:gd name="connsiteX4" fmla="*/ 0 w 20040"/>
                  <a:gd name="connsiteY4" fmla="*/ 61315 h 71335"/>
                  <a:gd name="connsiteX5" fmla="*/ 0 w 20040"/>
                  <a:gd name="connsiteY5" fmla="*/ 10020 h 71335"/>
                  <a:gd name="connsiteX6" fmla="*/ 10020 w 20040"/>
                  <a:gd name="connsiteY6" fmla="*/ 0 h 7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040" h="71335">
                    <a:moveTo>
                      <a:pt x="10020" y="0"/>
                    </a:moveTo>
                    <a:cubicBezTo>
                      <a:pt x="15554" y="0"/>
                      <a:pt x="20040" y="4486"/>
                      <a:pt x="20040" y="10020"/>
                    </a:cubicBezTo>
                    <a:cubicBezTo>
                      <a:pt x="20040" y="27119"/>
                      <a:pt x="20040" y="44217"/>
                      <a:pt x="20040" y="61315"/>
                    </a:cubicBezTo>
                    <a:cubicBezTo>
                      <a:pt x="19226" y="66620"/>
                      <a:pt x="16167" y="70802"/>
                      <a:pt x="10020" y="71335"/>
                    </a:cubicBezTo>
                    <a:cubicBezTo>
                      <a:pt x="7169" y="70996"/>
                      <a:pt x="1670" y="71535"/>
                      <a:pt x="0" y="61315"/>
                    </a:cubicBezTo>
                    <a:lnTo>
                      <a:pt x="0" y="10020"/>
                    </a:lnTo>
                    <a:cubicBezTo>
                      <a:pt x="0" y="4486"/>
                      <a:pt x="4486" y="0"/>
                      <a:pt x="100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9" name="Freeform 1078">
                <a:extLst>
                  <a:ext uri="{FF2B5EF4-FFF2-40B4-BE49-F238E27FC236}">
                    <a16:creationId xmlns:a16="http://schemas.microsoft.com/office/drawing/2014/main" id="{B2774D72-D162-0853-B6E4-7FBC9761E7EE}"/>
                  </a:ext>
                </a:extLst>
              </p:cNvPr>
              <p:cNvSpPr/>
              <p:nvPr/>
            </p:nvSpPr>
            <p:spPr>
              <a:xfrm>
                <a:off x="7807901" y="2555822"/>
                <a:ext cx="60943" cy="83019"/>
              </a:xfrm>
              <a:custGeom>
                <a:avLst/>
                <a:gdLst>
                  <a:gd name="connsiteX0" fmla="*/ 11085 w 47021"/>
                  <a:gd name="connsiteY0" fmla="*/ 32 h 64053"/>
                  <a:gd name="connsiteX1" fmla="*/ 19135 w 47021"/>
                  <a:gd name="connsiteY1" fmla="*/ 5030 h 64053"/>
                  <a:gd name="connsiteX2" fmla="*/ 45532 w 47021"/>
                  <a:gd name="connsiteY2" fmla="*/ 48493 h 64053"/>
                  <a:gd name="connsiteX3" fmla="*/ 42094 w 47021"/>
                  <a:gd name="connsiteY3" fmla="*/ 62564 h 64053"/>
                  <a:gd name="connsiteX4" fmla="*/ 28023 w 47021"/>
                  <a:gd name="connsiteY4" fmla="*/ 59126 h 64053"/>
                  <a:gd name="connsiteX5" fmla="*/ 1626 w 47021"/>
                  <a:gd name="connsiteY5" fmla="*/ 15664 h 64053"/>
                  <a:gd name="connsiteX6" fmla="*/ 5064 w 47021"/>
                  <a:gd name="connsiteY6" fmla="*/ 1593 h 64053"/>
                  <a:gd name="connsiteX7" fmla="*/ 11085 w 47021"/>
                  <a:gd name="connsiteY7" fmla="*/ 32 h 64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21" h="64053">
                    <a:moveTo>
                      <a:pt x="11085" y="32"/>
                    </a:moveTo>
                    <a:cubicBezTo>
                      <a:pt x="13536" y="241"/>
                      <a:pt x="16324" y="1543"/>
                      <a:pt x="19135" y="5030"/>
                    </a:cubicBezTo>
                    <a:lnTo>
                      <a:pt x="45532" y="48493"/>
                    </a:lnTo>
                    <a:cubicBezTo>
                      <a:pt x="48468" y="53327"/>
                      <a:pt x="46929" y="59627"/>
                      <a:pt x="42094" y="62564"/>
                    </a:cubicBezTo>
                    <a:cubicBezTo>
                      <a:pt x="37260" y="65500"/>
                      <a:pt x="30960" y="63961"/>
                      <a:pt x="28023" y="59126"/>
                    </a:cubicBezTo>
                    <a:lnTo>
                      <a:pt x="1626" y="15664"/>
                    </a:lnTo>
                    <a:cubicBezTo>
                      <a:pt x="-2481" y="9162"/>
                      <a:pt x="2146" y="3365"/>
                      <a:pt x="5064" y="1593"/>
                    </a:cubicBezTo>
                    <a:cubicBezTo>
                      <a:pt x="6523" y="707"/>
                      <a:pt x="8635" y="-177"/>
                      <a:pt x="11085" y="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0" name="Freeform 1079">
                <a:extLst>
                  <a:ext uri="{FF2B5EF4-FFF2-40B4-BE49-F238E27FC236}">
                    <a16:creationId xmlns:a16="http://schemas.microsoft.com/office/drawing/2014/main" id="{6478AEDD-B180-2A0A-AE8D-72AFC629006B}"/>
                  </a:ext>
                </a:extLst>
              </p:cNvPr>
              <p:cNvSpPr/>
              <p:nvPr/>
            </p:nvSpPr>
            <p:spPr>
              <a:xfrm>
                <a:off x="8064823" y="2555817"/>
                <a:ext cx="60959" cy="82943"/>
              </a:xfrm>
              <a:custGeom>
                <a:avLst/>
                <a:gdLst>
                  <a:gd name="connsiteX0" fmla="*/ 34168 w 47033"/>
                  <a:gd name="connsiteY0" fmla="*/ 299 h 63995"/>
                  <a:gd name="connsiteX1" fmla="*/ 42032 w 47033"/>
                  <a:gd name="connsiteY1" fmla="*/ 1513 h 63995"/>
                  <a:gd name="connsiteX2" fmla="*/ 45521 w 47033"/>
                  <a:gd name="connsiteY2" fmla="*/ 15795 h 63995"/>
                  <a:gd name="connsiteX3" fmla="*/ 19284 w 47033"/>
                  <a:gd name="connsiteY3" fmla="*/ 58994 h 63995"/>
                  <a:gd name="connsiteX4" fmla="*/ 5002 w 47033"/>
                  <a:gd name="connsiteY4" fmla="*/ 62483 h 63995"/>
                  <a:gd name="connsiteX5" fmla="*/ 1513 w 47033"/>
                  <a:gd name="connsiteY5" fmla="*/ 48201 h 63995"/>
                  <a:gd name="connsiteX6" fmla="*/ 27750 w 47033"/>
                  <a:gd name="connsiteY6" fmla="*/ 5001 h 63995"/>
                  <a:gd name="connsiteX7" fmla="*/ 34168 w 47033"/>
                  <a:gd name="connsiteY7" fmla="*/ 299 h 63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7033" h="63995">
                    <a:moveTo>
                      <a:pt x="34168" y="299"/>
                    </a:moveTo>
                    <a:cubicBezTo>
                      <a:pt x="36753" y="-332"/>
                      <a:pt x="39578" y="22"/>
                      <a:pt x="42032" y="1513"/>
                    </a:cubicBezTo>
                    <a:cubicBezTo>
                      <a:pt x="46939" y="4493"/>
                      <a:pt x="48502" y="10887"/>
                      <a:pt x="45521" y="15795"/>
                    </a:cubicBezTo>
                    <a:lnTo>
                      <a:pt x="19284" y="58994"/>
                    </a:lnTo>
                    <a:cubicBezTo>
                      <a:pt x="16304" y="63902"/>
                      <a:pt x="9909" y="65464"/>
                      <a:pt x="5002" y="62483"/>
                    </a:cubicBezTo>
                    <a:cubicBezTo>
                      <a:pt x="94" y="59503"/>
                      <a:pt x="-1468" y="53108"/>
                      <a:pt x="1513" y="48201"/>
                    </a:cubicBezTo>
                    <a:lnTo>
                      <a:pt x="27750" y="5001"/>
                    </a:lnTo>
                    <a:cubicBezTo>
                      <a:pt x="29240" y="2548"/>
                      <a:pt x="31584" y="930"/>
                      <a:pt x="34168" y="2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1" name="Freeform 1080">
                <a:extLst>
                  <a:ext uri="{FF2B5EF4-FFF2-40B4-BE49-F238E27FC236}">
                    <a16:creationId xmlns:a16="http://schemas.microsoft.com/office/drawing/2014/main" id="{0867CC24-B32F-9343-5F4B-8F02BF9384F5}"/>
                  </a:ext>
                </a:extLst>
              </p:cNvPr>
              <p:cNvSpPr/>
              <p:nvPr/>
            </p:nvSpPr>
            <p:spPr>
              <a:xfrm>
                <a:off x="7823319" y="2656561"/>
                <a:ext cx="285897" cy="302403"/>
              </a:xfrm>
              <a:custGeom>
                <a:avLst/>
                <a:gdLst>
                  <a:gd name="connsiteX0" fmla="*/ 148196 w 221978"/>
                  <a:gd name="connsiteY0" fmla="*/ 100727 h 233319"/>
                  <a:gd name="connsiteX1" fmla="*/ 139456 w 221978"/>
                  <a:gd name="connsiteY1" fmla="*/ 102643 h 233319"/>
                  <a:gd name="connsiteX2" fmla="*/ 111846 w 221978"/>
                  <a:gd name="connsiteY2" fmla="*/ 112165 h 233319"/>
                  <a:gd name="connsiteX3" fmla="*/ 83905 w 221978"/>
                  <a:gd name="connsiteY3" fmla="*/ 102910 h 233319"/>
                  <a:gd name="connsiteX4" fmla="*/ 78955 w 221978"/>
                  <a:gd name="connsiteY4" fmla="*/ 110817 h 233319"/>
                  <a:gd name="connsiteX5" fmla="*/ 106989 w 221978"/>
                  <a:gd name="connsiteY5" fmla="*/ 185136 h 233319"/>
                  <a:gd name="connsiteX6" fmla="*/ 113999 w 221978"/>
                  <a:gd name="connsiteY6" fmla="*/ 186579 h 233319"/>
                  <a:gd name="connsiteX7" fmla="*/ 145642 w 221978"/>
                  <a:gd name="connsiteY7" fmla="*/ 108951 h 233319"/>
                  <a:gd name="connsiteX8" fmla="*/ 148196 w 221978"/>
                  <a:gd name="connsiteY8" fmla="*/ 100727 h 233319"/>
                  <a:gd name="connsiteX9" fmla="*/ 113768 w 221978"/>
                  <a:gd name="connsiteY9" fmla="*/ 0 h 233319"/>
                  <a:gd name="connsiteX10" fmla="*/ 195210 w 221978"/>
                  <a:gd name="connsiteY10" fmla="*/ 176513 h 233319"/>
                  <a:gd name="connsiteX11" fmla="*/ 164616 w 221978"/>
                  <a:gd name="connsiteY11" fmla="*/ 233319 h 233319"/>
                  <a:gd name="connsiteX12" fmla="*/ 56912 w 221978"/>
                  <a:gd name="connsiteY12" fmla="*/ 233319 h 233319"/>
                  <a:gd name="connsiteX13" fmla="*/ 21456 w 221978"/>
                  <a:gd name="connsiteY13" fmla="*/ 167623 h 233319"/>
                  <a:gd name="connsiteX14" fmla="*/ 113768 w 221978"/>
                  <a:gd name="connsiteY14" fmla="*/ 0 h 233319"/>
                  <a:gd name="connsiteX0" fmla="*/ 148196 w 220584"/>
                  <a:gd name="connsiteY0" fmla="*/ 100727 h 233319"/>
                  <a:gd name="connsiteX1" fmla="*/ 139456 w 220584"/>
                  <a:gd name="connsiteY1" fmla="*/ 102643 h 233319"/>
                  <a:gd name="connsiteX2" fmla="*/ 111846 w 220584"/>
                  <a:gd name="connsiteY2" fmla="*/ 112165 h 233319"/>
                  <a:gd name="connsiteX3" fmla="*/ 83905 w 220584"/>
                  <a:gd name="connsiteY3" fmla="*/ 102910 h 233319"/>
                  <a:gd name="connsiteX4" fmla="*/ 78955 w 220584"/>
                  <a:gd name="connsiteY4" fmla="*/ 110817 h 233319"/>
                  <a:gd name="connsiteX5" fmla="*/ 106989 w 220584"/>
                  <a:gd name="connsiteY5" fmla="*/ 185136 h 233319"/>
                  <a:gd name="connsiteX6" fmla="*/ 113999 w 220584"/>
                  <a:gd name="connsiteY6" fmla="*/ 186579 h 233319"/>
                  <a:gd name="connsiteX7" fmla="*/ 145642 w 220584"/>
                  <a:gd name="connsiteY7" fmla="*/ 108951 h 233319"/>
                  <a:gd name="connsiteX8" fmla="*/ 148196 w 220584"/>
                  <a:gd name="connsiteY8" fmla="*/ 100727 h 233319"/>
                  <a:gd name="connsiteX9" fmla="*/ 113768 w 220584"/>
                  <a:gd name="connsiteY9" fmla="*/ 0 h 233319"/>
                  <a:gd name="connsiteX10" fmla="*/ 195210 w 220584"/>
                  <a:gd name="connsiteY10" fmla="*/ 176513 h 233319"/>
                  <a:gd name="connsiteX11" fmla="*/ 164616 w 220584"/>
                  <a:gd name="connsiteY11" fmla="*/ 233319 h 233319"/>
                  <a:gd name="connsiteX12" fmla="*/ 56912 w 220584"/>
                  <a:gd name="connsiteY12" fmla="*/ 233319 h 233319"/>
                  <a:gd name="connsiteX13" fmla="*/ 21456 w 220584"/>
                  <a:gd name="connsiteY13" fmla="*/ 167623 h 233319"/>
                  <a:gd name="connsiteX14" fmla="*/ 113768 w 220584"/>
                  <a:gd name="connsiteY14" fmla="*/ 0 h 233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0584" h="233319">
                    <a:moveTo>
                      <a:pt x="148196" y="100727"/>
                    </a:moveTo>
                    <a:cubicBezTo>
                      <a:pt x="146528" y="99132"/>
                      <a:pt x="142979" y="99227"/>
                      <a:pt x="139456" y="102643"/>
                    </a:cubicBezTo>
                    <a:cubicBezTo>
                      <a:pt x="130654" y="109347"/>
                      <a:pt x="121031" y="112275"/>
                      <a:pt x="111846" y="112165"/>
                    </a:cubicBezTo>
                    <a:cubicBezTo>
                      <a:pt x="105846" y="112808"/>
                      <a:pt x="93976" y="110134"/>
                      <a:pt x="83905" y="102910"/>
                    </a:cubicBezTo>
                    <a:cubicBezTo>
                      <a:pt x="71294" y="95750"/>
                      <a:pt x="71132" y="105075"/>
                      <a:pt x="78955" y="110817"/>
                    </a:cubicBezTo>
                    <a:cubicBezTo>
                      <a:pt x="97987" y="129977"/>
                      <a:pt x="107848" y="156107"/>
                      <a:pt x="106989" y="185136"/>
                    </a:cubicBezTo>
                    <a:cubicBezTo>
                      <a:pt x="107344" y="193481"/>
                      <a:pt x="113769" y="191379"/>
                      <a:pt x="113999" y="186579"/>
                    </a:cubicBezTo>
                    <a:cubicBezTo>
                      <a:pt x="117445" y="161891"/>
                      <a:pt x="124658" y="130909"/>
                      <a:pt x="145642" y="108951"/>
                    </a:cubicBezTo>
                    <a:cubicBezTo>
                      <a:pt x="149649" y="105607"/>
                      <a:pt x="149863" y="102322"/>
                      <a:pt x="148196" y="100727"/>
                    </a:cubicBezTo>
                    <a:close/>
                    <a:moveTo>
                      <a:pt x="113768" y="0"/>
                    </a:moveTo>
                    <a:cubicBezTo>
                      <a:pt x="214371" y="182"/>
                      <a:pt x="249363" y="112029"/>
                      <a:pt x="195210" y="176513"/>
                    </a:cubicBezTo>
                    <a:cubicBezTo>
                      <a:pt x="182059" y="195448"/>
                      <a:pt x="172353" y="207985"/>
                      <a:pt x="164616" y="233319"/>
                    </a:cubicBezTo>
                    <a:lnTo>
                      <a:pt x="56912" y="233319"/>
                    </a:lnTo>
                    <a:cubicBezTo>
                      <a:pt x="52968" y="210928"/>
                      <a:pt x="40165" y="192967"/>
                      <a:pt x="21456" y="167623"/>
                    </a:cubicBezTo>
                    <a:cubicBezTo>
                      <a:pt x="-27843" y="108939"/>
                      <a:pt x="9832" y="344"/>
                      <a:pt x="113768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2" name="Freeform 1081">
                <a:extLst>
                  <a:ext uri="{FF2B5EF4-FFF2-40B4-BE49-F238E27FC236}">
                    <a16:creationId xmlns:a16="http://schemas.microsoft.com/office/drawing/2014/main" id="{75E776F1-0A4A-7C4C-9DEB-BE5E1C3F2F07}"/>
                  </a:ext>
                </a:extLst>
              </p:cNvPr>
              <p:cNvSpPr/>
              <p:nvPr/>
            </p:nvSpPr>
            <p:spPr>
              <a:xfrm>
                <a:off x="8138445" y="2667325"/>
                <a:ext cx="82100" cy="59579"/>
              </a:xfrm>
              <a:custGeom>
                <a:avLst/>
                <a:gdLst>
                  <a:gd name="connsiteX0" fmla="*/ 56475 w 63344"/>
                  <a:gd name="connsiteY0" fmla="*/ 240 h 45968"/>
                  <a:gd name="connsiteX1" fmla="*/ 62011 w 63344"/>
                  <a:gd name="connsiteY1" fmla="*/ 4229 h 45968"/>
                  <a:gd name="connsiteX2" fmla="*/ 59116 w 63344"/>
                  <a:gd name="connsiteY2" fmla="*/ 16500 h 45968"/>
                  <a:gd name="connsiteX3" fmla="*/ 13606 w 63344"/>
                  <a:gd name="connsiteY3" fmla="*/ 44635 h 45968"/>
                  <a:gd name="connsiteX4" fmla="*/ 1334 w 63344"/>
                  <a:gd name="connsiteY4" fmla="*/ 41740 h 45968"/>
                  <a:gd name="connsiteX5" fmla="*/ 4230 w 63344"/>
                  <a:gd name="connsiteY5" fmla="*/ 29468 h 45968"/>
                  <a:gd name="connsiteX6" fmla="*/ 49740 w 63344"/>
                  <a:gd name="connsiteY6" fmla="*/ 1334 h 45968"/>
                  <a:gd name="connsiteX7" fmla="*/ 56475 w 63344"/>
                  <a:gd name="connsiteY7" fmla="*/ 240 h 45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344" h="45968">
                    <a:moveTo>
                      <a:pt x="56475" y="240"/>
                    </a:moveTo>
                    <a:cubicBezTo>
                      <a:pt x="58696" y="764"/>
                      <a:pt x="60717" y="2135"/>
                      <a:pt x="62011" y="4229"/>
                    </a:cubicBezTo>
                    <a:cubicBezTo>
                      <a:pt x="64600" y="8417"/>
                      <a:pt x="63304" y="13911"/>
                      <a:pt x="59116" y="16500"/>
                    </a:cubicBezTo>
                    <a:lnTo>
                      <a:pt x="13606" y="44635"/>
                    </a:lnTo>
                    <a:cubicBezTo>
                      <a:pt x="9418" y="47224"/>
                      <a:pt x="3924" y="45928"/>
                      <a:pt x="1334" y="41740"/>
                    </a:cubicBezTo>
                    <a:cubicBezTo>
                      <a:pt x="-1255" y="37552"/>
                      <a:pt x="42" y="32058"/>
                      <a:pt x="4230" y="29468"/>
                    </a:cubicBezTo>
                    <a:lnTo>
                      <a:pt x="49740" y="1334"/>
                    </a:lnTo>
                    <a:cubicBezTo>
                      <a:pt x="51834" y="39"/>
                      <a:pt x="54254" y="-284"/>
                      <a:pt x="56475" y="24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3" name="Freeform 1082">
                <a:extLst>
                  <a:ext uri="{FF2B5EF4-FFF2-40B4-BE49-F238E27FC236}">
                    <a16:creationId xmlns:a16="http://schemas.microsoft.com/office/drawing/2014/main" id="{2B7CB656-6389-C69E-25DE-6C7EDEDE60CB}"/>
                  </a:ext>
                </a:extLst>
              </p:cNvPr>
              <p:cNvSpPr/>
              <p:nvPr/>
            </p:nvSpPr>
            <p:spPr>
              <a:xfrm>
                <a:off x="7711625" y="2671122"/>
                <a:ext cx="81980" cy="59205"/>
              </a:xfrm>
              <a:custGeom>
                <a:avLst/>
                <a:gdLst>
                  <a:gd name="connsiteX0" fmla="*/ 6636 w 63252"/>
                  <a:gd name="connsiteY0" fmla="*/ 232 h 45680"/>
                  <a:gd name="connsiteX1" fmla="*/ 13142 w 63252"/>
                  <a:gd name="connsiteY1" fmla="*/ 1288 h 45680"/>
                  <a:gd name="connsiteX2" fmla="*/ 59168 w 63252"/>
                  <a:gd name="connsiteY2" fmla="*/ 29742 h 45680"/>
                  <a:gd name="connsiteX3" fmla="*/ 61965 w 63252"/>
                  <a:gd name="connsiteY3" fmla="*/ 41596 h 45680"/>
                  <a:gd name="connsiteX4" fmla="*/ 50111 w 63252"/>
                  <a:gd name="connsiteY4" fmla="*/ 44392 h 45680"/>
                  <a:gd name="connsiteX5" fmla="*/ 4085 w 63252"/>
                  <a:gd name="connsiteY5" fmla="*/ 15939 h 45680"/>
                  <a:gd name="connsiteX6" fmla="*/ 1288 w 63252"/>
                  <a:gd name="connsiteY6" fmla="*/ 4085 h 45680"/>
                  <a:gd name="connsiteX7" fmla="*/ 6636 w 63252"/>
                  <a:gd name="connsiteY7" fmla="*/ 232 h 45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252" h="45680">
                    <a:moveTo>
                      <a:pt x="6636" y="232"/>
                    </a:moveTo>
                    <a:cubicBezTo>
                      <a:pt x="8781" y="-274"/>
                      <a:pt x="11119" y="38"/>
                      <a:pt x="13142" y="1288"/>
                    </a:cubicBezTo>
                    <a:lnTo>
                      <a:pt x="59168" y="29742"/>
                    </a:lnTo>
                    <a:cubicBezTo>
                      <a:pt x="63214" y="32243"/>
                      <a:pt x="64466" y="37550"/>
                      <a:pt x="61965" y="41596"/>
                    </a:cubicBezTo>
                    <a:cubicBezTo>
                      <a:pt x="59463" y="45641"/>
                      <a:pt x="54156" y="46894"/>
                      <a:pt x="50111" y="44392"/>
                    </a:cubicBezTo>
                    <a:lnTo>
                      <a:pt x="4085" y="15939"/>
                    </a:lnTo>
                    <a:cubicBezTo>
                      <a:pt x="39" y="13438"/>
                      <a:pt x="-1213" y="8131"/>
                      <a:pt x="1288" y="4085"/>
                    </a:cubicBezTo>
                    <a:cubicBezTo>
                      <a:pt x="2539" y="2062"/>
                      <a:pt x="4491" y="738"/>
                      <a:pt x="6636" y="23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4" name="Freeform 1083">
                <a:extLst>
                  <a:ext uri="{FF2B5EF4-FFF2-40B4-BE49-F238E27FC236}">
                    <a16:creationId xmlns:a16="http://schemas.microsoft.com/office/drawing/2014/main" id="{AF45642D-42E4-3303-7973-D63E73C0996F}"/>
                  </a:ext>
                </a:extLst>
              </p:cNvPr>
              <p:cNvSpPr/>
              <p:nvPr/>
            </p:nvSpPr>
            <p:spPr>
              <a:xfrm>
                <a:off x="7691057" y="2801906"/>
                <a:ext cx="92511" cy="26429"/>
              </a:xfrm>
              <a:custGeom>
                <a:avLst/>
                <a:gdLst>
                  <a:gd name="connsiteX0" fmla="*/ 10237 w 71377"/>
                  <a:gd name="connsiteY0" fmla="*/ 0 h 20391"/>
                  <a:gd name="connsiteX1" fmla="*/ 61181 w 71377"/>
                  <a:gd name="connsiteY1" fmla="*/ 0 h 20391"/>
                  <a:gd name="connsiteX2" fmla="*/ 71377 w 71377"/>
                  <a:gd name="connsiteY2" fmla="*/ 10196 h 20391"/>
                  <a:gd name="connsiteX3" fmla="*/ 61181 w 71377"/>
                  <a:gd name="connsiteY3" fmla="*/ 20391 h 20391"/>
                  <a:gd name="connsiteX4" fmla="*/ 10237 w 71377"/>
                  <a:gd name="connsiteY4" fmla="*/ 20391 h 20391"/>
                  <a:gd name="connsiteX5" fmla="*/ 843 w 71377"/>
                  <a:gd name="connsiteY5" fmla="*/ 14164 h 20391"/>
                  <a:gd name="connsiteX6" fmla="*/ 843 w 71377"/>
                  <a:gd name="connsiteY6" fmla="*/ 6227 h 20391"/>
                  <a:gd name="connsiteX7" fmla="*/ 10237 w 71377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377" h="20391">
                    <a:moveTo>
                      <a:pt x="10237" y="0"/>
                    </a:moveTo>
                    <a:lnTo>
                      <a:pt x="61181" y="0"/>
                    </a:lnTo>
                    <a:cubicBezTo>
                      <a:pt x="66812" y="0"/>
                      <a:pt x="71377" y="4565"/>
                      <a:pt x="71377" y="10196"/>
                    </a:cubicBezTo>
                    <a:cubicBezTo>
                      <a:pt x="71377" y="15827"/>
                      <a:pt x="66812" y="20391"/>
                      <a:pt x="61181" y="20391"/>
                    </a:cubicBezTo>
                    <a:lnTo>
                      <a:pt x="10237" y="20391"/>
                    </a:lnTo>
                    <a:cubicBezTo>
                      <a:pt x="6014" y="20391"/>
                      <a:pt x="2391" y="17824"/>
                      <a:pt x="843" y="14164"/>
                    </a:cubicBezTo>
                    <a:cubicBezTo>
                      <a:pt x="-280" y="12080"/>
                      <a:pt x="-280" y="8312"/>
                      <a:pt x="843" y="6227"/>
                    </a:cubicBezTo>
                    <a:cubicBezTo>
                      <a:pt x="2391" y="2568"/>
                      <a:pt x="6014" y="0"/>
                      <a:pt x="1023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5" name="Freeform 1084">
                <a:extLst>
                  <a:ext uri="{FF2B5EF4-FFF2-40B4-BE49-F238E27FC236}">
                    <a16:creationId xmlns:a16="http://schemas.microsoft.com/office/drawing/2014/main" id="{9B793DCC-1324-9F65-3A15-AE3C62E0CA5D}"/>
                  </a:ext>
                </a:extLst>
              </p:cNvPr>
              <p:cNvSpPr/>
              <p:nvPr/>
            </p:nvSpPr>
            <p:spPr>
              <a:xfrm>
                <a:off x="8151949" y="2801906"/>
                <a:ext cx="92108" cy="26429"/>
              </a:xfrm>
              <a:custGeom>
                <a:avLst/>
                <a:gdLst>
                  <a:gd name="connsiteX0" fmla="*/ 9927 w 71066"/>
                  <a:gd name="connsiteY0" fmla="*/ 0 h 20391"/>
                  <a:gd name="connsiteX1" fmla="*/ 60870 w 71066"/>
                  <a:gd name="connsiteY1" fmla="*/ 0 h 20391"/>
                  <a:gd name="connsiteX2" fmla="*/ 71066 w 71066"/>
                  <a:gd name="connsiteY2" fmla="*/ 10196 h 20391"/>
                  <a:gd name="connsiteX3" fmla="*/ 60870 w 71066"/>
                  <a:gd name="connsiteY3" fmla="*/ 20391 h 20391"/>
                  <a:gd name="connsiteX4" fmla="*/ 9927 w 71066"/>
                  <a:gd name="connsiteY4" fmla="*/ 20391 h 20391"/>
                  <a:gd name="connsiteX5" fmla="*/ 532 w 71066"/>
                  <a:gd name="connsiteY5" fmla="*/ 14164 h 20391"/>
                  <a:gd name="connsiteX6" fmla="*/ 532 w 71066"/>
                  <a:gd name="connsiteY6" fmla="*/ 6227 h 20391"/>
                  <a:gd name="connsiteX7" fmla="*/ 9927 w 71066"/>
                  <a:gd name="connsiteY7" fmla="*/ 0 h 20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1066" h="20391">
                    <a:moveTo>
                      <a:pt x="9927" y="0"/>
                    </a:moveTo>
                    <a:lnTo>
                      <a:pt x="60870" y="0"/>
                    </a:lnTo>
                    <a:cubicBezTo>
                      <a:pt x="66501" y="0"/>
                      <a:pt x="71066" y="4565"/>
                      <a:pt x="71066" y="10196"/>
                    </a:cubicBezTo>
                    <a:cubicBezTo>
                      <a:pt x="71066" y="15827"/>
                      <a:pt x="66501" y="20391"/>
                      <a:pt x="60870" y="20391"/>
                    </a:cubicBezTo>
                    <a:lnTo>
                      <a:pt x="9927" y="20391"/>
                    </a:lnTo>
                    <a:cubicBezTo>
                      <a:pt x="5703" y="20391"/>
                      <a:pt x="2080" y="17824"/>
                      <a:pt x="532" y="14164"/>
                    </a:cubicBezTo>
                    <a:cubicBezTo>
                      <a:pt x="-29" y="10676"/>
                      <a:pt x="-310" y="9434"/>
                      <a:pt x="532" y="6227"/>
                    </a:cubicBezTo>
                    <a:cubicBezTo>
                      <a:pt x="2080" y="2568"/>
                      <a:pt x="5703" y="0"/>
                      <a:pt x="99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6" name="Freeform 1085">
                <a:extLst>
                  <a:ext uri="{FF2B5EF4-FFF2-40B4-BE49-F238E27FC236}">
                    <a16:creationId xmlns:a16="http://schemas.microsoft.com/office/drawing/2014/main" id="{21EA0700-57F6-011E-15D6-5818DF92957D}"/>
                  </a:ext>
                </a:extLst>
              </p:cNvPr>
              <p:cNvSpPr/>
              <p:nvPr/>
            </p:nvSpPr>
            <p:spPr>
              <a:xfrm>
                <a:off x="8136251" y="2912185"/>
                <a:ext cx="83896" cy="55394"/>
              </a:xfrm>
              <a:custGeom>
                <a:avLst/>
                <a:gdLst>
                  <a:gd name="connsiteX0" fmla="*/ 4775 w 64730"/>
                  <a:gd name="connsiteY0" fmla="*/ 752 h 42739"/>
                  <a:gd name="connsiteX1" fmla="*/ 12566 w 64730"/>
                  <a:gd name="connsiteY1" fmla="*/ 789 h 42739"/>
                  <a:gd name="connsiteX2" fmla="*/ 60305 w 64730"/>
                  <a:gd name="connsiteY2" fmla="*/ 26805 h 42739"/>
                  <a:gd name="connsiteX3" fmla="*/ 63694 w 64730"/>
                  <a:gd name="connsiteY3" fmla="*/ 38314 h 42739"/>
                  <a:gd name="connsiteX4" fmla="*/ 52185 w 64730"/>
                  <a:gd name="connsiteY4" fmla="*/ 41703 h 42739"/>
                  <a:gd name="connsiteX5" fmla="*/ 4446 w 64730"/>
                  <a:gd name="connsiteY5" fmla="*/ 15687 h 42739"/>
                  <a:gd name="connsiteX6" fmla="*/ 1057 w 64730"/>
                  <a:gd name="connsiteY6" fmla="*/ 4178 h 42739"/>
                  <a:gd name="connsiteX7" fmla="*/ 4775 w 64730"/>
                  <a:gd name="connsiteY7" fmla="*/ 752 h 42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730" h="42739">
                    <a:moveTo>
                      <a:pt x="4775" y="752"/>
                    </a:moveTo>
                    <a:cubicBezTo>
                      <a:pt x="6845" y="-110"/>
                      <a:pt x="9593" y="-395"/>
                      <a:pt x="12566" y="789"/>
                    </a:cubicBezTo>
                    <a:lnTo>
                      <a:pt x="60305" y="26805"/>
                    </a:lnTo>
                    <a:cubicBezTo>
                      <a:pt x="64419" y="29047"/>
                      <a:pt x="65936" y="34199"/>
                      <a:pt x="63694" y="38314"/>
                    </a:cubicBezTo>
                    <a:cubicBezTo>
                      <a:pt x="61452" y="42428"/>
                      <a:pt x="56300" y="43945"/>
                      <a:pt x="52185" y="41703"/>
                    </a:cubicBezTo>
                    <a:lnTo>
                      <a:pt x="4446" y="15687"/>
                    </a:lnTo>
                    <a:cubicBezTo>
                      <a:pt x="135" y="13362"/>
                      <a:pt x="-1139" y="6942"/>
                      <a:pt x="1057" y="4178"/>
                    </a:cubicBezTo>
                    <a:cubicBezTo>
                      <a:pt x="1315" y="3054"/>
                      <a:pt x="2705" y="1615"/>
                      <a:pt x="4775" y="752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7" name="Freeform 1086">
                <a:extLst>
                  <a:ext uri="{FF2B5EF4-FFF2-40B4-BE49-F238E27FC236}">
                    <a16:creationId xmlns:a16="http://schemas.microsoft.com/office/drawing/2014/main" id="{599E2C87-6635-DA4F-8137-F495A62D8384}"/>
                  </a:ext>
                </a:extLst>
              </p:cNvPr>
              <p:cNvSpPr/>
              <p:nvPr/>
            </p:nvSpPr>
            <p:spPr>
              <a:xfrm>
                <a:off x="7714896" y="2913795"/>
                <a:ext cx="84338" cy="57715"/>
              </a:xfrm>
              <a:custGeom>
                <a:avLst/>
                <a:gdLst>
                  <a:gd name="connsiteX0" fmla="*/ 57922 w 65071"/>
                  <a:gd name="connsiteY0" fmla="*/ 409 h 44530"/>
                  <a:gd name="connsiteX1" fmla="*/ 63855 w 65071"/>
                  <a:gd name="connsiteY1" fmla="*/ 5198 h 44530"/>
                  <a:gd name="connsiteX2" fmla="*/ 59874 w 65071"/>
                  <a:gd name="connsiteY2" fmla="*/ 18713 h 44530"/>
                  <a:gd name="connsiteX3" fmla="*/ 14732 w 65071"/>
                  <a:gd name="connsiteY3" fmla="*/ 43314 h 44530"/>
                  <a:gd name="connsiteX4" fmla="*/ 1217 w 65071"/>
                  <a:gd name="connsiteY4" fmla="*/ 39333 h 44530"/>
                  <a:gd name="connsiteX5" fmla="*/ 5198 w 65071"/>
                  <a:gd name="connsiteY5" fmla="*/ 25818 h 44530"/>
                  <a:gd name="connsiteX6" fmla="*/ 50340 w 65071"/>
                  <a:gd name="connsiteY6" fmla="*/ 1217 h 44530"/>
                  <a:gd name="connsiteX7" fmla="*/ 57922 w 65071"/>
                  <a:gd name="connsiteY7" fmla="*/ 409 h 44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071" h="44530">
                    <a:moveTo>
                      <a:pt x="57922" y="409"/>
                    </a:moveTo>
                    <a:cubicBezTo>
                      <a:pt x="60367" y="1129"/>
                      <a:pt x="62538" y="2782"/>
                      <a:pt x="63855" y="5198"/>
                    </a:cubicBezTo>
                    <a:cubicBezTo>
                      <a:pt x="66488" y="10029"/>
                      <a:pt x="64705" y="16080"/>
                      <a:pt x="59874" y="18713"/>
                    </a:cubicBezTo>
                    <a:lnTo>
                      <a:pt x="14732" y="43314"/>
                    </a:lnTo>
                    <a:cubicBezTo>
                      <a:pt x="9901" y="45947"/>
                      <a:pt x="3850" y="44164"/>
                      <a:pt x="1217" y="39333"/>
                    </a:cubicBezTo>
                    <a:cubicBezTo>
                      <a:pt x="-1416" y="34502"/>
                      <a:pt x="366" y="28451"/>
                      <a:pt x="5198" y="25818"/>
                    </a:cubicBezTo>
                    <a:lnTo>
                      <a:pt x="50340" y="1217"/>
                    </a:lnTo>
                    <a:cubicBezTo>
                      <a:pt x="52756" y="-99"/>
                      <a:pt x="55476" y="-312"/>
                      <a:pt x="57922" y="40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8" name="Freeform 1087">
                <a:extLst>
                  <a:ext uri="{FF2B5EF4-FFF2-40B4-BE49-F238E27FC236}">
                    <a16:creationId xmlns:a16="http://schemas.microsoft.com/office/drawing/2014/main" id="{A7570891-EF4C-BC5A-A2D8-15A82117F052}"/>
                  </a:ext>
                </a:extLst>
              </p:cNvPr>
              <p:cNvSpPr/>
              <p:nvPr/>
            </p:nvSpPr>
            <p:spPr>
              <a:xfrm>
                <a:off x="7888095" y="2978586"/>
                <a:ext cx="160562" cy="26960"/>
              </a:xfrm>
              <a:custGeom>
                <a:avLst/>
                <a:gdLst>
                  <a:gd name="connsiteX0" fmla="*/ 10401 w 123882"/>
                  <a:gd name="connsiteY0" fmla="*/ 0 h 20801"/>
                  <a:gd name="connsiteX1" fmla="*/ 113482 w 123882"/>
                  <a:gd name="connsiteY1" fmla="*/ 0 h 20801"/>
                  <a:gd name="connsiteX2" fmla="*/ 123882 w 123882"/>
                  <a:gd name="connsiteY2" fmla="*/ 10400 h 20801"/>
                  <a:gd name="connsiteX3" fmla="*/ 113482 w 123882"/>
                  <a:gd name="connsiteY3" fmla="*/ 20801 h 20801"/>
                  <a:gd name="connsiteX4" fmla="*/ 10401 w 123882"/>
                  <a:gd name="connsiteY4" fmla="*/ 20801 h 20801"/>
                  <a:gd name="connsiteX5" fmla="*/ 0 w 123882"/>
                  <a:gd name="connsiteY5" fmla="*/ 10400 h 20801"/>
                  <a:gd name="connsiteX6" fmla="*/ 10401 w 123882"/>
                  <a:gd name="connsiteY6" fmla="*/ 0 h 20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3882" h="20801">
                    <a:moveTo>
                      <a:pt x="10401" y="0"/>
                    </a:moveTo>
                    <a:lnTo>
                      <a:pt x="113482" y="0"/>
                    </a:lnTo>
                    <a:cubicBezTo>
                      <a:pt x="119226" y="0"/>
                      <a:pt x="123882" y="4656"/>
                      <a:pt x="123882" y="10400"/>
                    </a:cubicBezTo>
                    <a:cubicBezTo>
                      <a:pt x="123882" y="16144"/>
                      <a:pt x="119226" y="20801"/>
                      <a:pt x="113482" y="20801"/>
                    </a:cubicBezTo>
                    <a:lnTo>
                      <a:pt x="10401" y="20801"/>
                    </a:lnTo>
                    <a:cubicBezTo>
                      <a:pt x="4657" y="20801"/>
                      <a:pt x="0" y="16144"/>
                      <a:pt x="0" y="10400"/>
                    </a:cubicBezTo>
                    <a:cubicBezTo>
                      <a:pt x="0" y="4656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9" name="Freeform 1088">
                <a:extLst>
                  <a:ext uri="{FF2B5EF4-FFF2-40B4-BE49-F238E27FC236}">
                    <a16:creationId xmlns:a16="http://schemas.microsoft.com/office/drawing/2014/main" id="{354771DD-11DF-364F-4163-EF29DA58FE3D}"/>
                  </a:ext>
                </a:extLst>
              </p:cNvPr>
              <p:cNvSpPr/>
              <p:nvPr/>
            </p:nvSpPr>
            <p:spPr>
              <a:xfrm>
                <a:off x="7897777" y="3026998"/>
                <a:ext cx="139594" cy="39243"/>
              </a:xfrm>
              <a:custGeom>
                <a:avLst/>
                <a:gdLst>
                  <a:gd name="connsiteX0" fmla="*/ 10401 w 107704"/>
                  <a:gd name="connsiteY0" fmla="*/ 0 h 30278"/>
                  <a:gd name="connsiteX1" fmla="*/ 97303 w 107704"/>
                  <a:gd name="connsiteY1" fmla="*/ 0 h 30278"/>
                  <a:gd name="connsiteX2" fmla="*/ 107704 w 107704"/>
                  <a:gd name="connsiteY2" fmla="*/ 10401 h 30278"/>
                  <a:gd name="connsiteX3" fmla="*/ 101351 w 107704"/>
                  <a:gd name="connsiteY3" fmla="*/ 19984 h 30278"/>
                  <a:gd name="connsiteX4" fmla="*/ 99383 w 107704"/>
                  <a:gd name="connsiteY4" fmla="*/ 20381 h 30278"/>
                  <a:gd name="connsiteX5" fmla="*/ 99383 w 107704"/>
                  <a:gd name="connsiteY5" fmla="*/ 22650 h 30278"/>
                  <a:gd name="connsiteX6" fmla="*/ 91756 w 107704"/>
                  <a:gd name="connsiteY6" fmla="*/ 30278 h 30278"/>
                  <a:gd name="connsiteX7" fmla="*/ 16410 w 107704"/>
                  <a:gd name="connsiteY7" fmla="*/ 30278 h 30278"/>
                  <a:gd name="connsiteX8" fmla="*/ 8783 w 107704"/>
                  <a:gd name="connsiteY8" fmla="*/ 22650 h 30278"/>
                  <a:gd name="connsiteX9" fmla="*/ 8783 w 107704"/>
                  <a:gd name="connsiteY9" fmla="*/ 20475 h 30278"/>
                  <a:gd name="connsiteX10" fmla="*/ 6352 w 107704"/>
                  <a:gd name="connsiteY10" fmla="*/ 19984 h 30278"/>
                  <a:gd name="connsiteX11" fmla="*/ 0 w 107704"/>
                  <a:gd name="connsiteY11" fmla="*/ 10401 h 30278"/>
                  <a:gd name="connsiteX12" fmla="*/ 10401 w 107704"/>
                  <a:gd name="connsiteY12" fmla="*/ 0 h 3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7704" h="30278">
                    <a:moveTo>
                      <a:pt x="10401" y="0"/>
                    </a:moveTo>
                    <a:lnTo>
                      <a:pt x="97303" y="0"/>
                    </a:lnTo>
                    <a:cubicBezTo>
                      <a:pt x="103047" y="0"/>
                      <a:pt x="107704" y="4657"/>
                      <a:pt x="107704" y="10401"/>
                    </a:cubicBezTo>
                    <a:cubicBezTo>
                      <a:pt x="107704" y="14709"/>
                      <a:pt x="105084" y="18405"/>
                      <a:pt x="101351" y="19984"/>
                    </a:cubicBezTo>
                    <a:lnTo>
                      <a:pt x="99383" y="20381"/>
                    </a:lnTo>
                    <a:lnTo>
                      <a:pt x="99383" y="22650"/>
                    </a:lnTo>
                    <a:cubicBezTo>
                      <a:pt x="99383" y="26863"/>
                      <a:pt x="95968" y="30278"/>
                      <a:pt x="91756" y="30278"/>
                    </a:cubicBezTo>
                    <a:lnTo>
                      <a:pt x="16410" y="30278"/>
                    </a:lnTo>
                    <a:cubicBezTo>
                      <a:pt x="12198" y="30278"/>
                      <a:pt x="8783" y="26863"/>
                      <a:pt x="8783" y="22650"/>
                    </a:cubicBezTo>
                    <a:lnTo>
                      <a:pt x="8783" y="20475"/>
                    </a:lnTo>
                    <a:lnTo>
                      <a:pt x="6352" y="19984"/>
                    </a:lnTo>
                    <a:cubicBezTo>
                      <a:pt x="2619" y="18405"/>
                      <a:pt x="0" y="14709"/>
                      <a:pt x="0" y="10401"/>
                    </a:cubicBezTo>
                    <a:cubicBezTo>
                      <a:pt x="0" y="4657"/>
                      <a:pt x="4657" y="0"/>
                      <a:pt x="10401" y="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013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C1286696-63AD-077E-1538-BB40E182127E}"/>
                </a:ext>
              </a:extLst>
            </p:cNvPr>
            <p:cNvSpPr/>
            <p:nvPr/>
          </p:nvSpPr>
          <p:spPr>
            <a:xfrm rot="2229610">
              <a:off x="5406036" y="2265708"/>
              <a:ext cx="169806" cy="181629"/>
            </a:xfrm>
            <a:prstGeom prst="ellipse">
              <a:avLst/>
            </a:prstGeom>
            <a:solidFill>
              <a:srgbClr val="02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296C4231-BA74-F663-CD43-C570B3812409}"/>
                </a:ext>
              </a:extLst>
            </p:cNvPr>
            <p:cNvSpPr/>
            <p:nvPr/>
          </p:nvSpPr>
          <p:spPr>
            <a:xfrm rot="2229610">
              <a:off x="5277971" y="2510223"/>
              <a:ext cx="94556" cy="83891"/>
            </a:xfrm>
            <a:prstGeom prst="ellipse">
              <a:avLst/>
            </a:prstGeom>
            <a:solidFill>
              <a:srgbClr val="029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9A52DD9-4F0E-CFB5-151A-37AE02A8A0AD}"/>
              </a:ext>
            </a:extLst>
          </p:cNvPr>
          <p:cNvGrpSpPr/>
          <p:nvPr/>
        </p:nvGrpSpPr>
        <p:grpSpPr>
          <a:xfrm>
            <a:off x="4485023" y="4053979"/>
            <a:ext cx="4392871" cy="1219358"/>
            <a:chOff x="1792204" y="3988682"/>
            <a:chExt cx="4392871" cy="1219358"/>
          </a:xfrm>
        </p:grpSpPr>
        <p:sp>
          <p:nvSpPr>
            <p:cNvPr id="18" name="Rounded Rectangular Callout 17">
              <a:extLst>
                <a:ext uri="{FF2B5EF4-FFF2-40B4-BE49-F238E27FC236}">
                  <a16:creationId xmlns:a16="http://schemas.microsoft.com/office/drawing/2014/main" id="{98231C14-8455-6D7D-6460-FCED74E24CD0}"/>
                </a:ext>
              </a:extLst>
            </p:cNvPr>
            <p:cNvSpPr/>
            <p:nvPr/>
          </p:nvSpPr>
          <p:spPr>
            <a:xfrm>
              <a:off x="1792204" y="4570534"/>
              <a:ext cx="4392871" cy="637506"/>
            </a:xfrm>
            <a:prstGeom prst="wedgeRoundRectCallout">
              <a:avLst>
                <a:gd name="adj1" fmla="val 28683"/>
                <a:gd name="adj2" fmla="val -14960"/>
                <a:gd name="adj3" fmla="val 16667"/>
              </a:avLst>
            </a:prstGeom>
            <a:solidFill>
              <a:schemeClr val="tx1"/>
            </a:solidFill>
            <a:ln w="28575">
              <a:solidFill>
                <a:srgbClr val="0299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</a:rPr>
                <a:t>Throughput up to </a:t>
              </a:r>
              <a:r>
                <a:rPr lang="en-US" sz="1600" dirty="0">
                  <a:solidFill>
                    <a:srgbClr val="0299FF"/>
                  </a:solidFill>
                  <a:latin typeface="Raleway" pitchFamily="2" charset="77"/>
                </a:rPr>
                <a:t>7M I/O admissions 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</a:rPr>
                <a:t>per second on single-core CPU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937FC01-72F0-EF33-8DF5-D580494FDCCF}"/>
                </a:ext>
              </a:extLst>
            </p:cNvPr>
            <p:cNvSpPr/>
            <p:nvPr/>
          </p:nvSpPr>
          <p:spPr>
            <a:xfrm>
              <a:off x="5628705" y="3988682"/>
              <a:ext cx="522226" cy="345392"/>
            </a:xfrm>
            <a:prstGeom prst="ellipse">
              <a:avLst/>
            </a:prstGeom>
            <a:noFill/>
            <a:ln w="28575">
              <a:solidFill>
                <a:srgbClr val="02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E234531-D0C1-E975-EA4A-315C569D7C2D}"/>
              </a:ext>
            </a:extLst>
          </p:cNvPr>
          <p:cNvGrpSpPr/>
          <p:nvPr/>
        </p:nvGrpSpPr>
        <p:grpSpPr>
          <a:xfrm>
            <a:off x="4115622" y="2992332"/>
            <a:ext cx="1813826" cy="1536185"/>
            <a:chOff x="4589724" y="3028060"/>
            <a:chExt cx="1813826" cy="1536185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4DC2BE6F-F244-C13A-08AF-F741AFB6B6D9}"/>
                </a:ext>
              </a:extLst>
            </p:cNvPr>
            <p:cNvSpPr/>
            <p:nvPr/>
          </p:nvSpPr>
          <p:spPr>
            <a:xfrm rot="16200000">
              <a:off x="4448983" y="3429097"/>
              <a:ext cx="494586" cy="213103"/>
            </a:xfrm>
            <a:prstGeom prst="rightArrow">
              <a:avLst/>
            </a:prstGeom>
            <a:gradFill flip="none" rotWithShape="1">
              <a:gsLst>
                <a:gs pos="9000">
                  <a:srgbClr val="FF0000"/>
                </a:gs>
                <a:gs pos="47000">
                  <a:srgbClr val="FFC000"/>
                </a:gs>
                <a:gs pos="99000">
                  <a:srgbClr val="02FE2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E187D3-667F-BCA0-C5AA-BE0372C04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799090" y="3028060"/>
              <a:ext cx="1604460" cy="1536185"/>
            </a:xfrm>
            <a:prstGeom prst="rect">
              <a:avLst/>
            </a:prstGeom>
          </p:spPr>
        </p:pic>
      </p:grpSp>
      <p:sp>
        <p:nvSpPr>
          <p:cNvPr id="15" name="Right Arrow 14">
            <a:extLst>
              <a:ext uri="{FF2B5EF4-FFF2-40B4-BE49-F238E27FC236}">
                <a16:creationId xmlns:a16="http://schemas.microsoft.com/office/drawing/2014/main" id="{636FBC70-E406-0AA0-8C63-88565E6EDE80}"/>
              </a:ext>
            </a:extLst>
          </p:cNvPr>
          <p:cNvSpPr/>
          <p:nvPr/>
        </p:nvSpPr>
        <p:spPr>
          <a:xfrm rot="5400000">
            <a:off x="5869368" y="3403627"/>
            <a:ext cx="494586" cy="213103"/>
          </a:xfrm>
          <a:prstGeom prst="rightArrow">
            <a:avLst/>
          </a:prstGeom>
          <a:gradFill flip="none" rotWithShape="1">
            <a:gsLst>
              <a:gs pos="9000">
                <a:srgbClr val="FF0000"/>
              </a:gs>
              <a:gs pos="47000">
                <a:srgbClr val="FFC000"/>
              </a:gs>
              <a:gs pos="99000">
                <a:srgbClr val="02FE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1F1D70-21E9-E8C6-2913-2EA70AEF9E4E}"/>
              </a:ext>
            </a:extLst>
          </p:cNvPr>
          <p:cNvSpPr/>
          <p:nvPr/>
        </p:nvSpPr>
        <p:spPr>
          <a:xfrm>
            <a:off x="6530583" y="2819197"/>
            <a:ext cx="377391" cy="2024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AFF153-3BAE-CFEA-829C-DE313E61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693CB3-E4CB-194D-66C4-DA038B167B09}"/>
              </a:ext>
            </a:extLst>
          </p:cNvPr>
          <p:cNvGrpSpPr/>
          <p:nvPr/>
        </p:nvGrpSpPr>
        <p:grpSpPr>
          <a:xfrm>
            <a:off x="2253858" y="3552263"/>
            <a:ext cx="1929626" cy="2027378"/>
            <a:chOff x="2253858" y="3552263"/>
            <a:chExt cx="1929626" cy="2027378"/>
          </a:xfrm>
        </p:grpSpPr>
        <p:pic>
          <p:nvPicPr>
            <p:cNvPr id="18482" name="Picture 18481">
              <a:extLst>
                <a:ext uri="{FF2B5EF4-FFF2-40B4-BE49-F238E27FC236}">
                  <a16:creationId xmlns:a16="http://schemas.microsoft.com/office/drawing/2014/main" id="{DF7EE115-E8ED-12D0-74DB-A693DC9B9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55498" y="3552264"/>
              <a:ext cx="464564" cy="589251"/>
            </a:xfrm>
            <a:prstGeom prst="rect">
              <a:avLst/>
            </a:prstGeom>
          </p:spPr>
        </p:pic>
        <p:grpSp>
          <p:nvGrpSpPr>
            <p:cNvPr id="18483" name="Group 18482">
              <a:extLst>
                <a:ext uri="{FF2B5EF4-FFF2-40B4-BE49-F238E27FC236}">
                  <a16:creationId xmlns:a16="http://schemas.microsoft.com/office/drawing/2014/main" id="{9573130D-F96B-7D34-9848-5CC57FBF585E}"/>
                </a:ext>
              </a:extLst>
            </p:cNvPr>
            <p:cNvGrpSpPr/>
            <p:nvPr/>
          </p:nvGrpSpPr>
          <p:grpSpPr>
            <a:xfrm>
              <a:off x="2312506" y="4888333"/>
              <a:ext cx="1798089" cy="691308"/>
              <a:chOff x="5945263" y="3447811"/>
              <a:chExt cx="1798089" cy="691308"/>
            </a:xfrm>
          </p:grpSpPr>
          <p:pic>
            <p:nvPicPr>
              <p:cNvPr id="18484" name="Picture 18483">
                <a:extLst>
                  <a:ext uri="{FF2B5EF4-FFF2-40B4-BE49-F238E27FC236}">
                    <a16:creationId xmlns:a16="http://schemas.microsoft.com/office/drawing/2014/main" id="{D1404311-32B8-354A-A790-EAFEE976A9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83581" y="3447811"/>
                <a:ext cx="559771" cy="690032"/>
              </a:xfrm>
              <a:prstGeom prst="rect">
                <a:avLst/>
              </a:prstGeom>
            </p:spPr>
          </p:pic>
          <p:pic>
            <p:nvPicPr>
              <p:cNvPr id="18485" name="Picture 18484">
                <a:extLst>
                  <a:ext uri="{FF2B5EF4-FFF2-40B4-BE49-F238E27FC236}">
                    <a16:creationId xmlns:a16="http://schemas.microsoft.com/office/drawing/2014/main" id="{5BADED9B-9333-68D2-567B-01D6CAC36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5263" y="3449087"/>
                <a:ext cx="559771" cy="690032"/>
              </a:xfrm>
              <a:prstGeom prst="rect">
                <a:avLst/>
              </a:prstGeom>
            </p:spPr>
          </p:pic>
        </p:grpSp>
        <p:pic>
          <p:nvPicPr>
            <p:cNvPr id="18486" name="Picture 18485">
              <a:extLst>
                <a:ext uri="{FF2B5EF4-FFF2-40B4-BE49-F238E27FC236}">
                  <a16:creationId xmlns:a16="http://schemas.microsoft.com/office/drawing/2014/main" id="{322A8976-07F9-5AAB-C669-9F9706E82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6598" y="3552263"/>
              <a:ext cx="464564" cy="589251"/>
            </a:xfrm>
            <a:prstGeom prst="rect">
              <a:avLst/>
            </a:prstGeom>
          </p:spPr>
        </p:pic>
        <p:cxnSp>
          <p:nvCxnSpPr>
            <p:cNvPr id="18487" name="Straight Arrow Connector 18486">
              <a:extLst>
                <a:ext uri="{FF2B5EF4-FFF2-40B4-BE49-F238E27FC236}">
                  <a16:creationId xmlns:a16="http://schemas.microsoft.com/office/drawing/2014/main" id="{024FA0CE-F0AF-4440-3744-F334DB6659EC}"/>
                </a:ext>
              </a:extLst>
            </p:cNvPr>
            <p:cNvCxnSpPr>
              <a:cxnSpLocks/>
              <a:endCxn id="18484" idx="0"/>
            </p:cNvCxnSpPr>
            <p:nvPr/>
          </p:nvCxnSpPr>
          <p:spPr>
            <a:xfrm>
              <a:off x="3494435" y="4166773"/>
              <a:ext cx="336275" cy="721560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8" name="Straight Arrow Connector 18487">
              <a:extLst>
                <a:ext uri="{FF2B5EF4-FFF2-40B4-BE49-F238E27FC236}">
                  <a16:creationId xmlns:a16="http://schemas.microsoft.com/office/drawing/2014/main" id="{F56C0D96-7AED-3EC6-CF9C-88376A7E3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6275" y="4162884"/>
              <a:ext cx="336275" cy="721560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9" name="Curved Connector 18488">
              <a:extLst>
                <a:ext uri="{FF2B5EF4-FFF2-40B4-BE49-F238E27FC236}">
                  <a16:creationId xmlns:a16="http://schemas.microsoft.com/office/drawing/2014/main" id="{FEDD71D6-EDF6-358F-BD71-5CFE7A92FF6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85873" y="4192145"/>
              <a:ext cx="717671" cy="66692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90" name="TextBox 18489">
              <a:extLst>
                <a:ext uri="{FF2B5EF4-FFF2-40B4-BE49-F238E27FC236}">
                  <a16:creationId xmlns:a16="http://schemas.microsoft.com/office/drawing/2014/main" id="{2BCB7968-B6B5-3CC4-9828-67A0E946ED96}"/>
                </a:ext>
              </a:extLst>
            </p:cNvPr>
            <p:cNvSpPr txBox="1"/>
            <p:nvPr/>
          </p:nvSpPr>
          <p:spPr>
            <a:xfrm>
              <a:off x="2711343" y="4521513"/>
              <a:ext cx="1059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  <a:latin typeface="Raleway" pitchFamily="2" charset="77"/>
                  <a:ea typeface="Gill Sans" charset="0"/>
                  <a:cs typeface="Gill Sans" charset="0"/>
                </a:rPr>
                <a:t>Can reroute</a:t>
              </a:r>
            </a:p>
          </p:txBody>
        </p:sp>
        <p:cxnSp>
          <p:nvCxnSpPr>
            <p:cNvPr id="18491" name="Curved Connector 18490">
              <a:extLst>
                <a:ext uri="{FF2B5EF4-FFF2-40B4-BE49-F238E27FC236}">
                  <a16:creationId xmlns:a16="http://schemas.microsoft.com/office/drawing/2014/main" id="{9F9D9B46-1F60-B60B-DCEA-B57620CF73F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45161" y="4190201"/>
              <a:ext cx="717671" cy="66692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1" name="TextBox 18510">
              <a:extLst>
                <a:ext uri="{FF2B5EF4-FFF2-40B4-BE49-F238E27FC236}">
                  <a16:creationId xmlns:a16="http://schemas.microsoft.com/office/drawing/2014/main" id="{224FB485-73A9-7189-2A61-A30C3D62161D}"/>
                </a:ext>
              </a:extLst>
            </p:cNvPr>
            <p:cNvSpPr txBox="1"/>
            <p:nvPr/>
          </p:nvSpPr>
          <p:spPr>
            <a:xfrm>
              <a:off x="2253858" y="4265950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12" name="TextBox 18511">
              <a:extLst>
                <a:ext uri="{FF2B5EF4-FFF2-40B4-BE49-F238E27FC236}">
                  <a16:creationId xmlns:a16="http://schemas.microsoft.com/office/drawing/2014/main" id="{6ACA3D22-278F-9F11-FB13-1F5D1359F17A}"/>
                </a:ext>
              </a:extLst>
            </p:cNvPr>
            <p:cNvSpPr txBox="1"/>
            <p:nvPr/>
          </p:nvSpPr>
          <p:spPr>
            <a:xfrm>
              <a:off x="3623715" y="4265949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E92984B-E0DE-71C2-1EB4-17B9384A1982}"/>
              </a:ext>
            </a:extLst>
          </p:cNvPr>
          <p:cNvGrpSpPr/>
          <p:nvPr/>
        </p:nvGrpSpPr>
        <p:grpSpPr>
          <a:xfrm>
            <a:off x="274202" y="1433902"/>
            <a:ext cx="1631022" cy="2030840"/>
            <a:chOff x="274202" y="1433902"/>
            <a:chExt cx="1631022" cy="2030840"/>
          </a:xfrm>
        </p:grpSpPr>
        <p:sp>
          <p:nvSpPr>
            <p:cNvPr id="18437" name="TextBox 18436">
              <a:extLst>
                <a:ext uri="{FF2B5EF4-FFF2-40B4-BE49-F238E27FC236}">
                  <a16:creationId xmlns:a16="http://schemas.microsoft.com/office/drawing/2014/main" id="{5A756B4D-7F5C-0031-DEAA-B501F5733D0B}"/>
                </a:ext>
              </a:extLst>
            </p:cNvPr>
            <p:cNvSpPr txBox="1"/>
            <p:nvPr/>
          </p:nvSpPr>
          <p:spPr>
            <a:xfrm>
              <a:off x="274202" y="3095410"/>
              <a:ext cx="15878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</a:rPr>
                <a:t>C++ Clients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A620779-10C5-CB63-8D9C-DA141C4BA856}"/>
                </a:ext>
              </a:extLst>
            </p:cNvPr>
            <p:cNvCxnSpPr>
              <a:cxnSpLocks/>
              <a:endCxn id="18437" idx="0"/>
            </p:cNvCxnSpPr>
            <p:nvPr/>
          </p:nvCxnSpPr>
          <p:spPr>
            <a:xfrm>
              <a:off x="1065970" y="2179612"/>
              <a:ext cx="2180" cy="915798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6" name="TextBox 18515">
              <a:extLst>
                <a:ext uri="{FF2B5EF4-FFF2-40B4-BE49-F238E27FC236}">
                  <a16:creationId xmlns:a16="http://schemas.microsoft.com/office/drawing/2014/main" id="{3732487F-E447-660D-4AE5-30237DA7F4B8}"/>
                </a:ext>
              </a:extLst>
            </p:cNvPr>
            <p:cNvSpPr txBox="1"/>
            <p:nvPr/>
          </p:nvSpPr>
          <p:spPr>
            <a:xfrm rot="5400000">
              <a:off x="772301" y="2479292"/>
              <a:ext cx="9557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Trace file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20" name="Rounded Rectangular Callout 18519">
              <a:extLst>
                <a:ext uri="{FF2B5EF4-FFF2-40B4-BE49-F238E27FC236}">
                  <a16:creationId xmlns:a16="http://schemas.microsoft.com/office/drawing/2014/main" id="{828373E2-706D-88AB-AADA-87162FC46AB2}"/>
                </a:ext>
              </a:extLst>
            </p:cNvPr>
            <p:cNvSpPr/>
            <p:nvPr/>
          </p:nvSpPr>
          <p:spPr>
            <a:xfrm>
              <a:off x="441859" y="1433902"/>
              <a:ext cx="1463365" cy="650574"/>
            </a:xfrm>
            <a:prstGeom prst="wedgeRoundRectCallout">
              <a:avLst>
                <a:gd name="adj1" fmla="val -31970"/>
                <a:gd name="adj2" fmla="val 20475"/>
                <a:gd name="adj3" fmla="val 16667"/>
              </a:avLst>
            </a:prstGeom>
            <a:solidFill>
              <a:schemeClr val="tx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  <a:cs typeface="Gill Sans" panose="020B0502020104020203" pitchFamily="34" charset="-79"/>
                </a:rPr>
                <a:t>Production traces</a:t>
              </a:r>
            </a:p>
          </p:txBody>
        </p:sp>
      </p:grpSp>
      <p:sp>
        <p:nvSpPr>
          <p:cNvPr id="18523" name="Rounded Rectangular Callout 18522">
            <a:extLst>
              <a:ext uri="{FF2B5EF4-FFF2-40B4-BE49-F238E27FC236}">
                <a16:creationId xmlns:a16="http://schemas.microsoft.com/office/drawing/2014/main" id="{222FECEA-4CD6-F82D-021A-ED869A563912}"/>
              </a:ext>
            </a:extLst>
          </p:cNvPr>
          <p:cNvSpPr/>
          <p:nvPr/>
        </p:nvSpPr>
        <p:spPr>
          <a:xfrm>
            <a:off x="2189208" y="1012883"/>
            <a:ext cx="2423991" cy="557542"/>
          </a:xfrm>
          <a:prstGeom prst="wedgeRoundRectCallout">
            <a:avLst>
              <a:gd name="adj1" fmla="val -61400"/>
              <a:gd name="adj2" fmla="val 53172"/>
              <a:gd name="adj3" fmla="val 16667"/>
            </a:avLst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Alibaba, MSR, Tencent </a:t>
            </a:r>
            <a:r>
              <a:rPr lang="en-US" sz="1600" b="1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Block I/O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  <a:cs typeface="Gill Sans" panose="020B0502020104020203" pitchFamily="34" charset="-79"/>
              </a:rPr>
              <a:t> traces</a:t>
            </a:r>
            <a:endParaRPr lang="en-US" sz="1600" b="1" dirty="0">
              <a:solidFill>
                <a:schemeClr val="tx1"/>
              </a:solidFill>
              <a:latin typeface="Raleway" pitchFamily="2" charset="77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483465-0B8D-B2F1-47A7-08E6B1FD79F5}"/>
              </a:ext>
            </a:extLst>
          </p:cNvPr>
          <p:cNvGrpSpPr/>
          <p:nvPr/>
        </p:nvGrpSpPr>
        <p:grpSpPr>
          <a:xfrm>
            <a:off x="6386920" y="2915630"/>
            <a:ext cx="2743586" cy="2713401"/>
            <a:chOff x="6447759" y="3001599"/>
            <a:chExt cx="2743586" cy="2713401"/>
          </a:xfrm>
        </p:grpSpPr>
        <p:sp>
          <p:nvSpPr>
            <p:cNvPr id="18525" name="TextBox 18524">
              <a:extLst>
                <a:ext uri="{FF2B5EF4-FFF2-40B4-BE49-F238E27FC236}">
                  <a16:creationId xmlns:a16="http://schemas.microsoft.com/office/drawing/2014/main" id="{FC6AC327-E143-8DD2-6218-D51590285B5D}"/>
                </a:ext>
              </a:extLst>
            </p:cNvPr>
            <p:cNvSpPr txBox="1"/>
            <p:nvPr/>
          </p:nvSpPr>
          <p:spPr>
            <a:xfrm>
              <a:off x="6542770" y="3001599"/>
              <a:ext cx="26485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Major metric:</a:t>
              </a:r>
            </a:p>
            <a:p>
              <a:r>
                <a:rPr lang="en-US" sz="18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</a:t>
              </a:r>
              <a:r>
                <a:rPr lang="en-US" sz="16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Latencies</a:t>
              </a:r>
              <a:r>
                <a:rPr lang="en-US" sz="16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of read I/</a:t>
              </a:r>
              <a:r>
                <a:rPr lang="en-US" sz="1600" dirty="0" err="1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Os</a:t>
              </a:r>
              <a:endParaRPr lang="en-US" sz="1800" dirty="0">
                <a:solidFill>
                  <a:schemeClr val="bg1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</p:txBody>
        </p:sp>
        <p:sp>
          <p:nvSpPr>
            <p:cNvPr id="18526" name="TextBox 18525">
              <a:extLst>
                <a:ext uri="{FF2B5EF4-FFF2-40B4-BE49-F238E27FC236}">
                  <a16:creationId xmlns:a16="http://schemas.microsoft.com/office/drawing/2014/main" id="{611DCA8B-77AA-9D6F-6469-E8414D360D53}"/>
                </a:ext>
              </a:extLst>
            </p:cNvPr>
            <p:cNvSpPr txBox="1"/>
            <p:nvPr/>
          </p:nvSpPr>
          <p:spPr>
            <a:xfrm>
              <a:off x="6540805" y="3726685"/>
              <a:ext cx="2543552" cy="1985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Methods compared: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1. Baseline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2. Random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3. C3 [NSDI ‘15]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    Heron [SRDS’18]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    AMS [TC’23]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4. </a:t>
              </a:r>
              <a:r>
                <a:rPr lang="en-US" sz="1500" dirty="0" err="1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LinnOS</a:t>
              </a:r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[OSDI ‘20]</a:t>
              </a:r>
            </a:p>
            <a:p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5. </a:t>
              </a:r>
              <a:r>
                <a:rPr lang="en-US" sz="1500" dirty="0" err="1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LinnOS</a:t>
              </a:r>
              <a:r>
                <a:rPr lang="en-US" sz="1500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+ Hedging p98</a:t>
              </a:r>
            </a:p>
          </p:txBody>
        </p:sp>
        <p:cxnSp>
          <p:nvCxnSpPr>
            <p:cNvPr id="18537" name="Straight Connector 18536">
              <a:extLst>
                <a:ext uri="{FF2B5EF4-FFF2-40B4-BE49-F238E27FC236}">
                  <a16:creationId xmlns:a16="http://schemas.microsoft.com/office/drawing/2014/main" id="{261F9D67-EBD6-2772-956C-EC0118AD7283}"/>
                </a:ext>
              </a:extLst>
            </p:cNvPr>
            <p:cNvCxnSpPr>
              <a:cxnSpLocks/>
            </p:cNvCxnSpPr>
            <p:nvPr/>
          </p:nvCxnSpPr>
          <p:spPr>
            <a:xfrm>
              <a:off x="6447759" y="3095383"/>
              <a:ext cx="0" cy="2619617"/>
            </a:xfrm>
            <a:prstGeom prst="line">
              <a:avLst/>
            </a:prstGeom>
            <a:ln w="28575">
              <a:solidFill>
                <a:schemeClr val="tx1">
                  <a:lumMod val="50000"/>
                </a:schemeClr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EB6B15F-89E7-0D99-D505-D9910078F80A}"/>
              </a:ext>
            </a:extLst>
          </p:cNvPr>
          <p:cNvGrpSpPr/>
          <p:nvPr/>
        </p:nvGrpSpPr>
        <p:grpSpPr>
          <a:xfrm>
            <a:off x="106813" y="3378624"/>
            <a:ext cx="1929626" cy="2201335"/>
            <a:chOff x="106813" y="3378624"/>
            <a:chExt cx="1929626" cy="220133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ED7601E-B613-1FC8-CBCB-894A8903B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082" y="3552582"/>
              <a:ext cx="464564" cy="589251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A8148F8-127D-46A2-7C80-10CBBB52B33C}"/>
                </a:ext>
              </a:extLst>
            </p:cNvPr>
            <p:cNvGrpSpPr/>
            <p:nvPr/>
          </p:nvGrpSpPr>
          <p:grpSpPr>
            <a:xfrm>
              <a:off x="148090" y="4888651"/>
              <a:ext cx="1798089" cy="691308"/>
              <a:chOff x="5945263" y="3447811"/>
              <a:chExt cx="1798089" cy="691308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CA2694E-AA0C-1E95-96CC-DCDC4A440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83581" y="3447811"/>
                <a:ext cx="559771" cy="690032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29992777-BCDB-9A5A-BE44-873DDCF5E0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5263" y="3449087"/>
                <a:ext cx="559771" cy="690032"/>
              </a:xfrm>
              <a:prstGeom prst="rect">
                <a:avLst/>
              </a:prstGeom>
            </p:spPr>
          </p:pic>
        </p:grpSp>
        <p:pic>
          <p:nvPicPr>
            <p:cNvPr id="18452" name="Picture 18451">
              <a:extLst>
                <a:ext uri="{FF2B5EF4-FFF2-40B4-BE49-F238E27FC236}">
                  <a16:creationId xmlns:a16="http://schemas.microsoft.com/office/drawing/2014/main" id="{82B91180-6D99-76E9-0B7B-91B6831AD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2182" y="3552581"/>
              <a:ext cx="464564" cy="589251"/>
            </a:xfrm>
            <a:prstGeom prst="rect">
              <a:avLst/>
            </a:prstGeom>
          </p:spPr>
        </p:pic>
        <p:cxnSp>
          <p:nvCxnSpPr>
            <p:cNvPr id="18458" name="Straight Arrow Connector 18457">
              <a:extLst>
                <a:ext uri="{FF2B5EF4-FFF2-40B4-BE49-F238E27FC236}">
                  <a16:creationId xmlns:a16="http://schemas.microsoft.com/office/drawing/2014/main" id="{67F40276-9266-8445-5AC0-2547A7BF0728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1330019" y="4167091"/>
              <a:ext cx="336275" cy="721560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2" name="Straight Arrow Connector 18461">
              <a:extLst>
                <a:ext uri="{FF2B5EF4-FFF2-40B4-BE49-F238E27FC236}">
                  <a16:creationId xmlns:a16="http://schemas.microsoft.com/office/drawing/2014/main" id="{95EDFE9D-E892-CAB9-D6EF-72DEA7E509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1859" y="4163202"/>
              <a:ext cx="336275" cy="721560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9" name="TextBox 18508">
              <a:extLst>
                <a:ext uri="{FF2B5EF4-FFF2-40B4-BE49-F238E27FC236}">
                  <a16:creationId xmlns:a16="http://schemas.microsoft.com/office/drawing/2014/main" id="{9155E01F-5847-E65C-FB20-6A66A45BA341}"/>
                </a:ext>
              </a:extLst>
            </p:cNvPr>
            <p:cNvSpPr txBox="1"/>
            <p:nvPr/>
          </p:nvSpPr>
          <p:spPr>
            <a:xfrm>
              <a:off x="106813" y="4269295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10" name="TextBox 18509">
              <a:extLst>
                <a:ext uri="{FF2B5EF4-FFF2-40B4-BE49-F238E27FC236}">
                  <a16:creationId xmlns:a16="http://schemas.microsoft.com/office/drawing/2014/main" id="{DACC2F8D-4F3B-86CE-FDC8-DFC3557B8F9F}"/>
                </a:ext>
              </a:extLst>
            </p:cNvPr>
            <p:cNvSpPr txBox="1"/>
            <p:nvPr/>
          </p:nvSpPr>
          <p:spPr>
            <a:xfrm>
              <a:off x="1476670" y="4269294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44" name="TextBox 18543">
              <a:extLst>
                <a:ext uri="{FF2B5EF4-FFF2-40B4-BE49-F238E27FC236}">
                  <a16:creationId xmlns:a16="http://schemas.microsoft.com/office/drawing/2014/main" id="{5C2A0634-2D7B-297F-59FC-0C718B3B26EE}"/>
                </a:ext>
              </a:extLst>
            </p:cNvPr>
            <p:cNvSpPr txBox="1"/>
            <p:nvPr/>
          </p:nvSpPr>
          <p:spPr>
            <a:xfrm>
              <a:off x="799084" y="3378624"/>
              <a:ext cx="558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#1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B50D94F-53D1-7642-B625-14BF262DE5C0}"/>
              </a:ext>
            </a:extLst>
          </p:cNvPr>
          <p:cNvGrpSpPr/>
          <p:nvPr/>
        </p:nvGrpSpPr>
        <p:grpSpPr>
          <a:xfrm>
            <a:off x="1940870" y="1716025"/>
            <a:ext cx="2010253" cy="2044302"/>
            <a:chOff x="1940870" y="1716025"/>
            <a:chExt cx="2010253" cy="204430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4A092B5-6F09-863F-3B10-888509BC72C7}"/>
                </a:ext>
              </a:extLst>
            </p:cNvPr>
            <p:cNvSpPr txBox="1"/>
            <p:nvPr/>
          </p:nvSpPr>
          <p:spPr>
            <a:xfrm>
              <a:off x="2742020" y="3106155"/>
              <a:ext cx="8704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</a:rPr>
                <a:t>Ceph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E2995D-D2CF-0AD3-A7F1-BBCC53ADC25B}"/>
                </a:ext>
              </a:extLst>
            </p:cNvPr>
            <p:cNvSpPr txBox="1"/>
            <p:nvPr/>
          </p:nvSpPr>
          <p:spPr>
            <a:xfrm>
              <a:off x="2441976" y="2195350"/>
              <a:ext cx="1509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</a:rPr>
                <a:t>C++ Clients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8735F2A-EE1C-1368-C991-4B61E23E0EB2}"/>
                </a:ext>
              </a:extLst>
            </p:cNvPr>
            <p:cNvCxnSpPr>
              <a:cxnSpLocks/>
            </p:cNvCxnSpPr>
            <p:nvPr/>
          </p:nvCxnSpPr>
          <p:spPr>
            <a:xfrm>
              <a:off x="1971540" y="1825619"/>
              <a:ext cx="852769" cy="393221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5B813FE-A71C-D82C-6BB9-69168649F121}"/>
                </a:ext>
              </a:extLst>
            </p:cNvPr>
            <p:cNvCxnSpPr>
              <a:cxnSpLocks/>
            </p:cNvCxnSpPr>
            <p:nvPr/>
          </p:nvCxnSpPr>
          <p:spPr>
            <a:xfrm>
              <a:off x="3166873" y="2587242"/>
              <a:ext cx="0" cy="589251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7" name="TextBox 18516">
              <a:extLst>
                <a:ext uri="{FF2B5EF4-FFF2-40B4-BE49-F238E27FC236}">
                  <a16:creationId xmlns:a16="http://schemas.microsoft.com/office/drawing/2014/main" id="{D7AFDB2A-AE5E-6646-A8C1-737F06D3C8B1}"/>
                </a:ext>
              </a:extLst>
            </p:cNvPr>
            <p:cNvSpPr txBox="1"/>
            <p:nvPr/>
          </p:nvSpPr>
          <p:spPr>
            <a:xfrm rot="1442949">
              <a:off x="1940870" y="1716025"/>
              <a:ext cx="10742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Trace file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18" name="TextBox 18517">
              <a:extLst>
                <a:ext uri="{FF2B5EF4-FFF2-40B4-BE49-F238E27FC236}">
                  <a16:creationId xmlns:a16="http://schemas.microsoft.com/office/drawing/2014/main" id="{5DDB71E8-3802-16BA-7CAD-101E9DEDF8B7}"/>
                </a:ext>
              </a:extLst>
            </p:cNvPr>
            <p:cNvSpPr txBox="1"/>
            <p:nvPr/>
          </p:nvSpPr>
          <p:spPr>
            <a:xfrm>
              <a:off x="2639386" y="2642747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45" name="TextBox 18544">
              <a:extLst>
                <a:ext uri="{FF2B5EF4-FFF2-40B4-BE49-F238E27FC236}">
                  <a16:creationId xmlns:a16="http://schemas.microsoft.com/office/drawing/2014/main" id="{D932EABF-2899-E5FA-56FE-2E5EDB991B1E}"/>
                </a:ext>
              </a:extLst>
            </p:cNvPr>
            <p:cNvSpPr txBox="1"/>
            <p:nvPr/>
          </p:nvSpPr>
          <p:spPr>
            <a:xfrm>
              <a:off x="2967769" y="3390995"/>
              <a:ext cx="558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#2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BC2EECF-8733-3FD6-1B3E-14146155F3D4}"/>
              </a:ext>
            </a:extLst>
          </p:cNvPr>
          <p:cNvGrpSpPr/>
          <p:nvPr/>
        </p:nvGrpSpPr>
        <p:grpSpPr>
          <a:xfrm>
            <a:off x="3512578" y="2581629"/>
            <a:ext cx="2843394" cy="2983698"/>
            <a:chOff x="3512578" y="2581629"/>
            <a:chExt cx="2843394" cy="2983698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B81171-1FA0-628F-F7BC-F0A0F295FE7B}"/>
                </a:ext>
              </a:extLst>
            </p:cNvPr>
            <p:cNvSpPr txBox="1"/>
            <p:nvPr/>
          </p:nvSpPr>
          <p:spPr>
            <a:xfrm>
              <a:off x="4494767" y="3116537"/>
              <a:ext cx="1861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Raleway" pitchFamily="2" charset="77"/>
                </a:rPr>
                <a:t>Linux Kernel</a:t>
              </a:r>
            </a:p>
          </p:txBody>
        </p:sp>
        <p:cxnSp>
          <p:nvCxnSpPr>
            <p:cNvPr id="18435" name="Straight Arrow Connector 18434">
              <a:extLst>
                <a:ext uri="{FF2B5EF4-FFF2-40B4-BE49-F238E27FC236}">
                  <a16:creationId xmlns:a16="http://schemas.microsoft.com/office/drawing/2014/main" id="{A97054F1-CDCB-C450-A953-A0FAD9165BBA}"/>
                </a:ext>
              </a:extLst>
            </p:cNvPr>
            <p:cNvCxnSpPr>
              <a:cxnSpLocks/>
            </p:cNvCxnSpPr>
            <p:nvPr/>
          </p:nvCxnSpPr>
          <p:spPr>
            <a:xfrm>
              <a:off x="3512578" y="2581629"/>
              <a:ext cx="1673886" cy="582649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494" name="Picture 18493">
              <a:extLst>
                <a:ext uri="{FF2B5EF4-FFF2-40B4-BE49-F238E27FC236}">
                  <a16:creationId xmlns:a16="http://schemas.microsoft.com/office/drawing/2014/main" id="{C19C43D7-FE65-C289-8E7A-2455EC77A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02124" y="3537950"/>
              <a:ext cx="464564" cy="589251"/>
            </a:xfrm>
            <a:prstGeom prst="rect">
              <a:avLst/>
            </a:prstGeom>
          </p:spPr>
        </p:pic>
        <p:grpSp>
          <p:nvGrpSpPr>
            <p:cNvPr id="18495" name="Group 18494">
              <a:extLst>
                <a:ext uri="{FF2B5EF4-FFF2-40B4-BE49-F238E27FC236}">
                  <a16:creationId xmlns:a16="http://schemas.microsoft.com/office/drawing/2014/main" id="{F6BBFCC2-1A5A-449B-F8FB-5A09A9842B41}"/>
                </a:ext>
              </a:extLst>
            </p:cNvPr>
            <p:cNvGrpSpPr/>
            <p:nvPr/>
          </p:nvGrpSpPr>
          <p:grpSpPr>
            <a:xfrm>
              <a:off x="4459132" y="4874019"/>
              <a:ext cx="1798089" cy="691308"/>
              <a:chOff x="5945263" y="3447811"/>
              <a:chExt cx="1798089" cy="691308"/>
            </a:xfrm>
          </p:grpSpPr>
          <p:pic>
            <p:nvPicPr>
              <p:cNvPr id="18496" name="Picture 18495">
                <a:extLst>
                  <a:ext uri="{FF2B5EF4-FFF2-40B4-BE49-F238E27FC236}">
                    <a16:creationId xmlns:a16="http://schemas.microsoft.com/office/drawing/2014/main" id="{381EB6F1-D3AF-46AB-0B46-C4A1DEB635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83581" y="3447811"/>
                <a:ext cx="559771" cy="690032"/>
              </a:xfrm>
              <a:prstGeom prst="rect">
                <a:avLst/>
              </a:prstGeom>
            </p:spPr>
          </p:pic>
          <p:pic>
            <p:nvPicPr>
              <p:cNvPr id="18497" name="Picture 18496">
                <a:extLst>
                  <a:ext uri="{FF2B5EF4-FFF2-40B4-BE49-F238E27FC236}">
                    <a16:creationId xmlns:a16="http://schemas.microsoft.com/office/drawing/2014/main" id="{0B12C7D4-93B0-0216-B274-882415C3A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5263" y="3449087"/>
                <a:ext cx="559771" cy="690032"/>
              </a:xfrm>
              <a:prstGeom prst="rect">
                <a:avLst/>
              </a:prstGeom>
            </p:spPr>
          </p:pic>
        </p:grpSp>
        <p:pic>
          <p:nvPicPr>
            <p:cNvPr id="18498" name="Picture 18497">
              <a:extLst>
                <a:ext uri="{FF2B5EF4-FFF2-40B4-BE49-F238E27FC236}">
                  <a16:creationId xmlns:a16="http://schemas.microsoft.com/office/drawing/2014/main" id="{31E6BE7C-87EB-F92F-A267-5F8D375C2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93224" y="3537949"/>
              <a:ext cx="464564" cy="589251"/>
            </a:xfrm>
            <a:prstGeom prst="rect">
              <a:avLst/>
            </a:prstGeom>
          </p:spPr>
        </p:pic>
        <p:cxnSp>
          <p:nvCxnSpPr>
            <p:cNvPr id="18499" name="Straight Arrow Connector 18498">
              <a:extLst>
                <a:ext uri="{FF2B5EF4-FFF2-40B4-BE49-F238E27FC236}">
                  <a16:creationId xmlns:a16="http://schemas.microsoft.com/office/drawing/2014/main" id="{9DABFB1B-4A7D-345B-2C3B-4FF4EBE5C79B}"/>
                </a:ext>
              </a:extLst>
            </p:cNvPr>
            <p:cNvCxnSpPr>
              <a:cxnSpLocks/>
              <a:endCxn id="18496" idx="0"/>
            </p:cNvCxnSpPr>
            <p:nvPr/>
          </p:nvCxnSpPr>
          <p:spPr>
            <a:xfrm>
              <a:off x="5641061" y="4152459"/>
              <a:ext cx="336275" cy="721560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0" name="Straight Arrow Connector 18499">
              <a:extLst>
                <a:ext uri="{FF2B5EF4-FFF2-40B4-BE49-F238E27FC236}">
                  <a16:creationId xmlns:a16="http://schemas.microsoft.com/office/drawing/2014/main" id="{5B04E793-F510-B9B1-611C-AB43FF13B4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52901" y="4148570"/>
              <a:ext cx="336275" cy="721560"/>
            </a:xfrm>
            <a:prstGeom prst="straightConnector1">
              <a:avLst/>
            </a:prstGeom>
            <a:ln w="50800">
              <a:solidFill>
                <a:schemeClr val="tx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1" name="Curved Connector 18500">
              <a:extLst>
                <a:ext uri="{FF2B5EF4-FFF2-40B4-BE49-F238E27FC236}">
                  <a16:creationId xmlns:a16="http://schemas.microsoft.com/office/drawing/2014/main" id="{0BE8CFC9-CE73-D834-5FC8-F025B7485D6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132499" y="4177831"/>
              <a:ext cx="717671" cy="66692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02" name="TextBox 18501">
              <a:extLst>
                <a:ext uri="{FF2B5EF4-FFF2-40B4-BE49-F238E27FC236}">
                  <a16:creationId xmlns:a16="http://schemas.microsoft.com/office/drawing/2014/main" id="{BEB95E1D-2925-B1C5-4370-4D03D8835670}"/>
                </a:ext>
              </a:extLst>
            </p:cNvPr>
            <p:cNvSpPr txBox="1"/>
            <p:nvPr/>
          </p:nvSpPr>
          <p:spPr>
            <a:xfrm>
              <a:off x="4857969" y="4507199"/>
              <a:ext cx="1059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  <a:latin typeface="Raleway" pitchFamily="2" charset="77"/>
                  <a:ea typeface="Gill Sans" charset="0"/>
                  <a:cs typeface="Gill Sans" charset="0"/>
                </a:rPr>
                <a:t>Can reroute</a:t>
              </a:r>
            </a:p>
          </p:txBody>
        </p:sp>
        <p:cxnSp>
          <p:nvCxnSpPr>
            <p:cNvPr id="18503" name="Curved Connector 18502">
              <a:extLst>
                <a:ext uri="{FF2B5EF4-FFF2-40B4-BE49-F238E27FC236}">
                  <a16:creationId xmlns:a16="http://schemas.microsoft.com/office/drawing/2014/main" id="{AE09A618-F380-5FB9-8A21-6580F27B64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891787" y="4175887"/>
              <a:ext cx="717671" cy="66692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13" name="TextBox 18512">
              <a:extLst>
                <a:ext uri="{FF2B5EF4-FFF2-40B4-BE49-F238E27FC236}">
                  <a16:creationId xmlns:a16="http://schemas.microsoft.com/office/drawing/2014/main" id="{F2A330FD-4C0F-AE78-359C-B04F71D85C98}"/>
                </a:ext>
              </a:extLst>
            </p:cNvPr>
            <p:cNvSpPr txBox="1"/>
            <p:nvPr/>
          </p:nvSpPr>
          <p:spPr>
            <a:xfrm>
              <a:off x="4400903" y="4262605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14" name="TextBox 18513">
              <a:extLst>
                <a:ext uri="{FF2B5EF4-FFF2-40B4-BE49-F238E27FC236}">
                  <a16:creationId xmlns:a16="http://schemas.microsoft.com/office/drawing/2014/main" id="{B43D1D1C-CCBC-8457-87B4-CFF3813E1C20}"/>
                </a:ext>
              </a:extLst>
            </p:cNvPr>
            <p:cNvSpPr txBox="1"/>
            <p:nvPr/>
          </p:nvSpPr>
          <p:spPr>
            <a:xfrm>
              <a:off x="5770760" y="4262604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19" name="TextBox 18518">
              <a:extLst>
                <a:ext uri="{FF2B5EF4-FFF2-40B4-BE49-F238E27FC236}">
                  <a16:creationId xmlns:a16="http://schemas.microsoft.com/office/drawing/2014/main" id="{7A4664FC-37C6-3FE2-93DA-FAA947CBACE9}"/>
                </a:ext>
              </a:extLst>
            </p:cNvPr>
            <p:cNvSpPr txBox="1"/>
            <p:nvPr/>
          </p:nvSpPr>
          <p:spPr>
            <a:xfrm>
              <a:off x="4224046" y="2582043"/>
              <a:ext cx="5597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Raleway" pitchFamily="2" charset="77"/>
                </a:rPr>
                <a:t>I/</a:t>
              </a:r>
              <a:r>
                <a:rPr lang="en-US" sz="1400" dirty="0" err="1">
                  <a:solidFill>
                    <a:schemeClr val="bg1"/>
                  </a:solidFill>
                  <a:latin typeface="Raleway" pitchFamily="2" charset="77"/>
                </a:rPr>
                <a:t>Os</a:t>
              </a:r>
              <a:endParaRPr sz="1400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546" name="TextBox 18545">
              <a:extLst>
                <a:ext uri="{FF2B5EF4-FFF2-40B4-BE49-F238E27FC236}">
                  <a16:creationId xmlns:a16="http://schemas.microsoft.com/office/drawing/2014/main" id="{3D6AEED0-5540-5A41-B0BC-EA223CF61D47}"/>
                </a:ext>
              </a:extLst>
            </p:cNvPr>
            <p:cNvSpPr txBox="1"/>
            <p:nvPr/>
          </p:nvSpPr>
          <p:spPr>
            <a:xfrm>
              <a:off x="5100868" y="3390995"/>
              <a:ext cx="558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1" dirty="0">
                  <a:solidFill>
                    <a:srgbClr val="0299FF"/>
                  </a:solidFill>
                  <a:latin typeface="Raleway" pitchFamily="2" charset="77"/>
                  <a:ea typeface="Gill Sans" charset="0"/>
                  <a:cs typeface="Gill Sans" charset="0"/>
                </a:rPr>
                <a:t>#3</a:t>
              </a:r>
            </a:p>
          </p:txBody>
        </p:sp>
      </p:grpSp>
      <p:sp>
        <p:nvSpPr>
          <p:cNvPr id="18551" name="TextBox 18550">
            <a:extLst>
              <a:ext uri="{FF2B5EF4-FFF2-40B4-BE49-F238E27FC236}">
                <a16:creationId xmlns:a16="http://schemas.microsoft.com/office/drawing/2014/main" id="{631F8BE9-D557-4897-B033-1B509D36DF70}"/>
              </a:ext>
            </a:extLst>
          </p:cNvPr>
          <p:cNvSpPr txBox="1"/>
          <p:nvPr/>
        </p:nvSpPr>
        <p:spPr>
          <a:xfrm>
            <a:off x="152633" y="389435"/>
            <a:ext cx="4200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Evaluation Setup</a:t>
            </a:r>
            <a:endParaRPr lang="en-US" sz="2000" b="1" dirty="0">
              <a:ln>
                <a:solidFill>
                  <a:schemeClr val="bg1"/>
                </a:solidFill>
              </a:ln>
              <a:solidFill>
                <a:srgbClr val="6D1B1F"/>
              </a:solidFill>
              <a:latin typeface="Raleway" pitchFamily="2" charset="77"/>
              <a:ea typeface="Gill Sans" charset="0"/>
              <a:cs typeface="Gill Sans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10AE8A-1CB0-C26D-9487-22D31276C652}"/>
              </a:ext>
            </a:extLst>
          </p:cNvPr>
          <p:cNvGrpSpPr/>
          <p:nvPr/>
        </p:nvGrpSpPr>
        <p:grpSpPr>
          <a:xfrm>
            <a:off x="546927" y="4165146"/>
            <a:ext cx="1059854" cy="879905"/>
            <a:chOff x="546927" y="4165146"/>
            <a:chExt cx="1059854" cy="879905"/>
          </a:xfrm>
        </p:grpSpPr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D3B07475-8EF9-8E4C-7678-E7B6152EA66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21457" y="4192463"/>
              <a:ext cx="717671" cy="66692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0EABFF-9647-DA8B-1B36-64480F04A193}"/>
                </a:ext>
              </a:extLst>
            </p:cNvPr>
            <p:cNvSpPr txBox="1"/>
            <p:nvPr/>
          </p:nvSpPr>
          <p:spPr>
            <a:xfrm>
              <a:off x="546927" y="4521831"/>
              <a:ext cx="10598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  <a:latin typeface="Raleway" pitchFamily="2" charset="77"/>
                  <a:ea typeface="Gill Sans" charset="0"/>
                  <a:cs typeface="Gill Sans" charset="0"/>
                </a:rPr>
                <a:t>Can reroute</a:t>
              </a:r>
            </a:p>
          </p:txBody>
        </p:sp>
        <p:cxnSp>
          <p:nvCxnSpPr>
            <p:cNvPr id="13" name="Curved Connector 12">
              <a:extLst>
                <a:ext uri="{FF2B5EF4-FFF2-40B4-BE49-F238E27FC236}">
                  <a16:creationId xmlns:a16="http://schemas.microsoft.com/office/drawing/2014/main" id="{4B31B53B-CEF3-11D4-FBE8-6B924F4F739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80745" y="4190519"/>
              <a:ext cx="717671" cy="666925"/>
            </a:xfrm>
            <a:prstGeom prst="curved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331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9315E3E-3E6E-4347-0560-CB85E7C3D1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196"/>
          <a:stretch/>
        </p:blipFill>
        <p:spPr>
          <a:xfrm>
            <a:off x="1661589" y="1924321"/>
            <a:ext cx="3730115" cy="238079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2A4F93-AD6B-4C47-A022-199F1809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F4D22-215B-5F44-D154-FD5BEC7B1E4B}"/>
              </a:ext>
            </a:extLst>
          </p:cNvPr>
          <p:cNvSpPr txBox="1"/>
          <p:nvPr/>
        </p:nvSpPr>
        <p:spPr>
          <a:xfrm>
            <a:off x="152633" y="389435"/>
            <a:ext cx="3897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6D1B1F"/>
                </a:solidFill>
                <a:latin typeface="Raleway" pitchFamily="2" charset="77"/>
                <a:ea typeface="Gill Sans" charset="0"/>
                <a:cs typeface="Gill Sans" charset="0"/>
              </a:rPr>
              <a:t>Heimdall: #3. Kernel Eval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15612F-1070-2D0D-B760-7D897A470CB3}"/>
              </a:ext>
            </a:extLst>
          </p:cNvPr>
          <p:cNvSpPr txBox="1"/>
          <p:nvPr/>
        </p:nvSpPr>
        <p:spPr>
          <a:xfrm>
            <a:off x="423627" y="979675"/>
            <a:ext cx="4275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600" b="1" dirty="0">
                <a:solidFill>
                  <a:schemeClr val="bg1"/>
                </a:solidFill>
                <a:latin typeface="Raleway" pitchFamily="2" charset="77"/>
                <a:cs typeface="Calibri" panose="020F0502020204030204" pitchFamily="34" charset="0"/>
              </a:rPr>
              <a:t>Deployment</a:t>
            </a:r>
            <a:r>
              <a:rPr lang="en" altLang="zh-CN" sz="1600" dirty="0">
                <a:solidFill>
                  <a:schemeClr val="bg1"/>
                </a:solidFill>
                <a:latin typeface="Raleway" pitchFamily="2" charset="77"/>
                <a:cs typeface="Calibri" panose="020F0502020204030204" pitchFamily="34" charset="0"/>
              </a:rPr>
              <a:t>: On </a:t>
            </a:r>
            <a:r>
              <a:rPr lang="en" altLang="zh-CN" sz="1600" dirty="0">
                <a:solidFill>
                  <a:srgbClr val="0299FF"/>
                </a:solidFill>
                <a:latin typeface="Raleway" pitchFamily="2" charset="77"/>
                <a:cs typeface="Calibri" panose="020F0502020204030204" pitchFamily="34" charset="0"/>
              </a:rPr>
              <a:t>Linux Block I/O </a:t>
            </a:r>
            <a:r>
              <a:rPr lang="en" altLang="zh-CN" sz="1600" dirty="0">
                <a:solidFill>
                  <a:schemeClr val="bg1"/>
                </a:solidFill>
                <a:latin typeface="Raleway" pitchFamily="2" charset="77"/>
                <a:cs typeface="Calibri" panose="020F0502020204030204" pitchFamily="34" charset="0"/>
              </a:rPr>
              <a:t>layer.</a:t>
            </a:r>
            <a:endParaRPr lang="en-US" altLang="zh-CN" sz="1600" dirty="0">
              <a:solidFill>
                <a:schemeClr val="bg1"/>
              </a:solidFill>
              <a:latin typeface="Raleway" pitchFamily="2" charset="77"/>
              <a:cs typeface="Calibri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5B20ED-A3BA-40F2-73D3-C3E19FFC6E39}"/>
              </a:ext>
            </a:extLst>
          </p:cNvPr>
          <p:cNvSpPr/>
          <p:nvPr/>
        </p:nvSpPr>
        <p:spPr>
          <a:xfrm>
            <a:off x="4504902" y="4564835"/>
            <a:ext cx="711593" cy="715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50" dirty="0">
                <a:solidFill>
                  <a:srgbClr val="0299FF"/>
                </a:solidFill>
                <a:latin typeface="Raleway" pitchFamily="2" charset="77"/>
                <a:sym typeface="Wingdings" pitchFamily="2" charset="2"/>
              </a:rPr>
              <a:t></a:t>
            </a:r>
            <a:endParaRPr lang="en-US" sz="3000" dirty="0">
              <a:solidFill>
                <a:srgbClr val="0299FF"/>
              </a:solidFill>
              <a:latin typeface="Raleway" pitchFamily="2" charset="77"/>
            </a:endParaRPr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3C8DF3AE-92B0-6393-2350-B9A21C77240B}"/>
              </a:ext>
            </a:extLst>
          </p:cNvPr>
          <p:cNvSpPr/>
          <p:nvPr/>
        </p:nvSpPr>
        <p:spPr>
          <a:xfrm>
            <a:off x="5094065" y="4618133"/>
            <a:ext cx="2329006" cy="637506"/>
          </a:xfrm>
          <a:prstGeom prst="wedgeRoundRectCallout">
            <a:avLst>
              <a:gd name="adj1" fmla="val -5856"/>
              <a:gd name="adj2" fmla="val -95014"/>
              <a:gd name="adj3" fmla="val 16667"/>
            </a:avLst>
          </a:prstGeom>
          <a:solidFill>
            <a:schemeClr val="tx1"/>
          </a:solidFill>
          <a:ln w="28575">
            <a:solidFill>
              <a:srgbClr val="02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Heimdall gives the </a:t>
            </a:r>
            <a:r>
              <a:rPr lang="en-US" sz="1600" dirty="0">
                <a:solidFill>
                  <a:srgbClr val="0299FF"/>
                </a:solidFill>
                <a:latin typeface="Raleway" pitchFamily="2" charset="77"/>
              </a:rPr>
              <a:t>best average latency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!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9FD7F1BD-08AB-C8A7-40D7-FDBE358EA255}"/>
              </a:ext>
            </a:extLst>
          </p:cNvPr>
          <p:cNvSpPr/>
          <p:nvPr/>
        </p:nvSpPr>
        <p:spPr>
          <a:xfrm rot="5400000">
            <a:off x="4793100" y="3202461"/>
            <a:ext cx="489387" cy="210863"/>
          </a:xfrm>
          <a:prstGeom prst="rightArrow">
            <a:avLst/>
          </a:prstGeom>
          <a:gradFill flip="none" rotWithShape="1">
            <a:gsLst>
              <a:gs pos="9000">
                <a:srgbClr val="FF0000"/>
              </a:gs>
              <a:gs pos="47000">
                <a:srgbClr val="FFC000"/>
              </a:gs>
              <a:gs pos="99000">
                <a:srgbClr val="02FE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ular Callout 22">
            <a:extLst>
              <a:ext uri="{FF2B5EF4-FFF2-40B4-BE49-F238E27FC236}">
                <a16:creationId xmlns:a16="http://schemas.microsoft.com/office/drawing/2014/main" id="{2BF4B67C-F018-AAE8-3993-BB1A8F9195A1}"/>
              </a:ext>
            </a:extLst>
          </p:cNvPr>
          <p:cNvSpPr/>
          <p:nvPr/>
        </p:nvSpPr>
        <p:spPr>
          <a:xfrm>
            <a:off x="2746373" y="4618133"/>
            <a:ext cx="1775568" cy="637506"/>
          </a:xfrm>
          <a:prstGeom prst="wedgeRoundRectCallout">
            <a:avLst>
              <a:gd name="adj1" fmla="val -5856"/>
              <a:gd name="adj2" fmla="val -95014"/>
              <a:gd name="adj3" fmla="val 16667"/>
            </a:avLst>
          </a:prstGeom>
          <a:solidFill>
            <a:schemeClr val="tx1"/>
          </a:solidFill>
          <a:ln w="28575">
            <a:solidFill>
              <a:srgbClr val="029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Heimdall </a:t>
            </a:r>
            <a:r>
              <a:rPr lang="en-US" sz="1600" dirty="0">
                <a:solidFill>
                  <a:srgbClr val="0299FF"/>
                </a:solidFill>
                <a:latin typeface="Raleway" pitchFamily="2" charset="77"/>
              </a:rPr>
              <a:t>cuts tail </a:t>
            </a:r>
            <a:r>
              <a:rPr lang="en-US" sz="1600" dirty="0">
                <a:solidFill>
                  <a:schemeClr val="bg1"/>
                </a:solidFill>
                <a:latin typeface="Raleway" pitchFamily="2" charset="77"/>
              </a:rPr>
              <a:t>the most!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1D7041E5-17A3-DB87-66BC-951C0539CB52}"/>
              </a:ext>
            </a:extLst>
          </p:cNvPr>
          <p:cNvSpPr/>
          <p:nvPr/>
        </p:nvSpPr>
        <p:spPr>
          <a:xfrm rot="5400000">
            <a:off x="7250338" y="3183989"/>
            <a:ext cx="489387" cy="210863"/>
          </a:xfrm>
          <a:prstGeom prst="rightArrow">
            <a:avLst/>
          </a:prstGeom>
          <a:gradFill flip="none" rotWithShape="1">
            <a:gsLst>
              <a:gs pos="9000">
                <a:srgbClr val="FF0000"/>
              </a:gs>
              <a:gs pos="47000">
                <a:srgbClr val="FFC000"/>
              </a:gs>
              <a:gs pos="99000">
                <a:srgbClr val="02FE2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741BB4-5F15-F214-B185-88BE3B5EB7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46"/>
          <a:stretch/>
        </p:blipFill>
        <p:spPr>
          <a:xfrm>
            <a:off x="5509393" y="1891492"/>
            <a:ext cx="1867950" cy="238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89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1F85-DDA6-0F1C-970E-EEA173AC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Heimdall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41B5D-72E4-296A-2183-4849F16F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598A61F-2133-B941-2B5D-6679594FABD3}"/>
              </a:ext>
            </a:extLst>
          </p:cNvPr>
          <p:cNvSpPr/>
          <p:nvPr/>
        </p:nvSpPr>
        <p:spPr>
          <a:xfrm>
            <a:off x="277807" y="1181366"/>
            <a:ext cx="8177306" cy="2478976"/>
          </a:xfrm>
          <a:prstGeom prst="roundRect">
            <a:avLst/>
          </a:prstGeom>
          <a:noFill/>
          <a:ln w="28575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03225" defTabSz="761992">
              <a:spcBef>
                <a:spcPts val="1250"/>
              </a:spcBef>
              <a:buClr>
                <a:srgbClr val="800000"/>
              </a:buClr>
              <a:buSzPct val="75000"/>
              <a:defRPr/>
            </a:pPr>
            <a:r>
              <a:rPr lang="en-US" sz="2200" b="1" spc="26" dirty="0">
                <a:solidFill>
                  <a:srgbClr val="000000"/>
                </a:solidFill>
                <a:latin typeface="Raleway" pitchFamily="2" charset="77"/>
                <a:cs typeface="Arial" panose="020B0604020202020204" pitchFamily="34" charset="0"/>
              </a:rPr>
              <a:t>Robust I/O Admission and Redirection </a:t>
            </a:r>
            <a:r>
              <a:rPr lang="en-US" sz="2200" spc="26" dirty="0">
                <a:solidFill>
                  <a:srgbClr val="000000"/>
                </a:solidFill>
                <a:latin typeface="Raleway" pitchFamily="2" charset="77"/>
                <a:cs typeface="Arial" panose="020B0604020202020204" pitchFamily="34" charset="0"/>
              </a:rPr>
              <a:t>for achieving predictability on “</a:t>
            </a:r>
            <a:r>
              <a:rPr lang="en-US" sz="2200" spc="26" dirty="0">
                <a:solidFill>
                  <a:schemeClr val="bg1"/>
                </a:solidFill>
                <a:latin typeface="Raleway" pitchFamily="2" charset="77"/>
                <a:cs typeface="Arial" panose="020B0604020202020204" pitchFamily="34" charset="0"/>
              </a:rPr>
              <a:t>unpredictable</a:t>
            </a:r>
            <a:r>
              <a:rPr lang="en-US" sz="2200" spc="26" dirty="0">
                <a:solidFill>
                  <a:srgbClr val="000000"/>
                </a:solidFill>
                <a:latin typeface="Raleway" pitchFamily="2" charset="77"/>
                <a:cs typeface="Arial" panose="020B0604020202020204" pitchFamily="34" charset="0"/>
              </a:rPr>
              <a:t>” SSDs</a:t>
            </a:r>
          </a:p>
          <a:p>
            <a:pPr marL="403225" marR="0" lvl="0" algn="l" defTabSz="761992" rtl="0" eaLnBrk="1" fontAlgn="auto" latinLnBrk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800000"/>
              </a:buClr>
              <a:buSzPct val="75000"/>
              <a:defRPr/>
            </a:pPr>
            <a:endParaRPr kumimoji="0" lang="en-US" sz="400" b="0" i="0" u="none" strike="noStrike" kern="1200" cap="none" spc="26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 pitchFamily="2" charset="77"/>
              <a:ea typeface="+mn-ea"/>
              <a:cs typeface="Gill Sans"/>
            </a:endParaRPr>
          </a:p>
          <a:p>
            <a:pPr marL="747713" marR="0" lvl="1" indent="-355600" algn="l" defTabSz="761992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charset="2"/>
              <a:buChar char="§"/>
              <a:defRPr/>
            </a:pPr>
            <a:r>
              <a:rPr kumimoji="0" lang="en-US" sz="2000" b="1" i="0" u="none" strike="noStrike" kern="1200" cap="none" spc="2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ea typeface="+mn-ea"/>
                <a:cs typeface="Gill Sans"/>
              </a:rPr>
              <a:t>Accurate labeling</a:t>
            </a:r>
            <a:r>
              <a:rPr lang="en-US" sz="2000" spc="26" dirty="0">
                <a:solidFill>
                  <a:srgbClr val="000000"/>
                </a:solidFill>
                <a:latin typeface="Raleway" pitchFamily="2" charset="77"/>
                <a:cs typeface="Gill Sans"/>
              </a:rPr>
              <a:t> algorithm</a:t>
            </a:r>
            <a:endParaRPr kumimoji="0" lang="en-US" sz="2000" b="1" i="0" u="none" strike="noStrike" kern="1200" cap="none" spc="26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Raleway" pitchFamily="2" charset="77"/>
              <a:ea typeface="+mn-ea"/>
              <a:cs typeface="Gill Sans"/>
            </a:endParaRPr>
          </a:p>
          <a:p>
            <a:pPr marL="747713" marR="0" lvl="1" indent="-355600" algn="l" defTabSz="761992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charset="2"/>
              <a:buChar char="§"/>
              <a:defRPr/>
            </a:pPr>
            <a:r>
              <a:rPr kumimoji="0" lang="en-US" sz="2000" b="1" i="0" u="none" strike="noStrike" kern="1200" cap="none" spc="2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ea typeface="+mn-ea"/>
                <a:cs typeface="Gill Sans"/>
              </a:rPr>
              <a:t>Holistic data science</a:t>
            </a:r>
            <a:r>
              <a:rPr lang="en-US" sz="2000" spc="26" dirty="0">
                <a:solidFill>
                  <a:srgbClr val="000000"/>
                </a:solidFill>
                <a:latin typeface="Raleway" pitchFamily="2" charset="77"/>
                <a:cs typeface="Gill Sans"/>
              </a:rPr>
              <a:t> exploration</a:t>
            </a:r>
            <a:endParaRPr kumimoji="0" lang="en-US" sz="2000" b="1" i="0" u="none" strike="noStrike" kern="1200" cap="none" spc="26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 pitchFamily="2" charset="77"/>
              <a:ea typeface="+mn-ea"/>
              <a:cs typeface="Gill Sans"/>
            </a:endParaRPr>
          </a:p>
          <a:p>
            <a:pPr marL="747713" marR="0" lvl="1" indent="-355600" algn="l" defTabSz="761992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charset="2"/>
              <a:buChar char="§"/>
              <a:defRPr/>
            </a:pPr>
            <a:r>
              <a:rPr kumimoji="0" lang="en-US" sz="2000" b="1" i="0" u="none" strike="noStrike" kern="1200" cap="none" spc="26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leway" pitchFamily="2" charset="77"/>
                <a:ea typeface="+mn-ea"/>
                <a:cs typeface="Gill Sans"/>
              </a:rPr>
              <a:t>Joint-inference</a:t>
            </a:r>
            <a:r>
              <a:rPr kumimoji="0" lang="en-US" sz="2000" b="0" i="0" u="none" strike="noStrike" kern="1200" cap="none" spc="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  <a:ea typeface="+mn-ea"/>
                <a:cs typeface="Gill Sans"/>
              </a:rPr>
              <a:t> for deployment</a:t>
            </a:r>
            <a:br>
              <a:rPr kumimoji="0" lang="en-US" sz="2000" b="0" i="0" u="none" strike="noStrike" kern="1200" cap="none" spc="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  <a:ea typeface="+mn-ea"/>
                <a:cs typeface="Gill Sans"/>
              </a:rPr>
            </a:br>
            <a:r>
              <a:rPr kumimoji="0" lang="en-US" sz="2000" b="0" i="0" u="none" strike="noStrike" kern="1200" cap="none" spc="2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  <a:ea typeface="+mn-ea"/>
                <a:cs typeface="Gill Sans"/>
              </a:rPr>
              <a:t>optimization</a:t>
            </a:r>
            <a:endParaRPr kumimoji="0" lang="en-US" sz="2200" b="1" i="0" u="none" strike="noStrike" kern="1200" cap="none" spc="26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aleway" pitchFamily="2" charset="77"/>
              <a:ea typeface="+mn-ea"/>
              <a:cs typeface="Gill San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560674-A327-64B1-BDC1-D00149010E16}"/>
              </a:ext>
            </a:extLst>
          </p:cNvPr>
          <p:cNvGrpSpPr/>
          <p:nvPr/>
        </p:nvGrpSpPr>
        <p:grpSpPr>
          <a:xfrm>
            <a:off x="5549580" y="2118019"/>
            <a:ext cx="2270070" cy="1711578"/>
            <a:chOff x="2855353" y="2758277"/>
            <a:chExt cx="2270070" cy="17115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E631CE-B4E4-1EDC-9E3B-3280E998CA4F}"/>
                </a:ext>
              </a:extLst>
            </p:cNvPr>
            <p:cNvSpPr txBox="1"/>
            <p:nvPr/>
          </p:nvSpPr>
          <p:spPr>
            <a:xfrm>
              <a:off x="4389894" y="3438474"/>
              <a:ext cx="7355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00B050"/>
                  </a:solidFill>
                  <a:latin typeface="Raleway" pitchFamily="2" charset="77"/>
                  <a:ea typeface="Gill Sans" charset="0"/>
                  <a:cs typeface="Gill Sans" charset="0"/>
                </a:rPr>
                <a:t>Accept</a:t>
              </a:r>
              <a:endParaRPr lang="en-US" sz="1200" b="1" dirty="0">
                <a:solidFill>
                  <a:srgbClr val="C00000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  <a:p>
              <a:r>
                <a:rPr lang="en-US" sz="1200" b="1" dirty="0">
                  <a:solidFill>
                    <a:schemeClr val="bg1"/>
                  </a:solidFill>
                  <a:latin typeface="Raleway" pitchFamily="2" charset="77"/>
                  <a:ea typeface="Gill Sans" charset="0"/>
                  <a:cs typeface="Gill Sans" charset="0"/>
                </a:rPr>
                <a:t>    or</a:t>
              </a:r>
            </a:p>
            <a:p>
              <a:r>
                <a:rPr lang="en-US" sz="1200" b="1" dirty="0">
                  <a:solidFill>
                    <a:srgbClr val="C00000"/>
                  </a:solidFill>
                  <a:latin typeface="Raleway" pitchFamily="2" charset="77"/>
                  <a:ea typeface="Gill Sans" charset="0"/>
                  <a:cs typeface="Gill Sans" charset="0"/>
                </a:rPr>
                <a:t>Reject</a:t>
              </a:r>
              <a:endParaRPr lang="en-US" sz="1200" b="1" dirty="0">
                <a:solidFill>
                  <a:srgbClr val="00B050"/>
                </a:solidFill>
                <a:latin typeface="Raleway" pitchFamily="2" charset="77"/>
                <a:ea typeface="Gill Sans" charset="0"/>
                <a:cs typeface="Gill Sans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4CF875B-F6C0-83F4-F8A7-7CBA2CD1311F}"/>
                </a:ext>
              </a:extLst>
            </p:cNvPr>
            <p:cNvGrpSpPr/>
            <p:nvPr/>
          </p:nvGrpSpPr>
          <p:grpSpPr>
            <a:xfrm>
              <a:off x="2855353" y="2758277"/>
              <a:ext cx="1902306" cy="1711578"/>
              <a:chOff x="2889793" y="2367159"/>
              <a:chExt cx="1902306" cy="171157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0496B6AC-96FD-4FC3-0CF8-9AD4769E7D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9793" y="2367159"/>
                <a:ext cx="1352596" cy="1711578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8BC7D99-FE97-C045-807D-A1D295B710A5}"/>
                  </a:ext>
                </a:extLst>
              </p:cNvPr>
              <p:cNvSpPr txBox="1"/>
              <p:nvPr/>
            </p:nvSpPr>
            <p:spPr>
              <a:xfrm>
                <a:off x="3933855" y="3229149"/>
                <a:ext cx="85824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700FF"/>
                    </a:solidFill>
                    <a:latin typeface="Raleway" pitchFamily="2" charset="77"/>
                    <a:ea typeface="Gill Sans" charset="0"/>
                    <a:cs typeface="Gill Sans" charset="0"/>
                  </a:rPr>
                  <a:t>?? 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537853-19A6-D885-836B-033CAC625AA0}"/>
              </a:ext>
            </a:extLst>
          </p:cNvPr>
          <p:cNvGrpSpPr/>
          <p:nvPr/>
        </p:nvGrpSpPr>
        <p:grpSpPr>
          <a:xfrm>
            <a:off x="512356" y="3903447"/>
            <a:ext cx="8210484" cy="1609423"/>
            <a:chOff x="689199" y="4177627"/>
            <a:chExt cx="8210484" cy="160942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058763-E9C3-0FD4-AAFD-7C35EB996A48}"/>
                </a:ext>
              </a:extLst>
            </p:cNvPr>
            <p:cNvSpPr txBox="1"/>
            <p:nvPr/>
          </p:nvSpPr>
          <p:spPr>
            <a:xfrm>
              <a:off x="4228439" y="4177627"/>
              <a:ext cx="3002602" cy="1177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</a:pPr>
              <a:r>
                <a:rPr lang="en-US" sz="5400" b="1" dirty="0">
                  <a:solidFill>
                    <a:srgbClr val="239CF1"/>
                  </a:solidFill>
                  <a:latin typeface="Raleway" pitchFamily="2" charset="77"/>
                </a:rPr>
                <a:t> 15-35</a:t>
              </a:r>
              <a:r>
                <a:rPr lang="en-US" sz="2400" b="1" dirty="0">
                  <a:solidFill>
                    <a:srgbClr val="239CF1"/>
                  </a:solidFill>
                  <a:latin typeface="Raleway" pitchFamily="2" charset="77"/>
                </a:rPr>
                <a:t>%</a:t>
              </a:r>
              <a:endParaRPr lang="en-US" sz="5400" b="1" dirty="0">
                <a:solidFill>
                  <a:srgbClr val="239CF1"/>
                </a:solidFill>
                <a:latin typeface="Raleway" pitchFamily="2" charset="77"/>
              </a:endParaRPr>
            </a:p>
            <a:p>
              <a:pPr algn="ctr">
                <a:spcAft>
                  <a:spcPts val="300"/>
                </a:spcAft>
              </a:pPr>
              <a:r>
                <a:rPr lang="en-US" sz="1400" b="1" dirty="0">
                  <a:solidFill>
                    <a:schemeClr val="bg1"/>
                  </a:solidFill>
                  <a:latin typeface="Raleway" pitchFamily="2" charset="77"/>
                </a:rPr>
                <a:t>Lower average I/O latency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6665985-2788-0857-CB52-1AF5C20246CF}"/>
                </a:ext>
              </a:extLst>
            </p:cNvPr>
            <p:cNvSpPr txBox="1"/>
            <p:nvPr/>
          </p:nvSpPr>
          <p:spPr>
            <a:xfrm>
              <a:off x="2604627" y="4177627"/>
              <a:ext cx="1870596" cy="1392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  <a:ea typeface="+mn-ea"/>
                  <a:cs typeface="+mn-cs"/>
                </a:rPr>
                <a:t>10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  <a:ea typeface="+mn-ea"/>
                  <a:cs typeface="+mn-cs"/>
                </a:rPr>
                <a:t>x</a:t>
              </a: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39CF1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Raleway" pitchFamily="2" charset="77"/>
                </a:rPr>
                <a:t>More efficient than GPU batching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aleway" pitchFamily="2" charset="7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EE5B0DA-57CE-BD57-3BBC-DA577AD886E2}"/>
                </a:ext>
              </a:extLst>
            </p:cNvPr>
            <p:cNvSpPr txBox="1"/>
            <p:nvPr/>
          </p:nvSpPr>
          <p:spPr>
            <a:xfrm>
              <a:off x="6902176" y="4202001"/>
              <a:ext cx="1997507" cy="1585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5400" b="1" dirty="0">
                  <a:solidFill>
                    <a:srgbClr val="239CF1"/>
                  </a:solidFill>
                  <a:latin typeface="Raleway" pitchFamily="2" charset="77"/>
                </a:rPr>
                <a:t>4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</a:rPr>
                <a:t>x</a:t>
              </a:r>
              <a:endParaRPr kumimoji="0" lang="en-US" sz="5400" i="0" u="none" strike="noStrike" kern="1200" cap="none" spc="0" normalizeH="0" baseline="0" noProof="0" dirty="0">
                <a:ln>
                  <a:noFill/>
                </a:ln>
                <a:solidFill>
                  <a:srgbClr val="239CF1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Raleway" pitchFamily="2" charset="77"/>
                </a:rPr>
                <a:t>F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aleway" pitchFamily="2" charset="77"/>
                </a:rPr>
                <a:t>aster inference throughput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algn="ctr">
                <a:spcAft>
                  <a:spcPts val="300"/>
                </a:spcAft>
              </a:pPr>
              <a:endParaRPr sz="1000" b="1" dirty="0">
                <a:solidFill>
                  <a:schemeClr val="bg1"/>
                </a:solidFill>
                <a:latin typeface="Raleway" pitchFamily="2" charset="7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217242-3DF1-08A7-C5E3-D912942A13DD}"/>
                </a:ext>
              </a:extLst>
            </p:cNvPr>
            <p:cNvSpPr txBox="1"/>
            <p:nvPr/>
          </p:nvSpPr>
          <p:spPr>
            <a:xfrm>
              <a:off x="689199" y="4177627"/>
              <a:ext cx="1870597" cy="13926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Aft>
                  <a:spcPts val="300"/>
                </a:spcAft>
                <a:defRPr/>
              </a:pPr>
              <a:r>
                <a:rPr lang="en-US" sz="5400" b="1" dirty="0">
                  <a:solidFill>
                    <a:srgbClr val="239CF1"/>
                  </a:solidFill>
                  <a:latin typeface="Raleway" pitchFamily="2" charset="77"/>
                </a:rPr>
                <a:t>7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39CF1"/>
                  </a:solidFill>
                  <a:effectLst/>
                  <a:uLnTx/>
                  <a:uFillTx/>
                  <a:latin typeface="Raleway" pitchFamily="2" charset="77"/>
                  <a:ea typeface="+mn-ea"/>
                  <a:cs typeface="+mn-cs"/>
                </a:rPr>
                <a:t>m</a:t>
              </a:r>
              <a:r>
                <a:rPr lang="en-US" sz="2400" b="1" dirty="0">
                  <a:solidFill>
                    <a:srgbClr val="239CF1"/>
                  </a:solidFill>
                  <a:latin typeface="Raleway" pitchFamily="2" charset="77"/>
                </a:rPr>
                <a:t>IOPS</a:t>
              </a: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39CF1"/>
                </a:solidFill>
                <a:effectLst/>
                <a:uLnTx/>
                <a:uFillTx/>
                <a:latin typeface="Raleway" pitchFamily="2" charset="77"/>
              </a:endParaRPr>
            </a:p>
            <a:p>
              <a:pPr marL="0" marR="0" lvl="0" indent="0" algn="ctr" defTabSz="685800" rtl="0" eaLnBrk="1" fontAlgn="auto" latinLnBrk="0" hangingPunct="1"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b="1" dirty="0">
                  <a:solidFill>
                    <a:srgbClr val="000000"/>
                  </a:solidFill>
                  <a:latin typeface="Raleway" pitchFamily="2" charset="77"/>
                </a:rPr>
                <a:t>I/O admission per second</a:t>
              </a: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aleway" pitchFamily="2" charset="77"/>
                </a:rPr>
                <a:t> 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aleway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40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FC87-D1C4-F172-6797-BF2C86D8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D9CD-EDA4-D5A0-9E50-319780EF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More in the Paper!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4B2389-6A97-E5C2-3330-0C484A3F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7106-F2ED-405E-BC33-CC3CF426205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2977C-CCA8-325F-64AA-0DB0A01ADC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1526"/>
          <a:stretch/>
        </p:blipFill>
        <p:spPr>
          <a:xfrm>
            <a:off x="165072" y="1869579"/>
            <a:ext cx="4311223" cy="2080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7F4D75-2EED-6BF1-CB0D-9056AEB14902}"/>
              </a:ext>
            </a:extLst>
          </p:cNvPr>
          <p:cNvSpPr txBox="1"/>
          <p:nvPr/>
        </p:nvSpPr>
        <p:spPr>
          <a:xfrm>
            <a:off x="2068303" y="4957802"/>
            <a:ext cx="4903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solidFill>
                  <a:srgbClr val="C00000"/>
                </a:solidFill>
                <a:latin typeface="Raleway" pitchFamily="2" charset="77"/>
              </a:rPr>
              <a:t>https://</a:t>
            </a:r>
            <a:r>
              <a:rPr lang="en-US" sz="1600" b="1" u="sng" dirty="0" err="1">
                <a:solidFill>
                  <a:srgbClr val="C00000"/>
                </a:solidFill>
                <a:latin typeface="Raleway" pitchFamily="2" charset="77"/>
              </a:rPr>
              <a:t>github.com</a:t>
            </a:r>
            <a:r>
              <a:rPr lang="en-US" sz="1600" b="1" u="sng" dirty="0">
                <a:solidFill>
                  <a:srgbClr val="C00000"/>
                </a:solidFill>
                <a:latin typeface="Raleway" pitchFamily="2" charset="77"/>
              </a:rPr>
              <a:t>/</a:t>
            </a:r>
            <a:r>
              <a:rPr lang="en-US" sz="1600" b="1" u="sng" dirty="0" err="1">
                <a:solidFill>
                  <a:srgbClr val="C00000"/>
                </a:solidFill>
                <a:latin typeface="Raleway" pitchFamily="2" charset="77"/>
              </a:rPr>
              <a:t>ucare-uchicago</a:t>
            </a:r>
            <a:r>
              <a:rPr lang="en-US" sz="1600" b="1" u="sng" dirty="0">
                <a:solidFill>
                  <a:srgbClr val="C00000"/>
                </a:solidFill>
                <a:latin typeface="Raleway" pitchFamily="2" charset="77"/>
              </a:rPr>
              <a:t>/Heimdall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7D127F-4EBE-5D2B-0A5B-EFDBE1ED9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699" y="1649202"/>
            <a:ext cx="4108394" cy="258256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A587F8A-7C91-3982-2B58-CD4CF430F913}"/>
              </a:ext>
            </a:extLst>
          </p:cNvPr>
          <p:cNvCxnSpPr>
            <a:cxnSpLocks/>
          </p:cNvCxnSpPr>
          <p:nvPr/>
        </p:nvCxnSpPr>
        <p:spPr>
          <a:xfrm>
            <a:off x="4560470" y="1541721"/>
            <a:ext cx="0" cy="2911009"/>
          </a:xfrm>
          <a:prstGeom prst="line">
            <a:avLst/>
          </a:prstGeom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613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8C38-CE83-524C-2959-46D19F89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E111C42-113F-2052-4FEE-44304EE24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" y="-125558"/>
            <a:ext cx="9118600" cy="48377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87FE7A9-C2CD-BAF7-EE92-133C8A73A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062" y="127221"/>
            <a:ext cx="8373876" cy="2455723"/>
          </a:xfrm>
        </p:spPr>
        <p:txBody>
          <a:bodyPr/>
          <a:lstStyle/>
          <a:p>
            <a:r>
              <a:rPr lang="en-US" sz="3600" dirty="0">
                <a:cs typeface="Arial" panose="020B0604020202020204" pitchFamily="34" charset="0"/>
              </a:rPr>
              <a:t>Heimdall: Optimizing Storage I/O Admission with Extensive Machine Learning Pipeline</a:t>
            </a:r>
            <a:endParaRPr lang="en-US" b="0" dirty="0">
              <a:cs typeface="Arial" panose="020B0604020202020204" pitchFamily="34" charset="0"/>
            </a:endParaRP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E6302522-E28B-6C1F-EADD-6C908F8B6742}"/>
              </a:ext>
            </a:extLst>
          </p:cNvPr>
          <p:cNvSpPr txBox="1">
            <a:spLocks/>
          </p:cNvSpPr>
          <p:nvPr/>
        </p:nvSpPr>
        <p:spPr>
          <a:xfrm>
            <a:off x="848412" y="3937110"/>
            <a:ext cx="5318667" cy="1055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761992" rtl="0" eaLnBrk="1" latinLnBrk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Clr>
                <a:srgbClr val="800000"/>
              </a:buClr>
              <a:buSzPct val="75000"/>
              <a:buFont typeface="Wingdings" charset="2"/>
              <a:buNone/>
              <a:defRPr sz="2667" kern="1200" spc="26" baseline="0">
                <a:solidFill>
                  <a:schemeClr val="bg1"/>
                </a:solidFill>
                <a:latin typeface="Raleway" pitchFamily="2" charset="77"/>
                <a:ea typeface="+mn-ea"/>
                <a:cs typeface="Gill Sans"/>
              </a:defRPr>
            </a:lvl1pPr>
            <a:lvl2pPr marL="380996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Font typeface="Wingdings" charset="2"/>
              <a:buNone/>
              <a:defRPr sz="2167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2pPr>
            <a:lvl3pPr marL="761992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SzPct val="75000"/>
              <a:buFont typeface="Lucida Grande"/>
              <a:buNone/>
              <a:defRPr sz="1833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3pPr>
            <a:lvl4pPr marL="1142989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Font typeface="Arial" pitchFamily="34" charset="0"/>
              <a:buNone/>
              <a:defRPr sz="1417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4pPr>
            <a:lvl5pPr marL="1523985" indent="0" algn="ctr" defTabSz="761992" rtl="0" eaLnBrk="1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800000"/>
              </a:buClr>
              <a:buFont typeface="Arial" pitchFamily="34" charset="0"/>
              <a:buNone/>
              <a:defRPr sz="1417" kern="1200" spc="26" baseline="0">
                <a:solidFill>
                  <a:schemeClr val="tx1">
                    <a:tint val="75000"/>
                  </a:schemeClr>
                </a:solidFill>
                <a:latin typeface="Raleway" pitchFamily="2" charset="77"/>
                <a:ea typeface="+mn-ea"/>
                <a:cs typeface="Gill Sans"/>
              </a:defRPr>
            </a:lvl5pPr>
            <a:lvl6pPr marL="1904981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85977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666973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047970" indent="0" algn="ctr" defTabSz="761992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500"/>
              </a:spcAft>
              <a:buClr>
                <a:schemeClr val="tx2"/>
              </a:buClr>
              <a:buFont typeface="Arial" pitchFamily="34" charset="0"/>
              <a:buNone/>
              <a:defRPr sz="141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4000" b="1" dirty="0">
                <a:solidFill>
                  <a:srgbClr val="800000"/>
                </a:solidFill>
                <a:cs typeface="Arial" panose="020B0604020202020204" pitchFamily="34" charset="0"/>
              </a:rPr>
              <a:t>Thank You!</a:t>
            </a:r>
            <a:endParaRPr lang="en-US" sz="4000" dirty="0"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99FECD-2914-7D5B-0F5A-D2066633D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187" y="-125559"/>
            <a:ext cx="116823" cy="29394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E4C616-5924-519D-C49C-3117A03DC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206" y="-125559"/>
            <a:ext cx="116823" cy="2939440"/>
          </a:xfrm>
          <a:prstGeom prst="rect">
            <a:avLst/>
          </a:prstGeom>
        </p:spPr>
      </p:pic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33F7B6BA-2297-79EB-EE2F-4C78DA698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7708" y="3132056"/>
            <a:ext cx="2218419" cy="221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515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5.2|2.7|5.6|5|5.7|2.6|7.4|15.9|5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5.2|2.7|5.6|5|5.7|2.6|7.4|15.9|5.7"/>
</p:tagLst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Horizon.thmx</Template>
  <TotalTime>105658</TotalTime>
  <Words>1123</Words>
  <Application>Microsoft Macintosh PowerPoint</Application>
  <PresentationFormat>On-screen Show (16:10)</PresentationFormat>
  <Paragraphs>302</Paragraphs>
  <Slides>26</Slides>
  <Notes>26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Lucida Grande</vt:lpstr>
      <vt:lpstr>NimbusRomNo9L</vt:lpstr>
      <vt:lpstr>Raleway</vt:lpstr>
      <vt:lpstr>Wingdings</vt:lpstr>
      <vt:lpstr>Horizon</vt:lpstr>
      <vt:lpstr>Heimdall: Optimizing Storage I/O Admission with Extensive Machine Learning Pipeline</vt:lpstr>
      <vt:lpstr>PowerPoint Presentation</vt:lpstr>
      <vt:lpstr>SSD is Unpredictable</vt:lpstr>
      <vt:lpstr>SSD is Unpredictable</vt:lpstr>
      <vt:lpstr>Heimdall: ML-for-I/O admission controller</vt:lpstr>
      <vt:lpstr>Heimdall: ML-for-I/O admission controller</vt:lpstr>
      <vt:lpstr>Prior 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Heimdall Summary</vt:lpstr>
      <vt:lpstr>More in the Paper!</vt:lpstr>
      <vt:lpstr>Heimdall: Optimizing Storage I/O Admission with Extensive Machine Learning Pipeline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 G</dc:creator>
  <cp:lastModifiedBy>Rani Irawan</cp:lastModifiedBy>
  <cp:revision>982</cp:revision>
  <cp:lastPrinted>2025-03-28T16:36:16Z</cp:lastPrinted>
  <dcterms:created xsi:type="dcterms:W3CDTF">2010-10-14T08:11:44Z</dcterms:created>
  <dcterms:modified xsi:type="dcterms:W3CDTF">2025-05-07T17:24:06Z</dcterms:modified>
</cp:coreProperties>
</file>